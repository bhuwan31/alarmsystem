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f351488-2fa6-8c5f-cc52-705d03078cb6}">
          <p14:sldIdLst>
            <p14:sldId id="256"/>
            <p14:sldId id="257"/>
          </p14:sldIdLst>
        </p14:section>
        <p14:section name="Project &amp; context" id="{783186db-aca5-d721-c716-e21efe42bd8b}">
          <p14:sldIdLst>
            <p14:sldId id="258"/>
            <p14:sldId id="259"/>
            <p14:sldId id="260"/>
            <p14:sldId id="261"/>
            <p14:sldId id="262"/>
            <p14:sldId id="263"/>
            <p14:sldId id="264"/>
          </p14:sldIdLst>
        </p14:section>
        <p14:section name="Stakeholders" id="{04c29678-1956-08d8-775e-58f5887a3dea}">
          <p14:sldIdLst>
            <p14:sldId id="265"/>
            <p14:sldId id="266"/>
            <p14:sldId id="267"/>
            <p14:sldId id="268"/>
            <p14:sldId id="269"/>
          </p14:sldIdLst>
        </p14:section>
        <p14:section name="System design" id="{e9bd9b5c-9dd7-2360-eb47-5854eb659445}">
          <p14:sldIdLst>
            <p14:sldId id="270"/>
            <p14:sldId id="271"/>
            <p14:sldId id="272"/>
            <p14:sldId id="273"/>
            <p14:sldId id="274"/>
            <p14:sldId id="275"/>
            <p14:sldId id="276"/>
            <p14:sldId id="277"/>
          </p14:sldIdLst>
        </p14:section>
        <p14:section name="Requirements" id="{a47a9e77-0dad-a059-c736-14de2b006bec}">
          <p14:sldIdLst>
            <p14:sldId id="278"/>
            <p14:sldId id="279"/>
            <p14:sldId id="280"/>
            <p14:sldId id="281"/>
            <p14:sldId id="282"/>
            <p14:sldId id="283"/>
            <p14:sldId id="284"/>
            <p14:sldId id="285"/>
            <p14:sldId id="286"/>
            <p14:sldId id="287"/>
            <p14:sldId id="288"/>
            <p14:sldId id="289"/>
            <p14:sldId id="290"/>
            <p14:sldId id="291"/>
          </p14:sldIdLst>
        </p14:section>
        <p14:section name="Analysis" id="{9e7d3d2f-4b7c-b35e-7d16-0040e920a367}">
          <p14:sldIdLst>
            <p14:sldId id="292"/>
            <p14:sldId id="293"/>
            <p14:sldId id="294"/>
            <p14:sldId id="295"/>
            <p14:sldId id="296"/>
            <p14:sldId id="297"/>
            <p14:sldId id="298"/>
            <p14:sldId id="299"/>
            <p14:sldId id="300"/>
          </p14:sldIdLst>
        </p14:section>
        <p14:section name="Process &amp; plan" id="{a21f1e5a-54f1-d6ef-90ee-b573b9287311}">
          <p14:sldIdLst>
            <p14:sldId id="301"/>
            <p14:sldId id="302"/>
            <p14:sldId id="303"/>
            <p14:sldId id="304"/>
            <p14:sldId id="305"/>
            <p14:sldId id="306"/>
            <p14:sldId id="307"/>
          </p14:sldIdLst>
        </p14:section>
        <p14:section name="Closing" id="{3504d13e-de0f-5dbc-3c4a-7eded092b4f0}">
          <p14:sldIdLst>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Functional requirements by module and priority</a:t>
            </a:r>
          </a:p>
        </c:rich>
      </c:tx>
      <c:layout/>
      <c:overlay val="0"/>
    </c:title>
    <c:autoTitleDeleted val="0"/>
    <c:plotArea>
      <c:layout/>
      <c:barChart>
        <c:barDir val="bar"/>
        <c:grouping val="stacked"/>
        <c:varyColors val="0"/>
        <c:ser>
          <c:idx val="0"/>
          <c:order val="0"/>
          <c:tx>
            <c:strRef>
              <c:f>Sheet1!$B$1</c:f>
              <c:strCache>
                <c:ptCount val="1"/>
                <c:pt idx="0">
                  <c:v>Must</c:v>
                </c:pt>
              </c:strCache>
            </c:strRef>
          </c:tx>
          <c:spPr>
            <a:solidFill>
              <a:srgbClr val="0B3C49"/>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Data</c:v>
                  </c:pt>
                  <c:pt idx="1">
                    <c:v>Risk</c:v>
                  </c:pt>
                  <c:pt idx="2">
                    <c:v>Warning</c:v>
                  </c:pt>
                  <c:pt idx="3">
                    <c:v>Citizen</c:v>
                  </c:pt>
                  <c:pt idx="4">
                    <c:v>Evacuation</c:v>
                  </c:pt>
                  <c:pt idx="5">
                    <c:v>Offline</c:v>
                  </c:pt>
                  <c:pt idx="6">
                    <c:v>Dashboard</c:v>
                  </c:pt>
                  <c:pt idx="7">
                    <c:v>Logging</c:v>
                  </c:pt>
                  <c:pt idx="8">
                    <c:v>Admin</c:v>
                  </c:pt>
                  <c:pt idx="9">
                    <c:v>Devices &amp; satellite</c:v>
                  </c:pt>
                </c:lvl>
              </c:multiLvlStrCache>
            </c:multiLvlStrRef>
          </c:cat>
          <c:val>
            <c:numRef>
              <c:f>Sheet1!$B$2:$B$11</c:f>
              <c:numCache>
                <c:formatCode>General</c:formatCode>
                <c:ptCount val="10"/>
                <c:pt idx="0">
                  <c:v>8</c:v>
                </c:pt>
                <c:pt idx="1">
                  <c:v>5</c:v>
                </c:pt>
                <c:pt idx="2">
                  <c:v>8</c:v>
                </c:pt>
                <c:pt idx="3">
                  <c:v>5</c:v>
                </c:pt>
                <c:pt idx="4">
                  <c:v>6</c:v>
                </c:pt>
                <c:pt idx="5">
                  <c:v>2</c:v>
                </c:pt>
                <c:pt idx="6">
                  <c:v>6</c:v>
                </c:pt>
                <c:pt idx="7">
                  <c:v>1</c:v>
                </c:pt>
                <c:pt idx="8">
                  <c:v>6</c:v>
                </c:pt>
                <c:pt idx="9">
                  <c:v>4</c:v>
                </c:pt>
              </c:numCache>
            </c:numRef>
          </c:val>
        </c:ser>
        <c:ser>
          <c:idx val="1"/>
          <c:order val="1"/>
          <c:tx>
            <c:strRef>
              <c:f>Sheet1!$C$1</c:f>
              <c:strCache>
                <c:ptCount val="1"/>
                <c:pt idx="0">
                  <c:v>Should</c:v>
                </c:pt>
              </c:strCache>
            </c:strRef>
          </c:tx>
          <c:spPr>
            <a:solidFill>
              <a:srgbClr val="1B8A8F"/>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Data</c:v>
                  </c:pt>
                  <c:pt idx="1">
                    <c:v>Risk</c:v>
                  </c:pt>
                  <c:pt idx="2">
                    <c:v>Warning</c:v>
                  </c:pt>
                  <c:pt idx="3">
                    <c:v>Citizen</c:v>
                  </c:pt>
                  <c:pt idx="4">
                    <c:v>Evacuation</c:v>
                  </c:pt>
                  <c:pt idx="5">
                    <c:v>Offline</c:v>
                  </c:pt>
                  <c:pt idx="6">
                    <c:v>Dashboard</c:v>
                  </c:pt>
                  <c:pt idx="7">
                    <c:v>Logging</c:v>
                  </c:pt>
                  <c:pt idx="8">
                    <c:v>Admin</c:v>
                  </c:pt>
                  <c:pt idx="9">
                    <c:v>Devices &amp; satellite</c:v>
                  </c:pt>
                </c:lvl>
              </c:multiLvlStrCache>
            </c:multiLvlStrRef>
          </c:cat>
          <c:val>
            <c:numRef>
              <c:f>Sheet1!$C$2:$C$11</c:f>
              <c:numCache>
                <c:formatCode>General</c:formatCode>
                <c:ptCount val="10"/>
                <c:pt idx="0">
                  <c:v>1</c:v>
                </c:pt>
                <c:pt idx="1">
                  <c:v>1</c:v>
                </c:pt>
                <c:pt idx="2">
                  <c:v>4</c:v>
                </c:pt>
                <c:pt idx="3">
                  <c:v>3</c:v>
                </c:pt>
                <c:pt idx="4">
                  <c:v>3</c:v>
                </c:pt>
                <c:pt idx="5">
                  <c:v>2</c:v>
                </c:pt>
                <c:pt idx="6">
                  <c:v>1</c:v>
                </c:pt>
                <c:pt idx="7">
                  <c:v>2</c:v>
                </c:pt>
                <c:pt idx="8">
                  <c:v>0</c:v>
                </c:pt>
                <c:pt idx="9">
                  <c:v>3</c:v>
                </c:pt>
              </c:numCache>
            </c:numRef>
          </c:val>
        </c:ser>
        <c:ser>
          <c:idx val="2"/>
          <c:order val="2"/>
          <c:tx>
            <c:strRef>
              <c:f>Sheet1!$D$1</c:f>
              <c:strCache>
                <c:ptCount val="1"/>
                <c:pt idx="0">
                  <c:v>Could</c:v>
                </c:pt>
              </c:strCache>
            </c:strRef>
          </c:tx>
          <c:spPr>
            <a:solidFill>
              <a:srgbClr val="5F6B78"/>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Sheet1!$A$2:$A$11</c:f>
              <c:multiLvlStrCache>
                <c:ptCount val="10"/>
                <c:lvl>
                  <c:pt idx="0">
                    <c:v>Data</c:v>
                  </c:pt>
                  <c:pt idx="1">
                    <c:v>Risk</c:v>
                  </c:pt>
                  <c:pt idx="2">
                    <c:v>Warning</c:v>
                  </c:pt>
                  <c:pt idx="3">
                    <c:v>Citizen</c:v>
                  </c:pt>
                  <c:pt idx="4">
                    <c:v>Evacuation</c:v>
                  </c:pt>
                  <c:pt idx="5">
                    <c:v>Offline</c:v>
                  </c:pt>
                  <c:pt idx="6">
                    <c:v>Dashboard</c:v>
                  </c:pt>
                  <c:pt idx="7">
                    <c:v>Logging</c:v>
                  </c:pt>
                  <c:pt idx="8">
                    <c:v>Admin</c:v>
                  </c:pt>
                  <c:pt idx="9">
                    <c:v>Devices &amp; satellite</c:v>
                  </c:pt>
                </c:lvl>
              </c:multiLvlStrCache>
            </c:multiLvlStrRef>
          </c:cat>
          <c:val>
            <c:numRef>
              <c:f>Sheet1!$D$2:$D$11</c:f>
              <c:numCache>
                <c:formatCode>General</c:formatCode>
                <c:ptCount val="10"/>
                <c:pt idx="0">
                  <c:v>1</c:v>
                </c:pt>
                <c:pt idx="1">
                  <c:v>1</c:v>
                </c:pt>
                <c:pt idx="2">
                  <c:v>0</c:v>
                </c:pt>
                <c:pt idx="3">
                  <c:v>0</c:v>
                </c:pt>
                <c:pt idx="4">
                  <c:v>0</c:v>
                </c:pt>
                <c:pt idx="5">
                  <c:v>0</c:v>
                </c:pt>
                <c:pt idx="6">
                  <c:v>1</c:v>
                </c:pt>
                <c:pt idx="7">
                  <c:v>1</c:v>
                </c:pt>
                <c:pt idx="8">
                  <c:v>0</c:v>
                </c:pt>
                <c:pt idx="9">
                  <c:v>0</c:v>
                </c:pt>
              </c:numCache>
            </c:numRef>
          </c:val>
        </c:ser>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3DD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B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globally deployable, requirements-engineering-led design for flood early warning and evacuation support, piloted first in Nepal. Stress that it is decision support, not disaster prevention.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The full detail is in REQUIREMENTS_ENGINEERING.md and the docs folder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framing is a requirement in itself (SR-10): every screen states the system is decision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framing: the system is not built for Nepal only. Nepal is the first pilot deployment and testing ground. A second test profile proves the global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Tags: [F] verified fact, [A] assumption, [D] design decision, [T] prototype target. Facts are listed with sources in docs/07.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framed as an ML prediction problem; the academic focus is requirements under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RQ maps to a section of the specification; e.g. RQ5 to FR-38..46 and SR-03/05.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marked [T] are prototype acceptance targets measured in a simulated environment, not real-world guarantees. Full list SO-1..SO-16 in docs/01.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is deliberately constrained so a 4-person team can deliver in 4 weeks while still demonstrating every safety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stakeholder tables in docs/02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Engagement plan follows the grid; residents are elevated by an explicit ethical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STK need is refined into system requirements; the mapping is in REQUIREMENTS_ENGINEERING.md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KAOS-style refinement. G3 is refined further into G3.1 no contradiction/loss, G3.2 human authority, G3.3 understandable by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Personas make abstract stakeholder classes concrete and drive acceptance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Boundary decision [D]: the system never owns gauges, sirens, telecom networks or legal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microservices: disproportionate deployment and failure-mode complexity for a 4-week, 4-person team. Revisit at national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Avoided in 4 weeks: microservices, ML forecasting core, native apps, own country-wide sensor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Satellites give rainfall and flood extent, not real-time river levels; gauges give river levels. Country-wide gauge input comes from DHM's existing network, not from building our own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rather than ML: explainable, verifiable with test oracles, feasible in 4 weeks. Thresholds in the prototype are illustrative; real ones come from DHM.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state machine realises FR-18..29 and SR-02, SR-07, SR-09.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schema with RLS policies in docs/03 §4. Retention: reports 90 days, subscriptions 12 months, audit ≥ 5 years pseudonymised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contract is frozen in week 1 so frontend and backend can work in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 is capped at roughly 60 percent of team capacity; anything implementing a safety requirement is Must regardless of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statements with source stakeholder, rationale and verification method are in REQUIREMENTS_ENGINEERING.md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statements with source stakeholder, rationale and verification method are in REQUIREMENTS_ENGINEERING.md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statements with source stakeholder, rationale and verification method are in REQUIREMENTS_ENGINEERING.md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statements with source stakeholder, rationale and verification method are in REQUIREMENTS_ENGINEERING.md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statements with source stakeholder, rationale and verification method are in REQUIREMENTS_ENGINEERING.md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statements with source stakeholder, rationale and verification method are in REQUIREMENTS_ENGINEERING.md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statements with source stakeholder, rationale and verification method are in REQUIREMENTS_ENGINEERING.md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statements with source stakeholder, rationale and verification method are in REQUIREMENTS_ENGINEERING.md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Handset delivery depends on external networks and is measured, not guaranteed.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 68 is the commonly cited average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requirements make the system adaptive: new regions, hazards, sources and channels without redevelopment.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Derived from the 20 failure scenarios (F1–F20). These are the non-negotiable core of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Misuse case driving SEC-05: an attacker or careless admin creating a false evacuation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Includes: UC-03 includes UC-04; UC-10 includes UC-09.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Postcondition: warning ACTIVE or REJECTED with full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Silence is never interpreted as safety: this is the core fail-safe rule SR-06.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24 stories in docs/05.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FMEA-style analysis; every safety requirement traces to at least one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FMEA-style analysis; every safety requirement traces to at least one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Fault tree for the top event 'person not warned in time' is in docs/06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conflicts (open data vs security, volunteer reports vs sensors, features vs timeline) in docs/06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lets the same system serve a rural Terai municipality, Kathmandu, or another country without weakening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Ambiguity log resolves vague terms: 'timely' → ≤ 60 s [T]; 'nearby' → safe-route distance; 'safe route' → excludes WARNING+ zones, closures, unsafe bridges.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all Must items done by end of week 3; week 4 is Should items, validation, report and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semester delivers Phase 0. The team continues Phases 1-3 after the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matrix for all critical requirements in docs/08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False-positive rate is reported and reviewed but not hard-capped (conflict C1).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analysis in docs/09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limitations openly is part of the honesty requirement in the quality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core research question and how the requirements answer it in a testable way. Next step: build the 4-week prototype on Supabase, FastAPI and Next.js.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73736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731520" y="3291840"/>
            <a:ext cx="106984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chemeClr val="accent6"/>
                </a:solidFill>
              </a:rPr>
              <a:t>AMHEWS  ·  Global early warning  ·  Pilot: Nepal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slideLayout" Target="../slideLayouts/slideLayout3.xml"/><Relationship Id="rId1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3.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3.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image" Target="../media/image-51-7.png"/><Relationship Id="rId8" Type="http://schemas.openxmlformats.org/officeDocument/2006/relationships/image" Target="../media/image-51-8.png"/><Relationship Id="rId9" Type="http://schemas.openxmlformats.org/officeDocument/2006/relationships/slideLayout" Target="../slideLayouts/slideLayout3.xml"/><Relationship Id="rId10"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3.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10698480" cy="1737360"/>
          </a:xfrm>
          <a:prstGeom prst="rect">
            <a:avLst/>
          </a:prstGeom>
          <a:noFill/>
          <a:ln/>
        </p:spPr>
        <p:txBody>
          <a:bodyPr wrap="square" rtlCol="0" anchor="b"/>
          <a:lstStyle/>
          <a:p>
            <a:pPr indent="0" marL="0">
              <a:buNone/>
            </a:pPr>
            <a:r>
              <a:rPr lang="en-US" sz="4000" b="1" dirty="0">
                <a:solidFill>
                  <a:schemeClr val="bg1"/>
                </a:solidFill>
              </a:rPr>
              <a:t>Adaptive Multi-Hazard Early Warning and Evacuation Support System</a:t>
            </a:r>
            <a:endParaRPr lang="en-US" sz="4000" dirty="0"/>
          </a:p>
        </p:txBody>
      </p:sp>
      <p:sp>
        <p:nvSpPr>
          <p:cNvPr id="3" name="Text 0"/>
          <p:cNvSpPr/>
          <p:nvPr>
            <p:ph idx="101" type="body" hasCustomPrompt="1"/>
          </p:nvPr>
        </p:nvSpPr>
        <p:spPr>
          <a:xfrm>
            <a:off x="731520" y="3291840"/>
            <a:ext cx="10698480" cy="914400"/>
          </a:xfrm>
          <a:prstGeom prst="rect">
            <a:avLst/>
          </a:prstGeom>
          <a:noFill/>
          <a:ln/>
        </p:spPr>
        <p:txBody>
          <a:bodyPr wrap="square" rtlCol="0" anchor="t"/>
          <a:lstStyle/>
          <a:p>
            <a:pPr indent="0" marL="0">
              <a:buNone/>
            </a:pPr>
            <a:r>
              <a:rPr lang="en-US" sz="2000" dirty="0">
                <a:solidFill>
                  <a:schemeClr val="bg2"/>
                </a:solidFill>
              </a:rPr>
              <a:t>Global by design  ·  First deployment: Nepal</a:t>
            </a:r>
            <a:endParaRPr lang="en-US" sz="2000" dirty="0"/>
          </a:p>
          <a:p>
            <a:pPr indent="0" marL="0">
              <a:buNone/>
            </a:pPr>
            <a:r>
              <a:rPr lang="en-US" sz="2000" dirty="0">
                <a:solidFill>
                  <a:schemeClr val="bg2"/>
                </a:solidFill>
              </a:rPr>
              <a:t>Requirements Engineering  ·  4-week MVP with live data + launch roadmap</a:t>
            </a:r>
            <a:endParaRPr lang="en-US" sz="2000" dirty="0"/>
          </a:p>
        </p:txBody>
      </p:sp>
      <p:sp>
        <p:nvSpPr>
          <p:cNvPr id="4" name="Text 2"/>
          <p:cNvSpPr txBox="1"/>
          <p:nvPr/>
        </p:nvSpPr>
        <p:spPr>
          <a:xfrm>
            <a:off x="731520" y="914400"/>
            <a:ext cx="54864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AMHEWS</a:t>
            </a:r>
            <a:endParaRPr lang="en-US" sz="1600" dirty="0"/>
          </a:p>
        </p:txBody>
      </p:sp>
      <p:sp>
        <p:nvSpPr>
          <p:cNvPr id="5" name="Shape 3"/>
          <p:cNvSpPr/>
          <p:nvPr/>
        </p:nvSpPr>
        <p:spPr>
          <a:xfrm>
            <a:off x="731520" y="4983480"/>
            <a:ext cx="292608" cy="292608"/>
          </a:xfrm>
          <a:prstGeom prst="ellipse">
            <a:avLst/>
          </a:prstGeom>
          <a:solidFill>
            <a:schemeClr val="accent5"/>
          </a:solidFill>
          <a:ln w="12700">
            <a:solidFill>
              <a:schemeClr val="accent5"/>
            </a:solidFill>
            <a:prstDash val="solid"/>
          </a:ln>
        </p:spPr>
      </p:sp>
      <p:sp>
        <p:nvSpPr>
          <p:cNvPr id="6" name="Text 4"/>
          <p:cNvSpPr txBox="1"/>
          <p:nvPr/>
        </p:nvSpPr>
        <p:spPr>
          <a:xfrm>
            <a:off x="1115568" y="5001768"/>
            <a:ext cx="960120" cy="274320"/>
          </a:xfrm>
          <a:prstGeom prst="rect">
            <a:avLst/>
          </a:prstGeom>
          <a:noFill/>
          <a:ln/>
        </p:spPr>
        <p:txBody>
          <a:bodyPr wrap="square" lIns="0" tIns="0" rIns="0" bIns="0" rtlCol="0" anchor="t"/>
          <a:lstStyle/>
          <a:p>
            <a:pPr indent="0" marL="0">
              <a:buNone/>
            </a:pPr>
            <a:r>
              <a:rPr lang="en-US" sz="1400" dirty="0">
                <a:solidFill>
                  <a:schemeClr val="bg1"/>
                </a:solidFill>
              </a:rPr>
              <a:t>Normal</a:t>
            </a:r>
            <a:endParaRPr lang="en-US" sz="1400" dirty="0"/>
          </a:p>
        </p:txBody>
      </p:sp>
      <p:sp>
        <p:nvSpPr>
          <p:cNvPr id="7" name="Shape 5"/>
          <p:cNvSpPr/>
          <p:nvPr/>
        </p:nvSpPr>
        <p:spPr>
          <a:xfrm>
            <a:off x="2148840" y="4983480"/>
            <a:ext cx="292608" cy="292608"/>
          </a:xfrm>
          <a:prstGeom prst="ellipse">
            <a:avLst/>
          </a:prstGeom>
          <a:solidFill>
            <a:schemeClr val="accent4"/>
          </a:solidFill>
          <a:ln w="12700">
            <a:solidFill>
              <a:schemeClr val="accent4"/>
            </a:solidFill>
            <a:prstDash val="solid"/>
          </a:ln>
        </p:spPr>
      </p:sp>
      <p:sp>
        <p:nvSpPr>
          <p:cNvPr id="8" name="Text 6"/>
          <p:cNvSpPr txBox="1"/>
          <p:nvPr/>
        </p:nvSpPr>
        <p:spPr>
          <a:xfrm>
            <a:off x="2532888" y="5001768"/>
            <a:ext cx="960120" cy="274320"/>
          </a:xfrm>
          <a:prstGeom prst="rect">
            <a:avLst/>
          </a:prstGeom>
          <a:noFill/>
          <a:ln/>
        </p:spPr>
        <p:txBody>
          <a:bodyPr wrap="square" lIns="0" tIns="0" rIns="0" bIns="0" rtlCol="0" anchor="t"/>
          <a:lstStyle/>
          <a:p>
            <a:pPr indent="0" marL="0">
              <a:buNone/>
            </a:pPr>
            <a:r>
              <a:rPr lang="en-US" sz="1400" dirty="0">
                <a:solidFill>
                  <a:schemeClr val="bg1"/>
                </a:solidFill>
              </a:rPr>
              <a:t>Watch</a:t>
            </a:r>
            <a:endParaRPr lang="en-US" sz="1400" dirty="0"/>
          </a:p>
        </p:txBody>
      </p:sp>
      <p:sp>
        <p:nvSpPr>
          <p:cNvPr id="9" name="Shape 7"/>
          <p:cNvSpPr/>
          <p:nvPr/>
        </p:nvSpPr>
        <p:spPr>
          <a:xfrm>
            <a:off x="3566160" y="4983480"/>
            <a:ext cx="292608" cy="292608"/>
          </a:xfrm>
          <a:prstGeom prst="ellipse">
            <a:avLst/>
          </a:prstGeom>
          <a:solidFill>
            <a:schemeClr val="accent2"/>
          </a:solidFill>
          <a:ln w="12700">
            <a:solidFill>
              <a:schemeClr val="accent2"/>
            </a:solidFill>
            <a:prstDash val="solid"/>
          </a:ln>
        </p:spPr>
      </p:sp>
      <p:sp>
        <p:nvSpPr>
          <p:cNvPr id="10" name="Text 8"/>
          <p:cNvSpPr txBox="1"/>
          <p:nvPr/>
        </p:nvSpPr>
        <p:spPr>
          <a:xfrm>
            <a:off x="3950208" y="5001768"/>
            <a:ext cx="960120" cy="274320"/>
          </a:xfrm>
          <a:prstGeom prst="rect">
            <a:avLst/>
          </a:prstGeom>
          <a:noFill/>
          <a:ln/>
        </p:spPr>
        <p:txBody>
          <a:bodyPr wrap="square" lIns="0" tIns="0" rIns="0" bIns="0" rtlCol="0" anchor="t"/>
          <a:lstStyle/>
          <a:p>
            <a:pPr indent="0" marL="0">
              <a:buNone/>
            </a:pPr>
            <a:r>
              <a:rPr lang="en-US" sz="1400" dirty="0">
                <a:solidFill>
                  <a:schemeClr val="bg1"/>
                </a:solidFill>
              </a:rPr>
              <a:t>Warning</a:t>
            </a:r>
            <a:endParaRPr lang="en-US" sz="1400" dirty="0"/>
          </a:p>
        </p:txBody>
      </p:sp>
      <p:sp>
        <p:nvSpPr>
          <p:cNvPr id="11" name="Shape 9"/>
          <p:cNvSpPr/>
          <p:nvPr/>
        </p:nvSpPr>
        <p:spPr>
          <a:xfrm>
            <a:off x="4983480" y="4983480"/>
            <a:ext cx="292608" cy="292608"/>
          </a:xfrm>
          <a:prstGeom prst="ellipse">
            <a:avLst/>
          </a:prstGeom>
          <a:solidFill>
            <a:schemeClr val="accent3"/>
          </a:solidFill>
          <a:ln w="12700">
            <a:solidFill>
              <a:schemeClr val="accent3"/>
            </a:solidFill>
            <a:prstDash val="solid"/>
          </a:ln>
        </p:spPr>
      </p:sp>
      <p:sp>
        <p:nvSpPr>
          <p:cNvPr id="12" name="Text 10"/>
          <p:cNvSpPr txBox="1"/>
          <p:nvPr/>
        </p:nvSpPr>
        <p:spPr>
          <a:xfrm>
            <a:off x="5367528" y="5001768"/>
            <a:ext cx="960120" cy="274320"/>
          </a:xfrm>
          <a:prstGeom prst="rect">
            <a:avLst/>
          </a:prstGeom>
          <a:noFill/>
          <a:ln/>
        </p:spPr>
        <p:txBody>
          <a:bodyPr wrap="square" lIns="0" tIns="0" rIns="0" bIns="0" rtlCol="0" anchor="t"/>
          <a:lstStyle/>
          <a:p>
            <a:pPr indent="0" marL="0">
              <a:buNone/>
            </a:pPr>
            <a:r>
              <a:rPr lang="en-US" sz="1400" dirty="0">
                <a:solidFill>
                  <a:schemeClr val="bg1"/>
                </a:solidFill>
              </a:rPr>
              <a:t>Critical</a:t>
            </a:r>
            <a:endParaRPr lang="en-US" sz="1400" dirty="0"/>
          </a:p>
        </p:txBody>
      </p:sp>
      <p:sp>
        <p:nvSpPr>
          <p:cNvPr id="13" name="Text 11"/>
          <p:cNvSpPr txBox="1"/>
          <p:nvPr/>
        </p:nvSpPr>
        <p:spPr>
          <a:xfrm>
            <a:off x="731520" y="5989320"/>
            <a:ext cx="10698480" cy="320040"/>
          </a:xfrm>
          <a:prstGeom prst="rect">
            <a:avLst/>
          </a:prstGeom>
          <a:noFill/>
          <a:ln/>
        </p:spPr>
        <p:txBody>
          <a:bodyPr wrap="square" lIns="0" tIns="0" rIns="0" bIns="0" rtlCol="0" anchor="t"/>
          <a:lstStyle/>
          <a:p>
            <a:pPr indent="0" marL="0">
              <a:buNone/>
            </a:pPr>
            <a:r>
              <a:rPr lang="en-US" sz="1200" i="1" dirty="0">
                <a:solidFill>
                  <a:schemeClr val="bg2"/>
                </a:solidFill>
              </a:rPr>
              <a:t>Semester MVP — decision support. Public warnings and sirens need authorization by the government authorities.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What this presentation covers</a:t>
            </a:r>
            <a:endParaRPr lang="en-US" sz="3200" dirty="0"/>
          </a:p>
        </p:txBody>
      </p:sp>
      <p:sp>
        <p:nvSpPr>
          <p:cNvPr id="3" name="Shape 1"/>
          <p:cNvSpPr/>
          <p:nvPr/>
        </p:nvSpPr>
        <p:spPr>
          <a:xfrm>
            <a:off x="548640" y="1371600"/>
            <a:ext cx="3483864" cy="2148840"/>
          </a:xfrm>
          <a:prstGeom prst="roundRect">
            <a:avLst>
              <a:gd name="adj" fmla="val 3404"/>
            </a:avLst>
          </a:prstGeom>
          <a:solidFill>
            <a:schemeClr val="bg2"/>
          </a:solidFill>
          <a:ln w="12700">
            <a:solidFill>
              <a:schemeClr val="bg2"/>
            </a:solidFill>
            <a:prstDash val="solid"/>
          </a:ln>
        </p:spPr>
      </p:sp>
      <p:sp>
        <p:nvSpPr>
          <p:cNvPr id="4" name="Shape 2"/>
          <p:cNvSpPr/>
          <p:nvPr/>
        </p:nvSpPr>
        <p:spPr>
          <a:xfrm>
            <a:off x="822960" y="164592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76579" y="1799539"/>
            <a:ext cx="332842" cy="332842"/>
          </a:xfrm>
          <a:prstGeom prst="rect">
            <a:avLst/>
          </a:prstGeom>
        </p:spPr>
      </p:pic>
      <p:sp>
        <p:nvSpPr>
          <p:cNvPr id="6" name="Text 3"/>
          <p:cNvSpPr txBox="1"/>
          <p:nvPr/>
        </p:nvSpPr>
        <p:spPr>
          <a:xfrm>
            <a:off x="822960" y="2423160"/>
            <a:ext cx="2935224"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1  Project &amp; context</a:t>
            </a:r>
            <a:endParaRPr lang="en-US" sz="2000" dirty="0"/>
          </a:p>
        </p:txBody>
      </p:sp>
      <p:sp>
        <p:nvSpPr>
          <p:cNvPr id="7" name="Text 4"/>
          <p:cNvSpPr txBox="1"/>
          <p:nvPr/>
        </p:nvSpPr>
        <p:spPr>
          <a:xfrm>
            <a:off x="822960" y="2834640"/>
            <a:ext cx="2935224" cy="640080"/>
          </a:xfrm>
          <a:prstGeom prst="rect">
            <a:avLst/>
          </a:prstGeom>
          <a:noFill/>
          <a:ln/>
        </p:spPr>
        <p:txBody>
          <a:bodyPr wrap="square" lIns="0" tIns="0" rIns="0" bIns="0" rtlCol="0" anchor="t"/>
          <a:lstStyle/>
          <a:p>
            <a:pPr indent="0" marL="0">
              <a:buNone/>
            </a:pPr>
            <a:r>
              <a:rPr lang="en-US" sz="1400" dirty="0">
                <a:solidFill>
                  <a:schemeClr val="tx1"/>
                </a:solidFill>
              </a:rPr>
              <a:t>Problem, global scope, Nepal pilot, research questions, objectives</a:t>
            </a:r>
            <a:endParaRPr lang="en-US" sz="1400" dirty="0"/>
          </a:p>
        </p:txBody>
      </p:sp>
      <p:sp>
        <p:nvSpPr>
          <p:cNvPr id="8" name="Shape 5"/>
          <p:cNvSpPr/>
          <p:nvPr/>
        </p:nvSpPr>
        <p:spPr>
          <a:xfrm>
            <a:off x="4352544" y="1371600"/>
            <a:ext cx="3483864" cy="2148840"/>
          </a:xfrm>
          <a:prstGeom prst="roundRect">
            <a:avLst>
              <a:gd name="adj" fmla="val 3404"/>
            </a:avLst>
          </a:prstGeom>
          <a:solidFill>
            <a:schemeClr val="bg2"/>
          </a:solidFill>
          <a:ln w="12700">
            <a:solidFill>
              <a:schemeClr val="bg2"/>
            </a:solidFill>
            <a:prstDash val="solid"/>
          </a:ln>
        </p:spPr>
      </p:sp>
      <p:sp>
        <p:nvSpPr>
          <p:cNvPr id="9" name="Shape 6"/>
          <p:cNvSpPr/>
          <p:nvPr/>
        </p:nvSpPr>
        <p:spPr>
          <a:xfrm>
            <a:off x="4626864" y="1645920"/>
            <a:ext cx="640080" cy="64008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4780483" y="1799539"/>
            <a:ext cx="332842" cy="332842"/>
          </a:xfrm>
          <a:prstGeom prst="rect">
            <a:avLst/>
          </a:prstGeom>
        </p:spPr>
      </p:pic>
      <p:sp>
        <p:nvSpPr>
          <p:cNvPr id="11" name="Text 7"/>
          <p:cNvSpPr txBox="1"/>
          <p:nvPr/>
        </p:nvSpPr>
        <p:spPr>
          <a:xfrm>
            <a:off x="4626864" y="2423160"/>
            <a:ext cx="2935224"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2  Stakeholders</a:t>
            </a:r>
            <a:endParaRPr lang="en-US" sz="2000" dirty="0"/>
          </a:p>
        </p:txBody>
      </p:sp>
      <p:sp>
        <p:nvSpPr>
          <p:cNvPr id="12" name="Text 8"/>
          <p:cNvSpPr txBox="1"/>
          <p:nvPr/>
        </p:nvSpPr>
        <p:spPr>
          <a:xfrm>
            <a:off x="4626864" y="2834640"/>
            <a:ext cx="2935224" cy="640080"/>
          </a:xfrm>
          <a:prstGeom prst="rect">
            <a:avLst/>
          </a:prstGeom>
          <a:noFill/>
          <a:ln/>
        </p:spPr>
        <p:txBody>
          <a:bodyPr wrap="square" lIns="0" tIns="0" rIns="0" bIns="0" rtlCol="0" anchor="t"/>
          <a:lstStyle/>
          <a:p>
            <a:pPr indent="0" marL="0">
              <a:buNone/>
            </a:pPr>
            <a:r>
              <a:rPr lang="en-US" sz="1400" dirty="0">
                <a:solidFill>
                  <a:schemeClr val="tx1"/>
                </a:solidFill>
              </a:rPr>
              <a:t>24 stakeholder groups, needs, goal model, personas</a:t>
            </a:r>
            <a:endParaRPr lang="en-US" sz="1400" dirty="0"/>
          </a:p>
        </p:txBody>
      </p:sp>
      <p:sp>
        <p:nvSpPr>
          <p:cNvPr id="13" name="Shape 9"/>
          <p:cNvSpPr/>
          <p:nvPr/>
        </p:nvSpPr>
        <p:spPr>
          <a:xfrm>
            <a:off x="8156448" y="1371600"/>
            <a:ext cx="3483864" cy="2148840"/>
          </a:xfrm>
          <a:prstGeom prst="roundRect">
            <a:avLst>
              <a:gd name="adj" fmla="val 3404"/>
            </a:avLst>
          </a:prstGeom>
          <a:solidFill>
            <a:schemeClr val="bg2"/>
          </a:solidFill>
          <a:ln w="12700">
            <a:solidFill>
              <a:schemeClr val="bg2"/>
            </a:solidFill>
            <a:prstDash val="solid"/>
          </a:ln>
        </p:spPr>
      </p:sp>
      <p:sp>
        <p:nvSpPr>
          <p:cNvPr id="14" name="Shape 10"/>
          <p:cNvSpPr/>
          <p:nvPr/>
        </p:nvSpPr>
        <p:spPr>
          <a:xfrm>
            <a:off x="8430768" y="1645920"/>
            <a:ext cx="640080" cy="64008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8584387" y="1799539"/>
            <a:ext cx="332842" cy="332842"/>
          </a:xfrm>
          <a:prstGeom prst="rect">
            <a:avLst/>
          </a:prstGeom>
        </p:spPr>
      </p:pic>
      <p:sp>
        <p:nvSpPr>
          <p:cNvPr id="16" name="Text 11"/>
          <p:cNvSpPr txBox="1"/>
          <p:nvPr/>
        </p:nvSpPr>
        <p:spPr>
          <a:xfrm>
            <a:off x="8430768" y="2423160"/>
            <a:ext cx="2935224"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3  System design</a:t>
            </a:r>
            <a:endParaRPr lang="en-US" sz="2000" dirty="0"/>
          </a:p>
        </p:txBody>
      </p:sp>
      <p:sp>
        <p:nvSpPr>
          <p:cNvPr id="17" name="Text 12"/>
          <p:cNvSpPr txBox="1"/>
          <p:nvPr/>
        </p:nvSpPr>
        <p:spPr>
          <a:xfrm>
            <a:off x="8430768" y="2834640"/>
            <a:ext cx="2935224" cy="640080"/>
          </a:xfrm>
          <a:prstGeom prst="rect">
            <a:avLst/>
          </a:prstGeom>
          <a:noFill/>
          <a:ln/>
        </p:spPr>
        <p:txBody>
          <a:bodyPr wrap="square" lIns="0" tIns="0" rIns="0" bIns="0" rtlCol="0" anchor="t"/>
          <a:lstStyle/>
          <a:p>
            <a:pPr indent="0" marL="0">
              <a:buNone/>
            </a:pPr>
            <a:r>
              <a:rPr lang="en-US" sz="1400" dirty="0">
                <a:solidFill>
                  <a:schemeClr val="tx1"/>
                </a:solidFill>
              </a:rPr>
              <a:t>Context, architecture, live data &amp; hardware, risk levels, lifecycle, data, API</a:t>
            </a:r>
            <a:endParaRPr lang="en-US" sz="1400" dirty="0"/>
          </a:p>
        </p:txBody>
      </p:sp>
      <p:sp>
        <p:nvSpPr>
          <p:cNvPr id="18" name="Shape 13"/>
          <p:cNvSpPr/>
          <p:nvPr/>
        </p:nvSpPr>
        <p:spPr>
          <a:xfrm>
            <a:off x="548640" y="3840480"/>
            <a:ext cx="3483864" cy="2148840"/>
          </a:xfrm>
          <a:prstGeom prst="roundRect">
            <a:avLst>
              <a:gd name="adj" fmla="val 3404"/>
            </a:avLst>
          </a:prstGeom>
          <a:solidFill>
            <a:schemeClr val="bg2"/>
          </a:solidFill>
          <a:ln w="12700">
            <a:solidFill>
              <a:schemeClr val="bg2"/>
            </a:solidFill>
            <a:prstDash val="solid"/>
          </a:ln>
        </p:spPr>
      </p:sp>
      <p:sp>
        <p:nvSpPr>
          <p:cNvPr id="19" name="Shape 14"/>
          <p:cNvSpPr/>
          <p:nvPr/>
        </p:nvSpPr>
        <p:spPr>
          <a:xfrm>
            <a:off x="822960" y="4114800"/>
            <a:ext cx="640080" cy="64008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976579" y="4268419"/>
            <a:ext cx="332842" cy="332842"/>
          </a:xfrm>
          <a:prstGeom prst="rect">
            <a:avLst/>
          </a:prstGeom>
        </p:spPr>
      </p:pic>
      <p:sp>
        <p:nvSpPr>
          <p:cNvPr id="21" name="Text 15"/>
          <p:cNvSpPr txBox="1"/>
          <p:nvPr/>
        </p:nvSpPr>
        <p:spPr>
          <a:xfrm>
            <a:off x="822960" y="4892040"/>
            <a:ext cx="2935224"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4  Requirements</a:t>
            </a:r>
            <a:endParaRPr lang="en-US" sz="2000" dirty="0"/>
          </a:p>
        </p:txBody>
      </p:sp>
      <p:sp>
        <p:nvSpPr>
          <p:cNvPr id="22" name="Text 16"/>
          <p:cNvSpPr txBox="1"/>
          <p:nvPr/>
        </p:nvSpPr>
        <p:spPr>
          <a:xfrm>
            <a:off x="822960" y="5303520"/>
            <a:ext cx="2935224" cy="640080"/>
          </a:xfrm>
          <a:prstGeom prst="rect">
            <a:avLst/>
          </a:prstGeom>
          <a:noFill/>
          <a:ln/>
        </p:spPr>
        <p:txBody>
          <a:bodyPr wrap="square" lIns="0" tIns="0" rIns="0" bIns="0" rtlCol="0" anchor="t"/>
          <a:lstStyle/>
          <a:p>
            <a:pPr indent="0" marL="0">
              <a:buNone/>
            </a:pPr>
            <a:r>
              <a:rPr lang="en-US" sz="1400" dirty="0">
                <a:solidFill>
                  <a:schemeClr val="tx1"/>
                </a:solidFill>
              </a:rPr>
              <a:t>75 functional, 42 non-functional, safety, security, privacy</a:t>
            </a:r>
            <a:endParaRPr lang="en-US" sz="1400" dirty="0"/>
          </a:p>
        </p:txBody>
      </p:sp>
      <p:sp>
        <p:nvSpPr>
          <p:cNvPr id="23" name="Shape 17"/>
          <p:cNvSpPr/>
          <p:nvPr/>
        </p:nvSpPr>
        <p:spPr>
          <a:xfrm>
            <a:off x="4352544" y="3840480"/>
            <a:ext cx="3483864" cy="2148840"/>
          </a:xfrm>
          <a:prstGeom prst="roundRect">
            <a:avLst>
              <a:gd name="adj" fmla="val 3404"/>
            </a:avLst>
          </a:prstGeom>
          <a:solidFill>
            <a:schemeClr val="bg2"/>
          </a:solidFill>
          <a:ln w="12700">
            <a:solidFill>
              <a:schemeClr val="bg2"/>
            </a:solidFill>
            <a:prstDash val="solid"/>
          </a:ln>
        </p:spPr>
      </p:sp>
      <p:sp>
        <p:nvSpPr>
          <p:cNvPr id="24" name="Shape 18"/>
          <p:cNvSpPr/>
          <p:nvPr/>
        </p:nvSpPr>
        <p:spPr>
          <a:xfrm>
            <a:off x="4626864" y="4114800"/>
            <a:ext cx="640080" cy="640080"/>
          </a:xfrm>
          <a:prstGeom prst="ellipse">
            <a:avLst/>
          </a:prstGeom>
          <a:solidFill>
            <a:schemeClr val="accent1"/>
          </a:solidFill>
          <a:ln w="12700">
            <a:solidFill>
              <a:schemeClr val="accent1"/>
            </a:solidFill>
            <a:prstDash val="solid"/>
          </a:ln>
        </p:spPr>
      </p:sp>
      <p:pic>
        <p:nvPicPr>
          <p:cNvPr id="25" name="Image 4" descr="preencoded.png">    </p:cNvPr>
          <p:cNvPicPr>
            <a:picLocks noChangeAspect="1"/>
          </p:cNvPicPr>
          <p:nvPr/>
        </p:nvPicPr>
        <p:blipFill>
          <a:blip r:embed="rId5"/>
          <a:stretch>
            <a:fillRect/>
          </a:stretch>
        </p:blipFill>
        <p:spPr>
          <a:xfrm>
            <a:off x="4780483" y="4268419"/>
            <a:ext cx="332842" cy="332842"/>
          </a:xfrm>
          <a:prstGeom prst="rect">
            <a:avLst/>
          </a:prstGeom>
        </p:spPr>
      </p:pic>
      <p:sp>
        <p:nvSpPr>
          <p:cNvPr id="26" name="Text 19"/>
          <p:cNvSpPr txBox="1"/>
          <p:nvPr/>
        </p:nvSpPr>
        <p:spPr>
          <a:xfrm>
            <a:off x="4626864" y="4892040"/>
            <a:ext cx="2935224"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5  Analysis</a:t>
            </a:r>
            <a:endParaRPr lang="en-US" sz="2000" dirty="0"/>
          </a:p>
        </p:txBody>
      </p:sp>
      <p:sp>
        <p:nvSpPr>
          <p:cNvPr id="27" name="Text 20"/>
          <p:cNvSpPr txBox="1"/>
          <p:nvPr/>
        </p:nvSpPr>
        <p:spPr>
          <a:xfrm>
            <a:off x="4626864" y="5303520"/>
            <a:ext cx="2935224" cy="640080"/>
          </a:xfrm>
          <a:prstGeom prst="rect">
            <a:avLst/>
          </a:prstGeom>
          <a:noFill/>
          <a:ln/>
        </p:spPr>
        <p:txBody>
          <a:bodyPr wrap="square" lIns="0" tIns="0" rIns="0" bIns="0" rtlCol="0" anchor="t"/>
          <a:lstStyle/>
          <a:p>
            <a:pPr indent="0" marL="0">
              <a:buNone/>
            </a:pPr>
            <a:r>
              <a:rPr lang="en-US" sz="1400" dirty="0">
                <a:solidFill>
                  <a:schemeClr val="tx1"/>
                </a:solidFill>
              </a:rPr>
              <a:t>Use cases, user stories, 20 failure scenarios, conflicts, adaptivity</a:t>
            </a:r>
            <a:endParaRPr lang="en-US" sz="1400" dirty="0"/>
          </a:p>
        </p:txBody>
      </p:sp>
      <p:sp>
        <p:nvSpPr>
          <p:cNvPr id="28" name="Shape 21"/>
          <p:cNvSpPr/>
          <p:nvPr/>
        </p:nvSpPr>
        <p:spPr>
          <a:xfrm>
            <a:off x="8156448" y="3840480"/>
            <a:ext cx="3483864" cy="2148840"/>
          </a:xfrm>
          <a:prstGeom prst="roundRect">
            <a:avLst>
              <a:gd name="adj" fmla="val 3404"/>
            </a:avLst>
          </a:prstGeom>
          <a:solidFill>
            <a:schemeClr val="bg2"/>
          </a:solidFill>
          <a:ln w="12700">
            <a:solidFill>
              <a:schemeClr val="bg2"/>
            </a:solidFill>
            <a:prstDash val="solid"/>
          </a:ln>
        </p:spPr>
      </p:sp>
      <p:sp>
        <p:nvSpPr>
          <p:cNvPr id="29" name="Shape 22"/>
          <p:cNvSpPr/>
          <p:nvPr/>
        </p:nvSpPr>
        <p:spPr>
          <a:xfrm>
            <a:off x="8430768" y="4114800"/>
            <a:ext cx="640080" cy="640080"/>
          </a:xfrm>
          <a:prstGeom prst="ellipse">
            <a:avLst/>
          </a:prstGeom>
          <a:solidFill>
            <a:schemeClr val="accent1"/>
          </a:solidFill>
          <a:ln w="12700">
            <a:solidFill>
              <a:schemeClr val="accent1"/>
            </a:solidFill>
            <a:prstDash val="solid"/>
          </a:ln>
        </p:spPr>
      </p:sp>
      <p:pic>
        <p:nvPicPr>
          <p:cNvPr id="30" name="Image 5" descr="preencoded.png">    </p:cNvPr>
          <p:cNvPicPr>
            <a:picLocks noChangeAspect="1"/>
          </p:cNvPicPr>
          <p:nvPr/>
        </p:nvPicPr>
        <p:blipFill>
          <a:blip r:embed="rId6"/>
          <a:stretch>
            <a:fillRect/>
          </a:stretch>
        </p:blipFill>
        <p:spPr>
          <a:xfrm>
            <a:off x="8584387" y="4268419"/>
            <a:ext cx="332842" cy="332842"/>
          </a:xfrm>
          <a:prstGeom prst="rect">
            <a:avLst/>
          </a:prstGeom>
        </p:spPr>
      </p:pic>
      <p:sp>
        <p:nvSpPr>
          <p:cNvPr id="31" name="Text 23"/>
          <p:cNvSpPr txBox="1"/>
          <p:nvPr/>
        </p:nvSpPr>
        <p:spPr>
          <a:xfrm>
            <a:off x="8430768" y="4892040"/>
            <a:ext cx="2935224" cy="36576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6  Process &amp; plan</a:t>
            </a:r>
            <a:endParaRPr lang="en-US" sz="2000" dirty="0"/>
          </a:p>
        </p:txBody>
      </p:sp>
      <p:sp>
        <p:nvSpPr>
          <p:cNvPr id="32" name="Text 24"/>
          <p:cNvSpPr txBox="1"/>
          <p:nvPr/>
        </p:nvSpPr>
        <p:spPr>
          <a:xfrm>
            <a:off x="8430768" y="5303520"/>
            <a:ext cx="2935224" cy="640080"/>
          </a:xfrm>
          <a:prstGeom prst="rect">
            <a:avLst/>
          </a:prstGeom>
          <a:noFill/>
          <a:ln/>
        </p:spPr>
        <p:txBody>
          <a:bodyPr wrap="square" lIns="0" tIns="0" rIns="0" bIns="0" rtlCol="0" anchor="t"/>
          <a:lstStyle/>
          <a:p>
            <a:pPr indent="0" marL="0">
              <a:buNone/>
            </a:pPr>
            <a:r>
              <a:rPr lang="en-US" sz="1400" dirty="0">
                <a:solidFill>
                  <a:schemeClr val="tx1"/>
                </a:solidFill>
              </a:rPr>
              <a:t>RE lifecycle, 4-week plan, launch roadmap, traceability, V&amp;V, ethics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What the system is — and what it is not</a:t>
            </a:r>
            <a:endParaRPr lang="en-US" sz="3200" dirty="0"/>
          </a:p>
        </p:txBody>
      </p:sp>
      <p:sp>
        <p:nvSpPr>
          <p:cNvPr id="3" name="Shape 1"/>
          <p:cNvSpPr/>
          <p:nvPr/>
        </p:nvSpPr>
        <p:spPr>
          <a:xfrm>
            <a:off x="548640" y="1280160"/>
            <a:ext cx="5349240" cy="3566160"/>
          </a:xfrm>
          <a:prstGeom prst="roundRect">
            <a:avLst>
              <a:gd name="adj" fmla="val 2051"/>
            </a:avLst>
          </a:prstGeom>
          <a:solidFill>
            <a:schemeClr val="bg2"/>
          </a:solidFill>
          <a:ln w="12700">
            <a:solidFill>
              <a:schemeClr val="bg2"/>
            </a:solidFill>
            <a:prstDash val="solid"/>
          </a:ln>
        </p:spPr>
      </p:sp>
      <p:sp>
        <p:nvSpPr>
          <p:cNvPr id="4" name="Text 2"/>
          <p:cNvSpPr txBox="1"/>
          <p:nvPr/>
        </p:nvSpPr>
        <p:spPr>
          <a:xfrm>
            <a:off x="868680" y="1463040"/>
            <a:ext cx="457200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It is</a:t>
            </a:r>
            <a:endParaRPr lang="en-US" sz="2200" dirty="0"/>
          </a:p>
        </p:txBody>
      </p:sp>
      <p:sp>
        <p:nvSpPr>
          <p:cNvPr id="5" name="Shape 3"/>
          <p:cNvSpPr/>
          <p:nvPr/>
        </p:nvSpPr>
        <p:spPr>
          <a:xfrm>
            <a:off x="868680" y="2057400"/>
            <a:ext cx="347472" cy="347472"/>
          </a:xfrm>
          <a:prstGeom prst="ellipse">
            <a:avLst/>
          </a:prstGeom>
          <a:solidFill>
            <a:schemeClr val="accent5"/>
          </a:solidFill>
          <a:ln w="12700">
            <a:solidFill>
              <a:schemeClr val="accent5"/>
            </a:solidFill>
            <a:prstDash val="solid"/>
          </a:ln>
        </p:spPr>
      </p:sp>
      <p:pic>
        <p:nvPicPr>
          <p:cNvPr id="6" name="Image 0" descr="preencoded.png">    </p:cNvPr>
          <p:cNvPicPr>
            <a:picLocks noChangeAspect="1"/>
          </p:cNvPicPr>
          <p:nvPr/>
        </p:nvPicPr>
        <p:blipFill>
          <a:blip r:embed="rId1"/>
          <a:stretch>
            <a:fillRect/>
          </a:stretch>
        </p:blipFill>
        <p:spPr>
          <a:xfrm>
            <a:off x="952073" y="2140793"/>
            <a:ext cx="180685" cy="180685"/>
          </a:xfrm>
          <a:prstGeom prst="rect">
            <a:avLst/>
          </a:prstGeom>
        </p:spPr>
      </p:pic>
      <p:sp>
        <p:nvSpPr>
          <p:cNvPr id="7" name="Text 4"/>
          <p:cNvSpPr txBox="1"/>
          <p:nvPr/>
        </p:nvSpPr>
        <p:spPr>
          <a:xfrm>
            <a:off x="1371600" y="2103120"/>
            <a:ext cx="4343400" cy="365760"/>
          </a:xfrm>
          <a:prstGeom prst="rect">
            <a:avLst/>
          </a:prstGeom>
          <a:noFill/>
          <a:ln/>
        </p:spPr>
        <p:txBody>
          <a:bodyPr wrap="square" lIns="0" tIns="0" rIns="0" bIns="0" rtlCol="0" anchor="t"/>
          <a:lstStyle/>
          <a:p>
            <a:pPr indent="0" marL="0">
              <a:buNone/>
            </a:pPr>
            <a:r>
              <a:rPr lang="en-US" sz="1500" dirty="0">
                <a:solidFill>
                  <a:schemeClr val="tx1"/>
                </a:solidFill>
              </a:rPr>
              <a:t>Global decision support — any country, via a profile</a:t>
            </a:r>
            <a:endParaRPr lang="en-US" sz="1500" dirty="0"/>
          </a:p>
        </p:txBody>
      </p:sp>
      <p:sp>
        <p:nvSpPr>
          <p:cNvPr id="8" name="Shape 5"/>
          <p:cNvSpPr/>
          <p:nvPr/>
        </p:nvSpPr>
        <p:spPr>
          <a:xfrm>
            <a:off x="868680" y="2606040"/>
            <a:ext cx="347472" cy="347472"/>
          </a:xfrm>
          <a:prstGeom prst="ellipse">
            <a:avLst/>
          </a:prstGeom>
          <a:solidFill>
            <a:schemeClr val="accent5"/>
          </a:solidFill>
          <a:ln w="12700">
            <a:solidFill>
              <a:schemeClr val="accent5"/>
            </a:solidFill>
            <a:prstDash val="solid"/>
          </a:ln>
        </p:spPr>
      </p:sp>
      <p:pic>
        <p:nvPicPr>
          <p:cNvPr id="9" name="Image 1" descr="preencoded.png">    </p:cNvPr>
          <p:cNvPicPr>
            <a:picLocks noChangeAspect="1"/>
          </p:cNvPicPr>
          <p:nvPr/>
        </p:nvPicPr>
        <p:blipFill>
          <a:blip r:embed="rId2"/>
          <a:stretch>
            <a:fillRect/>
          </a:stretch>
        </p:blipFill>
        <p:spPr>
          <a:xfrm>
            <a:off x="952073" y="2689433"/>
            <a:ext cx="180685" cy="180685"/>
          </a:xfrm>
          <a:prstGeom prst="rect">
            <a:avLst/>
          </a:prstGeom>
        </p:spPr>
      </p:pic>
      <p:sp>
        <p:nvSpPr>
          <p:cNvPr id="10" name="Text 6"/>
          <p:cNvSpPr txBox="1"/>
          <p:nvPr/>
        </p:nvSpPr>
        <p:spPr>
          <a:xfrm>
            <a:off x="1371600" y="2651760"/>
            <a:ext cx="4343400" cy="365760"/>
          </a:xfrm>
          <a:prstGeom prst="rect">
            <a:avLst/>
          </a:prstGeom>
          <a:noFill/>
          <a:ln/>
        </p:spPr>
        <p:txBody>
          <a:bodyPr wrap="square" lIns="0" tIns="0" rIns="0" bIns="0" rtlCol="0" anchor="t"/>
          <a:lstStyle/>
          <a:p>
            <a:pPr indent="0" marL="0">
              <a:buNone/>
            </a:pPr>
            <a:r>
              <a:rPr lang="en-US" sz="1500" dirty="0">
                <a:solidFill>
                  <a:schemeClr val="tx1"/>
                </a:solidFill>
              </a:rPr>
              <a:t>Early warning: monitors data and assesses risk per area</a:t>
            </a:r>
            <a:endParaRPr lang="en-US" sz="1500" dirty="0"/>
          </a:p>
        </p:txBody>
      </p:sp>
      <p:sp>
        <p:nvSpPr>
          <p:cNvPr id="11" name="Shape 7"/>
          <p:cNvSpPr/>
          <p:nvPr/>
        </p:nvSpPr>
        <p:spPr>
          <a:xfrm>
            <a:off x="868680" y="3154680"/>
            <a:ext cx="347472" cy="347472"/>
          </a:xfrm>
          <a:prstGeom prst="ellipse">
            <a:avLst/>
          </a:prstGeom>
          <a:solidFill>
            <a:schemeClr val="accent5"/>
          </a:solidFill>
          <a:ln w="12700">
            <a:solidFill>
              <a:schemeClr val="accent5"/>
            </a:solidFill>
            <a:prstDash val="solid"/>
          </a:ln>
        </p:spPr>
      </p:sp>
      <p:pic>
        <p:nvPicPr>
          <p:cNvPr id="12" name="Image 2" descr="preencoded.png">    </p:cNvPr>
          <p:cNvPicPr>
            <a:picLocks noChangeAspect="1"/>
          </p:cNvPicPr>
          <p:nvPr/>
        </p:nvPicPr>
        <p:blipFill>
          <a:blip r:embed="rId3"/>
          <a:stretch>
            <a:fillRect/>
          </a:stretch>
        </p:blipFill>
        <p:spPr>
          <a:xfrm>
            <a:off x="952073" y="3238073"/>
            <a:ext cx="180685" cy="180685"/>
          </a:xfrm>
          <a:prstGeom prst="rect">
            <a:avLst/>
          </a:prstGeom>
        </p:spPr>
      </p:pic>
      <p:sp>
        <p:nvSpPr>
          <p:cNvPr id="13" name="Text 8"/>
          <p:cNvSpPr txBox="1"/>
          <p:nvPr/>
        </p:nvSpPr>
        <p:spPr>
          <a:xfrm>
            <a:off x="1371600" y="3200400"/>
            <a:ext cx="4343400" cy="365760"/>
          </a:xfrm>
          <a:prstGeom prst="rect">
            <a:avLst/>
          </a:prstGeom>
          <a:noFill/>
          <a:ln/>
        </p:spPr>
        <p:txBody>
          <a:bodyPr wrap="square" lIns="0" tIns="0" rIns="0" bIns="0" rtlCol="0" anchor="t"/>
          <a:lstStyle/>
          <a:p>
            <a:pPr indent="0" marL="0">
              <a:buNone/>
            </a:pPr>
            <a:r>
              <a:rPr lang="en-US" sz="1500" dirty="0">
                <a:solidFill>
                  <a:schemeClr val="tx1"/>
                </a:solidFill>
              </a:rPr>
              <a:t>Localized, multilingual, actionable alerts</a:t>
            </a:r>
            <a:endParaRPr lang="en-US" sz="1500" dirty="0"/>
          </a:p>
        </p:txBody>
      </p:sp>
      <p:sp>
        <p:nvSpPr>
          <p:cNvPr id="14" name="Shape 9"/>
          <p:cNvSpPr/>
          <p:nvPr/>
        </p:nvSpPr>
        <p:spPr>
          <a:xfrm>
            <a:off x="868680" y="3703320"/>
            <a:ext cx="347472" cy="347472"/>
          </a:xfrm>
          <a:prstGeom prst="ellipse">
            <a:avLst/>
          </a:prstGeom>
          <a:solidFill>
            <a:schemeClr val="accent5"/>
          </a:solidFill>
          <a:ln w="12700">
            <a:solidFill>
              <a:schemeClr val="accent5"/>
            </a:solidFill>
            <a:prstDash val="solid"/>
          </a:ln>
        </p:spPr>
      </p:sp>
      <p:pic>
        <p:nvPicPr>
          <p:cNvPr id="15" name="Image 3" descr="preencoded.png">    </p:cNvPr>
          <p:cNvPicPr>
            <a:picLocks noChangeAspect="1"/>
          </p:cNvPicPr>
          <p:nvPr/>
        </p:nvPicPr>
        <p:blipFill>
          <a:blip r:embed="rId4"/>
          <a:stretch>
            <a:fillRect/>
          </a:stretch>
        </p:blipFill>
        <p:spPr>
          <a:xfrm>
            <a:off x="952073" y="3786713"/>
            <a:ext cx="180685" cy="180685"/>
          </a:xfrm>
          <a:prstGeom prst="rect">
            <a:avLst/>
          </a:prstGeom>
        </p:spPr>
      </p:pic>
      <p:sp>
        <p:nvSpPr>
          <p:cNvPr id="16" name="Text 10"/>
          <p:cNvSpPr txBox="1"/>
          <p:nvPr/>
        </p:nvSpPr>
        <p:spPr>
          <a:xfrm>
            <a:off x="1371600" y="3749040"/>
            <a:ext cx="4343400" cy="365760"/>
          </a:xfrm>
          <a:prstGeom prst="rect">
            <a:avLst/>
          </a:prstGeom>
          <a:noFill/>
          <a:ln/>
        </p:spPr>
        <p:txBody>
          <a:bodyPr wrap="square" lIns="0" tIns="0" rIns="0" bIns="0" rtlCol="0" anchor="t"/>
          <a:lstStyle/>
          <a:p>
            <a:pPr indent="0" marL="0">
              <a:buNone/>
            </a:pPr>
            <a:r>
              <a:rPr lang="en-US" sz="1500" dirty="0">
                <a:solidFill>
                  <a:schemeClr val="tx1"/>
                </a:solidFill>
              </a:rPr>
              <a:t>Shelter and safe-route guidance for evacuation</a:t>
            </a:r>
            <a:endParaRPr lang="en-US" sz="1500" dirty="0"/>
          </a:p>
        </p:txBody>
      </p:sp>
      <p:sp>
        <p:nvSpPr>
          <p:cNvPr id="17" name="Shape 11"/>
          <p:cNvSpPr/>
          <p:nvPr/>
        </p:nvSpPr>
        <p:spPr>
          <a:xfrm>
            <a:off x="868680" y="4251960"/>
            <a:ext cx="347472" cy="347472"/>
          </a:xfrm>
          <a:prstGeom prst="ellipse">
            <a:avLst/>
          </a:prstGeom>
          <a:solidFill>
            <a:schemeClr val="accent5"/>
          </a:solidFill>
          <a:ln w="12700">
            <a:solidFill>
              <a:schemeClr val="accent5"/>
            </a:solidFill>
            <a:prstDash val="solid"/>
          </a:ln>
        </p:spPr>
      </p:sp>
      <p:pic>
        <p:nvPicPr>
          <p:cNvPr id="18" name="Image 4" descr="preencoded.png">    </p:cNvPr>
          <p:cNvPicPr>
            <a:picLocks noChangeAspect="1"/>
          </p:cNvPicPr>
          <p:nvPr/>
        </p:nvPicPr>
        <p:blipFill>
          <a:blip r:embed="rId5"/>
          <a:stretch>
            <a:fillRect/>
          </a:stretch>
        </p:blipFill>
        <p:spPr>
          <a:xfrm>
            <a:off x="952073" y="4335353"/>
            <a:ext cx="180685" cy="180685"/>
          </a:xfrm>
          <a:prstGeom prst="rect">
            <a:avLst/>
          </a:prstGeom>
        </p:spPr>
      </p:pic>
      <p:sp>
        <p:nvSpPr>
          <p:cNvPr id="19" name="Text 12"/>
          <p:cNvSpPr txBox="1"/>
          <p:nvPr/>
        </p:nvSpPr>
        <p:spPr>
          <a:xfrm>
            <a:off x="1371600" y="4297680"/>
            <a:ext cx="4343400" cy="365760"/>
          </a:xfrm>
          <a:prstGeom prst="rect">
            <a:avLst/>
          </a:prstGeom>
          <a:noFill/>
          <a:ln/>
        </p:spPr>
        <p:txBody>
          <a:bodyPr wrap="square" lIns="0" tIns="0" rIns="0" bIns="0" rtlCol="0" anchor="t"/>
          <a:lstStyle/>
          <a:p>
            <a:pPr indent="0" marL="0">
              <a:buNone/>
            </a:pPr>
            <a:r>
              <a:rPr lang="en-US" sz="1500" dirty="0">
                <a:solidFill>
                  <a:schemeClr val="tx1"/>
                </a:solidFill>
              </a:rPr>
              <a:t>Keeps working when data or networks fail</a:t>
            </a:r>
            <a:endParaRPr lang="en-US" sz="1500" dirty="0"/>
          </a:p>
        </p:txBody>
      </p:sp>
      <p:sp>
        <p:nvSpPr>
          <p:cNvPr id="20" name="Shape 13"/>
          <p:cNvSpPr/>
          <p:nvPr/>
        </p:nvSpPr>
        <p:spPr>
          <a:xfrm>
            <a:off x="6263640" y="1280160"/>
            <a:ext cx="5349240" cy="3566160"/>
          </a:xfrm>
          <a:prstGeom prst="roundRect">
            <a:avLst>
              <a:gd name="adj" fmla="val 2051"/>
            </a:avLst>
          </a:prstGeom>
          <a:solidFill>
            <a:schemeClr val="bg2"/>
          </a:solidFill>
          <a:ln w="12700">
            <a:solidFill>
              <a:schemeClr val="bg2"/>
            </a:solidFill>
            <a:prstDash val="solid"/>
          </a:ln>
        </p:spPr>
      </p:sp>
      <p:sp>
        <p:nvSpPr>
          <p:cNvPr id="21" name="Text 14"/>
          <p:cNvSpPr txBox="1"/>
          <p:nvPr/>
        </p:nvSpPr>
        <p:spPr>
          <a:xfrm>
            <a:off x="6583680" y="1463040"/>
            <a:ext cx="457200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It is not</a:t>
            </a:r>
            <a:endParaRPr lang="en-US" sz="2200" dirty="0"/>
          </a:p>
        </p:txBody>
      </p:sp>
      <p:sp>
        <p:nvSpPr>
          <p:cNvPr id="22" name="Shape 15"/>
          <p:cNvSpPr/>
          <p:nvPr/>
        </p:nvSpPr>
        <p:spPr>
          <a:xfrm>
            <a:off x="6583680" y="2057400"/>
            <a:ext cx="347472" cy="347472"/>
          </a:xfrm>
          <a:prstGeom prst="ellipse">
            <a:avLst/>
          </a:prstGeom>
          <a:solidFill>
            <a:schemeClr val="accent3"/>
          </a:solidFill>
          <a:ln w="12700">
            <a:solidFill>
              <a:schemeClr val="accent3"/>
            </a:solidFill>
            <a:prstDash val="solid"/>
          </a:ln>
        </p:spPr>
      </p:sp>
      <p:pic>
        <p:nvPicPr>
          <p:cNvPr id="23" name="Image 5" descr="preencoded.png">    </p:cNvPr>
          <p:cNvPicPr>
            <a:picLocks noChangeAspect="1"/>
          </p:cNvPicPr>
          <p:nvPr/>
        </p:nvPicPr>
        <p:blipFill>
          <a:blip r:embed="rId6"/>
          <a:stretch>
            <a:fillRect/>
          </a:stretch>
        </p:blipFill>
        <p:spPr>
          <a:xfrm>
            <a:off x="6667073" y="2140793"/>
            <a:ext cx="180685" cy="180685"/>
          </a:xfrm>
          <a:prstGeom prst="rect">
            <a:avLst/>
          </a:prstGeom>
        </p:spPr>
      </p:pic>
      <p:sp>
        <p:nvSpPr>
          <p:cNvPr id="24" name="Text 16"/>
          <p:cNvSpPr txBox="1"/>
          <p:nvPr/>
        </p:nvSpPr>
        <p:spPr>
          <a:xfrm>
            <a:off x="7086600" y="2103120"/>
            <a:ext cx="4343400" cy="365760"/>
          </a:xfrm>
          <a:prstGeom prst="rect">
            <a:avLst/>
          </a:prstGeom>
          <a:noFill/>
          <a:ln/>
        </p:spPr>
        <p:txBody>
          <a:bodyPr wrap="square" lIns="0" tIns="0" rIns="0" bIns="0" rtlCol="0" anchor="t"/>
          <a:lstStyle/>
          <a:p>
            <a:pPr indent="0" marL="0">
              <a:buNone/>
            </a:pPr>
            <a:r>
              <a:rPr lang="en-US" sz="1500" dirty="0">
                <a:solidFill>
                  <a:schemeClr val="tx1"/>
                </a:solidFill>
              </a:rPr>
              <a:t>A way to prevent floods</a:t>
            </a:r>
            <a:endParaRPr lang="en-US" sz="1500" dirty="0"/>
          </a:p>
        </p:txBody>
      </p:sp>
      <p:sp>
        <p:nvSpPr>
          <p:cNvPr id="25" name="Shape 17"/>
          <p:cNvSpPr/>
          <p:nvPr/>
        </p:nvSpPr>
        <p:spPr>
          <a:xfrm>
            <a:off x="6583680" y="2606040"/>
            <a:ext cx="347472" cy="347472"/>
          </a:xfrm>
          <a:prstGeom prst="ellipse">
            <a:avLst/>
          </a:prstGeom>
          <a:solidFill>
            <a:schemeClr val="accent3"/>
          </a:solidFill>
          <a:ln w="12700">
            <a:solidFill>
              <a:schemeClr val="accent3"/>
            </a:solidFill>
            <a:prstDash val="solid"/>
          </a:ln>
        </p:spPr>
      </p:sp>
      <p:pic>
        <p:nvPicPr>
          <p:cNvPr id="26" name="Image 6" descr="preencoded.png">    </p:cNvPr>
          <p:cNvPicPr>
            <a:picLocks noChangeAspect="1"/>
          </p:cNvPicPr>
          <p:nvPr/>
        </p:nvPicPr>
        <p:blipFill>
          <a:blip r:embed="rId7"/>
          <a:stretch>
            <a:fillRect/>
          </a:stretch>
        </p:blipFill>
        <p:spPr>
          <a:xfrm>
            <a:off x="6667073" y="2689433"/>
            <a:ext cx="180685" cy="180685"/>
          </a:xfrm>
          <a:prstGeom prst="rect">
            <a:avLst/>
          </a:prstGeom>
        </p:spPr>
      </p:pic>
      <p:sp>
        <p:nvSpPr>
          <p:cNvPr id="27" name="Text 18"/>
          <p:cNvSpPr txBox="1"/>
          <p:nvPr/>
        </p:nvSpPr>
        <p:spPr>
          <a:xfrm>
            <a:off x="7086600" y="2651760"/>
            <a:ext cx="4343400" cy="365760"/>
          </a:xfrm>
          <a:prstGeom prst="rect">
            <a:avLst/>
          </a:prstGeom>
          <a:noFill/>
          <a:ln/>
        </p:spPr>
        <p:txBody>
          <a:bodyPr wrap="square" lIns="0" tIns="0" rIns="0" bIns="0" rtlCol="0" anchor="t"/>
          <a:lstStyle/>
          <a:p>
            <a:pPr indent="0" marL="0">
              <a:buNone/>
            </a:pPr>
            <a:r>
              <a:rPr lang="en-US" sz="1500" dirty="0">
                <a:solidFill>
                  <a:schemeClr val="tx1"/>
                </a:solidFill>
              </a:rPr>
              <a:t>A guaranteed prediction or a guarantee of safety</a:t>
            </a:r>
            <a:endParaRPr lang="en-US" sz="1500" dirty="0"/>
          </a:p>
        </p:txBody>
      </p:sp>
      <p:sp>
        <p:nvSpPr>
          <p:cNvPr id="28" name="Shape 19"/>
          <p:cNvSpPr/>
          <p:nvPr/>
        </p:nvSpPr>
        <p:spPr>
          <a:xfrm>
            <a:off x="6583680" y="3154680"/>
            <a:ext cx="347472" cy="347472"/>
          </a:xfrm>
          <a:prstGeom prst="ellipse">
            <a:avLst/>
          </a:prstGeom>
          <a:solidFill>
            <a:schemeClr val="accent3"/>
          </a:solidFill>
          <a:ln w="12700">
            <a:solidFill>
              <a:schemeClr val="accent3"/>
            </a:solidFill>
            <a:prstDash val="solid"/>
          </a:ln>
        </p:spPr>
      </p:sp>
      <p:pic>
        <p:nvPicPr>
          <p:cNvPr id="29" name="Image 7" descr="preencoded.png">    </p:cNvPr>
          <p:cNvPicPr>
            <a:picLocks noChangeAspect="1"/>
          </p:cNvPicPr>
          <p:nvPr/>
        </p:nvPicPr>
        <p:blipFill>
          <a:blip r:embed="rId8"/>
          <a:stretch>
            <a:fillRect/>
          </a:stretch>
        </p:blipFill>
        <p:spPr>
          <a:xfrm>
            <a:off x="6667073" y="3238073"/>
            <a:ext cx="180685" cy="180685"/>
          </a:xfrm>
          <a:prstGeom prst="rect">
            <a:avLst/>
          </a:prstGeom>
        </p:spPr>
      </p:pic>
      <p:sp>
        <p:nvSpPr>
          <p:cNvPr id="30" name="Text 20"/>
          <p:cNvSpPr txBox="1"/>
          <p:nvPr/>
        </p:nvSpPr>
        <p:spPr>
          <a:xfrm>
            <a:off x="7086600" y="3200400"/>
            <a:ext cx="4343400" cy="365760"/>
          </a:xfrm>
          <a:prstGeom prst="rect">
            <a:avLst/>
          </a:prstGeom>
          <a:noFill/>
          <a:ln/>
        </p:spPr>
        <p:txBody>
          <a:bodyPr wrap="square" lIns="0" tIns="0" rIns="0" bIns="0" rtlCol="0" anchor="t"/>
          <a:lstStyle/>
          <a:p>
            <a:pPr indent="0" marL="0">
              <a:buNone/>
            </a:pPr>
            <a:r>
              <a:rPr lang="en-US" sz="1500" dirty="0">
                <a:solidFill>
                  <a:schemeClr val="tx1"/>
                </a:solidFill>
              </a:rPr>
              <a:t>A replacement for national or local authorities</a:t>
            </a:r>
            <a:endParaRPr lang="en-US" sz="1500" dirty="0"/>
          </a:p>
        </p:txBody>
      </p:sp>
      <p:sp>
        <p:nvSpPr>
          <p:cNvPr id="31" name="Shape 21"/>
          <p:cNvSpPr/>
          <p:nvPr/>
        </p:nvSpPr>
        <p:spPr>
          <a:xfrm>
            <a:off x="6583680" y="3703320"/>
            <a:ext cx="347472" cy="347472"/>
          </a:xfrm>
          <a:prstGeom prst="ellipse">
            <a:avLst/>
          </a:prstGeom>
          <a:solidFill>
            <a:schemeClr val="accent3"/>
          </a:solidFill>
          <a:ln w="12700">
            <a:solidFill>
              <a:schemeClr val="accent3"/>
            </a:solidFill>
            <a:prstDash val="solid"/>
          </a:ln>
        </p:spPr>
      </p:sp>
      <p:pic>
        <p:nvPicPr>
          <p:cNvPr id="32" name="Image 8" descr="preencoded.png">    </p:cNvPr>
          <p:cNvPicPr>
            <a:picLocks noChangeAspect="1"/>
          </p:cNvPicPr>
          <p:nvPr/>
        </p:nvPicPr>
        <p:blipFill>
          <a:blip r:embed="rId9"/>
          <a:stretch>
            <a:fillRect/>
          </a:stretch>
        </p:blipFill>
        <p:spPr>
          <a:xfrm>
            <a:off x="6667073" y="3786713"/>
            <a:ext cx="180685" cy="180685"/>
          </a:xfrm>
          <a:prstGeom prst="rect">
            <a:avLst/>
          </a:prstGeom>
        </p:spPr>
      </p:pic>
      <p:sp>
        <p:nvSpPr>
          <p:cNvPr id="33" name="Text 22"/>
          <p:cNvSpPr txBox="1"/>
          <p:nvPr/>
        </p:nvSpPr>
        <p:spPr>
          <a:xfrm>
            <a:off x="7086600" y="3749040"/>
            <a:ext cx="4343400" cy="365760"/>
          </a:xfrm>
          <a:prstGeom prst="rect">
            <a:avLst/>
          </a:prstGeom>
          <a:noFill/>
          <a:ln/>
        </p:spPr>
        <p:txBody>
          <a:bodyPr wrap="square" lIns="0" tIns="0" rIns="0" bIns="0" rtlCol="0" anchor="t"/>
          <a:lstStyle/>
          <a:p>
            <a:pPr indent="0" marL="0">
              <a:buNone/>
            </a:pPr>
            <a:r>
              <a:rPr lang="en-US" sz="1500" dirty="0">
                <a:solidFill>
                  <a:schemeClr val="tx1"/>
                </a:solidFill>
              </a:rPr>
              <a:t>An autonomous siren trigger or dam controller</a:t>
            </a:r>
            <a:endParaRPr lang="en-US" sz="1500" dirty="0"/>
          </a:p>
        </p:txBody>
      </p:sp>
      <p:sp>
        <p:nvSpPr>
          <p:cNvPr id="34" name="Shape 23"/>
          <p:cNvSpPr/>
          <p:nvPr/>
        </p:nvSpPr>
        <p:spPr>
          <a:xfrm>
            <a:off x="6583680" y="4251960"/>
            <a:ext cx="347472" cy="347472"/>
          </a:xfrm>
          <a:prstGeom prst="ellipse">
            <a:avLst/>
          </a:prstGeom>
          <a:solidFill>
            <a:schemeClr val="accent3"/>
          </a:solidFill>
          <a:ln w="12700">
            <a:solidFill>
              <a:schemeClr val="accent3"/>
            </a:solidFill>
            <a:prstDash val="solid"/>
          </a:ln>
        </p:spPr>
      </p:sp>
      <p:pic>
        <p:nvPicPr>
          <p:cNvPr id="35" name="Image 9" descr="preencoded.png">    </p:cNvPr>
          <p:cNvPicPr>
            <a:picLocks noChangeAspect="1"/>
          </p:cNvPicPr>
          <p:nvPr/>
        </p:nvPicPr>
        <p:blipFill>
          <a:blip r:embed="rId10"/>
          <a:stretch>
            <a:fillRect/>
          </a:stretch>
        </p:blipFill>
        <p:spPr>
          <a:xfrm>
            <a:off x="6667073" y="4335353"/>
            <a:ext cx="180685" cy="180685"/>
          </a:xfrm>
          <a:prstGeom prst="rect">
            <a:avLst/>
          </a:prstGeom>
        </p:spPr>
      </p:pic>
      <p:sp>
        <p:nvSpPr>
          <p:cNvPr id="36" name="Text 24"/>
          <p:cNvSpPr txBox="1"/>
          <p:nvPr/>
        </p:nvSpPr>
        <p:spPr>
          <a:xfrm>
            <a:off x="7086600" y="4297680"/>
            <a:ext cx="4343400" cy="365760"/>
          </a:xfrm>
          <a:prstGeom prst="rect">
            <a:avLst/>
          </a:prstGeom>
          <a:noFill/>
          <a:ln/>
        </p:spPr>
        <p:txBody>
          <a:bodyPr wrap="square" lIns="0" tIns="0" rIns="0" bIns="0" rtlCol="0" anchor="t"/>
          <a:lstStyle/>
          <a:p>
            <a:pPr indent="0" marL="0">
              <a:buNone/>
            </a:pPr>
            <a:r>
              <a:rPr lang="en-US" sz="1500" dirty="0">
                <a:solidFill>
                  <a:schemeClr val="tx1"/>
                </a:solidFill>
              </a:rPr>
              <a:t>Live for the public before government sign-off</a:t>
            </a:r>
            <a:endParaRPr lang="en-US" sz="1500" dirty="0"/>
          </a:p>
        </p:txBody>
      </p:sp>
      <p:sp>
        <p:nvSpPr>
          <p:cNvPr id="37" name="Shape 25"/>
          <p:cNvSpPr/>
          <p:nvPr/>
        </p:nvSpPr>
        <p:spPr>
          <a:xfrm>
            <a:off x="548640" y="5074920"/>
            <a:ext cx="11064240" cy="868680"/>
          </a:xfrm>
          <a:prstGeom prst="roundRect">
            <a:avLst>
              <a:gd name="adj" fmla="val 8421"/>
            </a:avLst>
          </a:prstGeom>
          <a:solidFill>
            <a:schemeClr val="tx2"/>
          </a:solidFill>
          <a:ln w="12700">
            <a:solidFill>
              <a:schemeClr val="tx2"/>
            </a:solidFill>
            <a:prstDash val="solid"/>
          </a:ln>
        </p:spPr>
      </p:sp>
      <p:sp>
        <p:nvSpPr>
          <p:cNvPr id="38" name="Text 26"/>
          <p:cNvSpPr txBox="1"/>
          <p:nvPr/>
        </p:nvSpPr>
        <p:spPr>
          <a:xfrm>
            <a:off x="868680" y="5166360"/>
            <a:ext cx="10424160" cy="685800"/>
          </a:xfrm>
          <a:prstGeom prst="rect">
            <a:avLst/>
          </a:prstGeom>
          <a:noFill/>
          <a:ln/>
        </p:spPr>
        <p:txBody>
          <a:bodyPr wrap="square" lIns="0" tIns="0" rIns="0" bIns="0" rtlCol="0" anchor="ctr"/>
          <a:lstStyle/>
          <a:p>
            <a:pPr indent="0" marL="0">
              <a:buNone/>
            </a:pPr>
            <a:r>
              <a:rPr lang="en-US" sz="1600" b="1" dirty="0">
                <a:solidFill>
                  <a:schemeClr val="accent2"/>
                </a:solidFill>
              </a:rPr>
              <a:t>Objective:  </a:t>
            </a:r>
            <a:pPr indent="0" marL="0">
              <a:buNone/>
            </a:pPr>
            <a:r>
              <a:rPr lang="en-US" sz="1600" dirty="0">
                <a:solidFill>
                  <a:schemeClr val="bg1"/>
                </a:solidFill>
              </a:rPr>
              <a:t>reduce casualties, injuries, evacuation delays and misinformation through earlier, clearer and better-targeted information and coordination.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Global by design — Nepal is the first pilot</a:t>
            </a:r>
            <a:endParaRPr lang="en-US" sz="3200" dirty="0"/>
          </a:p>
        </p:txBody>
      </p:sp>
      <p:sp>
        <p:nvSpPr>
          <p:cNvPr id="3" name="Shape 1"/>
          <p:cNvSpPr/>
          <p:nvPr/>
        </p:nvSpPr>
        <p:spPr>
          <a:xfrm>
            <a:off x="548640" y="1280160"/>
            <a:ext cx="3291840" cy="4754880"/>
          </a:xfrm>
          <a:prstGeom prst="roundRect">
            <a:avLst>
              <a:gd name="adj" fmla="val 2222"/>
            </a:avLst>
          </a:prstGeom>
          <a:solidFill>
            <a:schemeClr val="tx2"/>
          </a:solidFill>
          <a:ln w="12700">
            <a:solidFill>
              <a:schemeClr val="tx2"/>
            </a:solidFill>
            <a:prstDash val="solid"/>
          </a:ln>
        </p:spPr>
      </p:sp>
      <p:sp>
        <p:nvSpPr>
          <p:cNvPr id="4" name="Shape 2"/>
          <p:cNvSpPr/>
          <p:nvPr/>
        </p:nvSpPr>
        <p:spPr>
          <a:xfrm>
            <a:off x="822960" y="1508760"/>
            <a:ext cx="640080" cy="640080"/>
          </a:xfrm>
          <a:prstGeom prst="ellipse">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976579" y="1662379"/>
            <a:ext cx="332842" cy="332842"/>
          </a:xfrm>
          <a:prstGeom prst="rect">
            <a:avLst/>
          </a:prstGeom>
        </p:spPr>
      </p:pic>
      <p:sp>
        <p:nvSpPr>
          <p:cNvPr id="6" name="Text 3"/>
          <p:cNvSpPr txBox="1"/>
          <p:nvPr/>
        </p:nvSpPr>
        <p:spPr>
          <a:xfrm>
            <a:off x="822960" y="2331720"/>
            <a:ext cx="2743200" cy="731520"/>
          </a:xfrm>
          <a:prstGeom prst="rect">
            <a:avLst/>
          </a:prstGeom>
          <a:noFill/>
          <a:ln/>
        </p:spPr>
        <p:txBody>
          <a:bodyPr wrap="square" lIns="0" tIns="0" rIns="0" bIns="0" rtlCol="0" anchor="t"/>
          <a:lstStyle/>
          <a:p>
            <a:pPr indent="0" marL="0">
              <a:buNone/>
            </a:pPr>
            <a:r>
              <a:rPr lang="en-US" sz="2000" b="1" dirty="0">
                <a:solidFill>
                  <a:schemeClr val="bg1"/>
                </a:solidFill>
              </a:rPr>
              <a:t>One product, any country</a:t>
            </a:r>
            <a:endParaRPr lang="en-US" sz="2000" dirty="0"/>
          </a:p>
        </p:txBody>
      </p:sp>
      <p:sp>
        <p:nvSpPr>
          <p:cNvPr id="7" name="Text 4"/>
          <p:cNvSpPr txBox="1"/>
          <p:nvPr/>
        </p:nvSpPr>
        <p:spPr>
          <a:xfrm>
            <a:off x="822960" y="3108960"/>
            <a:ext cx="2788920" cy="1371600"/>
          </a:xfrm>
          <a:prstGeom prst="rect">
            <a:avLst/>
          </a:prstGeom>
          <a:noFill/>
          <a:ln/>
        </p:spPr>
        <p:txBody>
          <a:bodyPr wrap="square" lIns="0" tIns="0" rIns="0" bIns="0" rtlCol="0" anchor="t"/>
          <a:lstStyle/>
          <a:p>
            <a:pPr indent="0" marL="0">
              <a:buNone/>
            </a:pPr>
            <a:r>
              <a:rPr lang="en-US" sz="1400" dirty="0">
                <a:solidFill>
                  <a:schemeClr val="bg2"/>
                </a:solidFill>
              </a:rPr>
              <a:t>Everything that differs between places comes from a Deployment Profile (FR-68). Nothing country-specific is hard-coded.</a:t>
            </a:r>
            <a:endParaRPr lang="en-US" sz="1400" dirty="0"/>
          </a:p>
        </p:txBody>
      </p:sp>
      <p:sp>
        <p:nvSpPr>
          <p:cNvPr id="8" name="Text 5"/>
          <p:cNvSpPr txBox="1"/>
          <p:nvPr/>
        </p:nvSpPr>
        <p:spPr>
          <a:xfrm>
            <a:off x="822960" y="4434840"/>
            <a:ext cx="2788920" cy="1463040"/>
          </a:xfrm>
          <a:prstGeom prst="rect">
            <a:avLst/>
          </a:prstGeom>
          <a:noFill/>
          <a:ln/>
        </p:spPr>
        <p:txBody>
          <a:bodyPr wrap="square" lIns="0" tIns="0" rIns="0" bIns="0" rtlCol="0" anchor="t"/>
          <a:lstStyle/>
          <a:p>
            <a:pPr indent="0" marL="0">
              <a:buNone/>
            </a:pPr>
            <a:r>
              <a:rPr lang="en-US" sz="1400" dirty="0">
                <a:solidFill>
                  <a:schemeClr val="accent4"/>
                </a:solidFill>
              </a:rPr>
              <a:t>Nepal is the testing ground: monsoon floods, mountains, landslides, uneven connectivity and many languages. If it works there, it should transfer.</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023360" y="1280160"/>
          <a:ext cx="7589520" cy="914400"/>
        </p:xfrm>
        <a:graphic>
          <a:graphicData uri="http://schemas.openxmlformats.org/drawingml/2006/table">
            <a:tbl>
              <a:tblPr/>
              <a:tblGrid>
                <a:gridCol w="2286000"/>
                <a:gridCol w="2697480"/>
                <a:gridCol w="2606040"/>
              </a:tblGrid>
              <a:tr h="512064">
                <a:tc>
                  <a:txBody>
                    <a:bodyPr/>
                    <a:lstStyle/>
                    <a:p>
                      <a:pPr indent="0" marL="0">
                        <a:buNone/>
                      </a:pPr>
                      <a:r>
                        <a:rPr lang="en-US" sz="1400" b="1" dirty="0">
                          <a:solidFill>
                            <a:schemeClr val="bg1"/>
                          </a:solidFill>
                        </a:rPr>
                        <a:t>Concern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Global product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Nepal pilot profile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chemeClr val="tx1"/>
                          </a:solidFill>
                        </a:rPr>
                        <a:t>Administrative levels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Configurable hierarchy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1"/>
                          </a:solidFill>
                        </a:rPr>
                        <a:t>Province → district → municipality → ward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Hydromet authority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Role, set per country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1"/>
                          </a:solidFill>
                        </a:rPr>
                        <a:t>DHM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National DRR authority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Role, set per country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1"/>
                          </a:solidFill>
                        </a:rPr>
                        <a:t>NDRRMA (BIPAD)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Languages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Any language pack + English</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1"/>
                          </a:solidFill>
                        </a:rPr>
                        <a:t>Nepali + English</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Time zone, calendar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Any time zone; local calendar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1"/>
                          </a:solidFill>
                        </a:rPr>
                        <a:t>UTC+05:45; Bikram Sambat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Laws, emergency numbers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Per profile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1"/>
                          </a:solidFill>
                        </a:rPr>
                        <a:t>Nepal privacy &amp; DRRM law</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Data sources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Adapters; global APIs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1"/>
                          </a:solidFill>
                        </a:rPr>
                        <a:t>Simulated Terai river gauges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Channels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Push, SMS, siren, broadcast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1"/>
                          </a:solidFill>
                        </a:rPr>
                        <a:t>Web push + simulated SMS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Why Nepal is the first pilot: a demanding test case</a:t>
            </a:r>
            <a:endParaRPr lang="en-US" sz="3200" dirty="0"/>
          </a:p>
        </p:txBody>
      </p:sp>
      <p:sp>
        <p:nvSpPr>
          <p:cNvPr id="3" name="Shape 1"/>
          <p:cNvSpPr/>
          <p:nvPr/>
        </p:nvSpPr>
        <p:spPr>
          <a:xfrm>
            <a:off x="548640" y="1325880"/>
            <a:ext cx="2569464" cy="2514600"/>
          </a:xfrm>
          <a:prstGeom prst="roundRect">
            <a:avLst>
              <a:gd name="adj" fmla="val 2909"/>
            </a:avLst>
          </a:prstGeom>
          <a:solidFill>
            <a:schemeClr val="bg2"/>
          </a:solidFill>
          <a:ln w="12700">
            <a:solidFill>
              <a:schemeClr val="bg2"/>
            </a:solidFill>
            <a:prstDash val="solid"/>
          </a:ln>
        </p:spPr>
      </p:sp>
      <p:sp>
        <p:nvSpPr>
          <p:cNvPr id="4" name="Text 2"/>
          <p:cNvSpPr txBox="1"/>
          <p:nvPr/>
        </p:nvSpPr>
        <p:spPr>
          <a:xfrm>
            <a:off x="777240" y="1508760"/>
            <a:ext cx="2112264" cy="8686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753</a:t>
            </a:r>
            <a:endParaRPr lang="en-US" sz="4000" dirty="0"/>
          </a:p>
        </p:txBody>
      </p:sp>
      <p:sp>
        <p:nvSpPr>
          <p:cNvPr id="5" name="Text 3"/>
          <p:cNvSpPr txBox="1"/>
          <p:nvPr/>
        </p:nvSpPr>
        <p:spPr>
          <a:xfrm>
            <a:off x="777240" y="2423160"/>
            <a:ext cx="2112264" cy="868680"/>
          </a:xfrm>
          <a:prstGeom prst="rect">
            <a:avLst/>
          </a:prstGeom>
          <a:noFill/>
          <a:ln/>
        </p:spPr>
        <p:txBody>
          <a:bodyPr wrap="square" lIns="0" tIns="0" rIns="0" bIns="0" rtlCol="0" anchor="t"/>
          <a:lstStyle/>
          <a:p>
            <a:pPr indent="0" marL="0">
              <a:buNone/>
            </a:pPr>
            <a:r>
              <a:rPr lang="en-US" sz="1500" dirty="0">
                <a:solidFill>
                  <a:schemeClr val="tx1"/>
                </a:solidFill>
              </a:rPr>
              <a:t>local levels (460 rural municipalities) and 6,743 wards</a:t>
            </a:r>
            <a:endParaRPr lang="en-US" sz="1500" dirty="0"/>
          </a:p>
        </p:txBody>
      </p:sp>
      <p:sp>
        <p:nvSpPr>
          <p:cNvPr id="6" name="Text 4"/>
          <p:cNvSpPr txBox="1"/>
          <p:nvPr/>
        </p:nvSpPr>
        <p:spPr>
          <a:xfrm>
            <a:off x="777240" y="3383280"/>
            <a:ext cx="2112264" cy="274320"/>
          </a:xfrm>
          <a:prstGeom prst="rect">
            <a:avLst/>
          </a:prstGeom>
          <a:noFill/>
          <a:ln/>
        </p:spPr>
        <p:txBody>
          <a:bodyPr wrap="square" lIns="0" tIns="0" rIns="0" bIns="0" rtlCol="0" anchor="t"/>
          <a:lstStyle/>
          <a:p>
            <a:pPr indent="0" marL="0">
              <a:buNone/>
            </a:pPr>
            <a:r>
              <a:rPr lang="en-US" sz="1100" dirty="0">
                <a:solidFill>
                  <a:schemeClr val="accent6"/>
                </a:solidFill>
              </a:rPr>
              <a:t>[F] MoFAGA / Open Data Nepal</a:t>
            </a:r>
            <a:endParaRPr lang="en-US" sz="1100" dirty="0"/>
          </a:p>
        </p:txBody>
      </p:sp>
      <p:sp>
        <p:nvSpPr>
          <p:cNvPr id="7" name="Shape 5"/>
          <p:cNvSpPr/>
          <p:nvPr/>
        </p:nvSpPr>
        <p:spPr>
          <a:xfrm>
            <a:off x="3392424" y="1325880"/>
            <a:ext cx="2569464" cy="2514600"/>
          </a:xfrm>
          <a:prstGeom prst="roundRect">
            <a:avLst>
              <a:gd name="adj" fmla="val 2909"/>
            </a:avLst>
          </a:prstGeom>
          <a:solidFill>
            <a:schemeClr val="bg2"/>
          </a:solidFill>
          <a:ln w="12700">
            <a:solidFill>
              <a:schemeClr val="bg2"/>
            </a:solidFill>
            <a:prstDash val="solid"/>
          </a:ln>
        </p:spPr>
      </p:sp>
      <p:sp>
        <p:nvSpPr>
          <p:cNvPr id="8" name="Text 6"/>
          <p:cNvSpPr txBox="1"/>
          <p:nvPr/>
        </p:nvSpPr>
        <p:spPr>
          <a:xfrm>
            <a:off x="3621024" y="1508760"/>
            <a:ext cx="2112264" cy="8686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124</a:t>
            </a:r>
            <a:endParaRPr lang="en-US" sz="4000" dirty="0"/>
          </a:p>
        </p:txBody>
      </p:sp>
      <p:sp>
        <p:nvSpPr>
          <p:cNvPr id="9" name="Text 7"/>
          <p:cNvSpPr txBox="1"/>
          <p:nvPr/>
        </p:nvSpPr>
        <p:spPr>
          <a:xfrm>
            <a:off x="3621024" y="2423160"/>
            <a:ext cx="2112264" cy="868680"/>
          </a:xfrm>
          <a:prstGeom prst="rect">
            <a:avLst/>
          </a:prstGeom>
          <a:noFill/>
          <a:ln/>
        </p:spPr>
        <p:txBody>
          <a:bodyPr wrap="square" lIns="0" tIns="0" rIns="0" bIns="0" rtlCol="0" anchor="t"/>
          <a:lstStyle/>
          <a:p>
            <a:pPr indent="0" marL="0">
              <a:buNone/>
            </a:pPr>
            <a:r>
              <a:rPr lang="en-US" sz="1500" dirty="0">
                <a:solidFill>
                  <a:schemeClr val="tx1"/>
                </a:solidFill>
              </a:rPr>
              <a:t>mother tongues recorded in the 2021 census</a:t>
            </a:r>
            <a:endParaRPr lang="en-US" sz="1500" dirty="0"/>
          </a:p>
        </p:txBody>
      </p:sp>
      <p:sp>
        <p:nvSpPr>
          <p:cNvPr id="10" name="Text 8"/>
          <p:cNvSpPr txBox="1"/>
          <p:nvPr/>
        </p:nvSpPr>
        <p:spPr>
          <a:xfrm>
            <a:off x="3621024" y="3383280"/>
            <a:ext cx="2112264" cy="274320"/>
          </a:xfrm>
          <a:prstGeom prst="rect">
            <a:avLst/>
          </a:prstGeom>
          <a:noFill/>
          <a:ln/>
        </p:spPr>
        <p:txBody>
          <a:bodyPr wrap="square" lIns="0" tIns="0" rIns="0" bIns="0" rtlCol="0" anchor="t"/>
          <a:lstStyle/>
          <a:p>
            <a:pPr indent="0" marL="0">
              <a:buNone/>
            </a:pPr>
            <a:r>
              <a:rPr lang="en-US" sz="1100" dirty="0">
                <a:solidFill>
                  <a:schemeClr val="accent6"/>
                </a:solidFill>
              </a:rPr>
              <a:t>[F] NSO census 2021</a:t>
            </a:r>
            <a:endParaRPr lang="en-US" sz="1100" dirty="0"/>
          </a:p>
        </p:txBody>
      </p:sp>
      <p:sp>
        <p:nvSpPr>
          <p:cNvPr id="11" name="Shape 9"/>
          <p:cNvSpPr/>
          <p:nvPr/>
        </p:nvSpPr>
        <p:spPr>
          <a:xfrm>
            <a:off x="6236208" y="1325880"/>
            <a:ext cx="2569464" cy="2514600"/>
          </a:xfrm>
          <a:prstGeom prst="roundRect">
            <a:avLst>
              <a:gd name="adj" fmla="val 2909"/>
            </a:avLst>
          </a:prstGeom>
          <a:solidFill>
            <a:schemeClr val="bg2"/>
          </a:solidFill>
          <a:ln w="12700">
            <a:solidFill>
              <a:schemeClr val="bg2"/>
            </a:solidFill>
            <a:prstDash val="solid"/>
          </a:ln>
        </p:spPr>
      </p:sp>
      <p:sp>
        <p:nvSpPr>
          <p:cNvPr id="12" name="Text 10"/>
          <p:cNvSpPr txBox="1"/>
          <p:nvPr/>
        </p:nvSpPr>
        <p:spPr>
          <a:xfrm>
            <a:off x="6464808" y="1508760"/>
            <a:ext cx="2112264" cy="8686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44.86 %</a:t>
            </a:r>
            <a:endParaRPr lang="en-US" sz="4000" dirty="0"/>
          </a:p>
        </p:txBody>
      </p:sp>
      <p:sp>
        <p:nvSpPr>
          <p:cNvPr id="13" name="Text 11"/>
          <p:cNvSpPr txBox="1"/>
          <p:nvPr/>
        </p:nvSpPr>
        <p:spPr>
          <a:xfrm>
            <a:off x="6464808" y="2423160"/>
            <a:ext cx="2112264" cy="868680"/>
          </a:xfrm>
          <a:prstGeom prst="rect">
            <a:avLst/>
          </a:prstGeom>
          <a:noFill/>
          <a:ln/>
        </p:spPr>
        <p:txBody>
          <a:bodyPr wrap="square" lIns="0" tIns="0" rIns="0" bIns="0" rtlCol="0" anchor="t"/>
          <a:lstStyle/>
          <a:p>
            <a:pPr indent="0" marL="0">
              <a:buNone/>
            </a:pPr>
            <a:r>
              <a:rPr lang="en-US" sz="1500" dirty="0">
                <a:solidFill>
                  <a:schemeClr val="tx1"/>
                </a:solidFill>
              </a:rPr>
              <a:t>speak Nepali as mother tongue — over half do not</a:t>
            </a:r>
            <a:endParaRPr lang="en-US" sz="1500" dirty="0"/>
          </a:p>
        </p:txBody>
      </p:sp>
      <p:sp>
        <p:nvSpPr>
          <p:cNvPr id="14" name="Text 12"/>
          <p:cNvSpPr txBox="1"/>
          <p:nvPr/>
        </p:nvSpPr>
        <p:spPr>
          <a:xfrm>
            <a:off x="6464808" y="3383280"/>
            <a:ext cx="2112264" cy="274320"/>
          </a:xfrm>
          <a:prstGeom prst="rect">
            <a:avLst/>
          </a:prstGeom>
          <a:noFill/>
          <a:ln/>
        </p:spPr>
        <p:txBody>
          <a:bodyPr wrap="square" lIns="0" tIns="0" rIns="0" bIns="0" rtlCol="0" anchor="t"/>
          <a:lstStyle/>
          <a:p>
            <a:pPr indent="0" marL="0">
              <a:buNone/>
            </a:pPr>
            <a:r>
              <a:rPr lang="en-US" sz="1100" dirty="0">
                <a:solidFill>
                  <a:schemeClr val="accent6"/>
                </a:solidFill>
              </a:rPr>
              <a:t>[F] NSO census 2021</a:t>
            </a:r>
            <a:endParaRPr lang="en-US" sz="1100" dirty="0"/>
          </a:p>
        </p:txBody>
      </p:sp>
      <p:sp>
        <p:nvSpPr>
          <p:cNvPr id="15" name="Shape 13"/>
          <p:cNvSpPr/>
          <p:nvPr/>
        </p:nvSpPr>
        <p:spPr>
          <a:xfrm>
            <a:off x="9079992" y="1325880"/>
            <a:ext cx="2569464" cy="2514600"/>
          </a:xfrm>
          <a:prstGeom prst="roundRect">
            <a:avLst>
              <a:gd name="adj" fmla="val 2909"/>
            </a:avLst>
          </a:prstGeom>
          <a:solidFill>
            <a:schemeClr val="bg2"/>
          </a:solidFill>
          <a:ln w="12700">
            <a:solidFill>
              <a:schemeClr val="bg2"/>
            </a:solidFill>
            <a:prstDash val="solid"/>
          </a:ln>
        </p:spPr>
      </p:sp>
      <p:sp>
        <p:nvSpPr>
          <p:cNvPr id="16" name="Text 14"/>
          <p:cNvSpPr txBox="1"/>
          <p:nvPr/>
        </p:nvSpPr>
        <p:spPr>
          <a:xfrm>
            <a:off x="9308592" y="1508760"/>
            <a:ext cx="2112264" cy="8686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Jun–Sep</a:t>
            </a:r>
            <a:endParaRPr lang="en-US" sz="4000" dirty="0"/>
          </a:p>
        </p:txBody>
      </p:sp>
      <p:sp>
        <p:nvSpPr>
          <p:cNvPr id="17" name="Text 15"/>
          <p:cNvSpPr txBox="1"/>
          <p:nvPr/>
        </p:nvSpPr>
        <p:spPr>
          <a:xfrm>
            <a:off x="9308592" y="2423160"/>
            <a:ext cx="2112264" cy="868680"/>
          </a:xfrm>
          <a:prstGeom prst="rect">
            <a:avLst/>
          </a:prstGeom>
          <a:noFill/>
          <a:ln/>
        </p:spPr>
        <p:txBody>
          <a:bodyPr wrap="square" lIns="0" tIns="0" rIns="0" bIns="0" rtlCol="0" anchor="t"/>
          <a:lstStyle/>
          <a:p>
            <a:pPr indent="0" marL="0">
              <a:buNone/>
            </a:pPr>
            <a:r>
              <a:rPr lang="en-US" sz="1500" dirty="0">
                <a:solidFill>
                  <a:schemeClr val="tx1"/>
                </a:solidFill>
              </a:rPr>
              <a:t>monsoon brings most annual rainfall and most floods</a:t>
            </a:r>
            <a:endParaRPr lang="en-US" sz="1500" dirty="0"/>
          </a:p>
        </p:txBody>
      </p:sp>
      <p:sp>
        <p:nvSpPr>
          <p:cNvPr id="18" name="Text 16"/>
          <p:cNvSpPr txBox="1"/>
          <p:nvPr/>
        </p:nvSpPr>
        <p:spPr>
          <a:xfrm>
            <a:off x="9308592" y="3383280"/>
            <a:ext cx="2112264" cy="274320"/>
          </a:xfrm>
          <a:prstGeom prst="rect">
            <a:avLst/>
          </a:prstGeom>
          <a:noFill/>
          <a:ln/>
        </p:spPr>
        <p:txBody>
          <a:bodyPr wrap="square" lIns="0" tIns="0" rIns="0" bIns="0" rtlCol="0" anchor="t"/>
          <a:lstStyle/>
          <a:p>
            <a:pPr indent="0" marL="0">
              <a:buNone/>
            </a:pPr>
            <a:r>
              <a:rPr lang="en-US" sz="1100" dirty="0">
                <a:solidFill>
                  <a:schemeClr val="accent6"/>
                </a:solidFill>
              </a:rPr>
              <a:t>[F] DHM climate data</a:t>
            </a:r>
            <a:endParaRPr lang="en-US" sz="1100" dirty="0"/>
          </a:p>
        </p:txBody>
      </p:sp>
      <p:sp>
        <p:nvSpPr>
          <p:cNvPr id="19" name="Text 17"/>
          <p:cNvSpPr txBox="1"/>
          <p:nvPr/>
        </p:nvSpPr>
        <p:spPr>
          <a:xfrm>
            <a:off x="548640" y="4069080"/>
            <a:ext cx="11064240" cy="548640"/>
          </a:xfrm>
          <a:prstGeom prst="rect">
            <a:avLst/>
          </a:prstGeom>
          <a:noFill/>
          <a:ln/>
        </p:spPr>
        <p:txBody>
          <a:bodyPr wrap="square" lIns="0" tIns="0" rIns="0" bIns="0" rtlCol="0" anchor="t"/>
          <a:lstStyle/>
          <a:p>
            <a:pPr indent="0" marL="0">
              <a:buNone/>
            </a:pPr>
            <a:r>
              <a:rPr lang="en-US" sz="1500" i="1" dirty="0">
                <a:solidFill>
                  <a:schemeClr val="tx2"/>
                </a:solidFill>
              </a:rPr>
              <a:t>Late-September 2024: monsoon floods and landslides killed at least 148 people (reported 29 Sept) and blocked highways out of Kathmandu [F, AP/NPR; final toll per NDRRMA higher].</a:t>
            </a:r>
            <a:endParaRPr lang="en-US" sz="1500" dirty="0"/>
          </a:p>
        </p:txBody>
      </p:sp>
      <p:sp>
        <p:nvSpPr>
          <p:cNvPr id="20" name="Text 18"/>
          <p:cNvSpPr txBox="1"/>
          <p:nvPr/>
        </p:nvSpPr>
        <p:spPr>
          <a:xfrm>
            <a:off x="548640" y="4754880"/>
            <a:ext cx="5486400" cy="320040"/>
          </a:xfrm>
          <a:prstGeom prst="rect">
            <a:avLst/>
          </a:prstGeom>
          <a:noFill/>
          <a:ln/>
        </p:spPr>
        <p:txBody>
          <a:bodyPr wrap="square" lIns="0" tIns="0" rIns="0" bIns="0" rtlCol="0" anchor="t"/>
          <a:lstStyle/>
          <a:p>
            <a:pPr indent="0" marL="0">
              <a:buNone/>
            </a:pPr>
            <a:r>
              <a:rPr lang="en-US" sz="1600" b="1" dirty="0">
                <a:solidFill>
                  <a:schemeClr val="tx2"/>
                </a:solidFill>
              </a:rPr>
              <a:t>What the pilot tests [D]</a:t>
            </a:r>
            <a:endParaRPr lang="en-US" sz="1600" dirty="0"/>
          </a:p>
        </p:txBody>
      </p:sp>
      <p:sp>
        <p:nvSpPr>
          <p:cNvPr id="21" name="Shape 19"/>
          <p:cNvSpPr/>
          <p:nvPr/>
        </p:nvSpPr>
        <p:spPr>
          <a:xfrm>
            <a:off x="548640" y="5212080"/>
            <a:ext cx="457200" cy="457200"/>
          </a:xfrm>
          <a:prstGeom prst="ellipse">
            <a:avLst/>
          </a:prstGeom>
          <a:solidFill>
            <a:schemeClr val="accent1"/>
          </a:solidFill>
          <a:ln w="12700">
            <a:solidFill>
              <a:schemeClr val="accent1"/>
            </a:solidFill>
            <a:prstDash val="solid"/>
          </a:ln>
        </p:spPr>
      </p:sp>
      <p:pic>
        <p:nvPicPr>
          <p:cNvPr id="22" name="Image 0" descr="preencoded.png">    </p:cNvPr>
          <p:cNvPicPr>
            <a:picLocks noChangeAspect="1"/>
          </p:cNvPicPr>
          <p:nvPr/>
        </p:nvPicPr>
        <p:blipFill>
          <a:blip r:embed="rId1"/>
          <a:stretch>
            <a:fillRect/>
          </a:stretch>
        </p:blipFill>
        <p:spPr>
          <a:xfrm>
            <a:off x="658368" y="5321808"/>
            <a:ext cx="237744" cy="237744"/>
          </a:xfrm>
          <a:prstGeom prst="rect">
            <a:avLst/>
          </a:prstGeom>
        </p:spPr>
      </p:pic>
      <p:sp>
        <p:nvSpPr>
          <p:cNvPr id="23" name="Text 20"/>
          <p:cNvSpPr txBox="1"/>
          <p:nvPr/>
        </p:nvSpPr>
        <p:spPr>
          <a:xfrm>
            <a:off x="1097280" y="5230368"/>
            <a:ext cx="1645920" cy="457200"/>
          </a:xfrm>
          <a:prstGeom prst="rect">
            <a:avLst/>
          </a:prstGeom>
          <a:noFill/>
          <a:ln/>
        </p:spPr>
        <p:txBody>
          <a:bodyPr wrap="square" lIns="0" tIns="0" rIns="0" bIns="0" rtlCol="0" anchor="t"/>
          <a:lstStyle/>
          <a:p>
            <a:pPr indent="0" marL="0">
              <a:buNone/>
            </a:pPr>
            <a:r>
              <a:rPr lang="en-US" sz="1400" dirty="0">
                <a:solidFill>
                  <a:schemeClr val="tx1"/>
                </a:solidFill>
              </a:rPr>
              <a:t>SMS-first for WARNING+</a:t>
            </a:r>
            <a:endParaRPr lang="en-US" sz="1400" dirty="0"/>
          </a:p>
        </p:txBody>
      </p:sp>
      <p:sp>
        <p:nvSpPr>
          <p:cNvPr id="24" name="Shape 21"/>
          <p:cNvSpPr/>
          <p:nvPr/>
        </p:nvSpPr>
        <p:spPr>
          <a:xfrm>
            <a:off x="2788920" y="5212080"/>
            <a:ext cx="457200" cy="457200"/>
          </a:xfrm>
          <a:prstGeom prst="ellipse">
            <a:avLst/>
          </a:prstGeom>
          <a:solidFill>
            <a:schemeClr val="accent1"/>
          </a:solidFill>
          <a:ln w="12700">
            <a:solidFill>
              <a:schemeClr val="accent1"/>
            </a:solidFill>
            <a:prstDash val="solid"/>
          </a:ln>
        </p:spPr>
      </p:sp>
      <p:pic>
        <p:nvPicPr>
          <p:cNvPr id="25" name="Image 1" descr="preencoded.png">    </p:cNvPr>
          <p:cNvPicPr>
            <a:picLocks noChangeAspect="1"/>
          </p:cNvPicPr>
          <p:nvPr/>
        </p:nvPicPr>
        <p:blipFill>
          <a:blip r:embed="rId2"/>
          <a:stretch>
            <a:fillRect/>
          </a:stretch>
        </p:blipFill>
        <p:spPr>
          <a:xfrm>
            <a:off x="2898648" y="5321808"/>
            <a:ext cx="237744" cy="237744"/>
          </a:xfrm>
          <a:prstGeom prst="rect">
            <a:avLst/>
          </a:prstGeom>
        </p:spPr>
      </p:pic>
      <p:sp>
        <p:nvSpPr>
          <p:cNvPr id="26" name="Text 22"/>
          <p:cNvSpPr txBox="1"/>
          <p:nvPr/>
        </p:nvSpPr>
        <p:spPr>
          <a:xfrm>
            <a:off x="3337560" y="5230368"/>
            <a:ext cx="1645920" cy="457200"/>
          </a:xfrm>
          <a:prstGeom prst="rect">
            <a:avLst/>
          </a:prstGeom>
          <a:noFill/>
          <a:ln/>
        </p:spPr>
        <p:txBody>
          <a:bodyPr wrap="square" lIns="0" tIns="0" rIns="0" bIns="0" rtlCol="0" anchor="t"/>
          <a:lstStyle/>
          <a:p>
            <a:pPr indent="0" marL="0">
              <a:buNone/>
            </a:pPr>
            <a:r>
              <a:rPr lang="en-US" sz="1400" dirty="0">
                <a:solidFill>
                  <a:schemeClr val="tx1"/>
                </a:solidFill>
              </a:rPr>
              <a:t>Nepali + English + icons</a:t>
            </a:r>
            <a:endParaRPr lang="en-US" sz="1400" dirty="0"/>
          </a:p>
        </p:txBody>
      </p:sp>
      <p:sp>
        <p:nvSpPr>
          <p:cNvPr id="27" name="Shape 23"/>
          <p:cNvSpPr/>
          <p:nvPr/>
        </p:nvSpPr>
        <p:spPr>
          <a:xfrm>
            <a:off x="5029200" y="5212080"/>
            <a:ext cx="457200" cy="457200"/>
          </a:xfrm>
          <a:prstGeom prst="ellipse">
            <a:avLst/>
          </a:prstGeom>
          <a:solidFill>
            <a:schemeClr val="accent1"/>
          </a:solidFill>
          <a:ln w="12700">
            <a:solidFill>
              <a:schemeClr val="accent1"/>
            </a:solidFill>
            <a:prstDash val="solid"/>
          </a:ln>
        </p:spPr>
      </p:sp>
      <p:pic>
        <p:nvPicPr>
          <p:cNvPr id="28" name="Image 2" descr="preencoded.png">    </p:cNvPr>
          <p:cNvPicPr>
            <a:picLocks noChangeAspect="1"/>
          </p:cNvPicPr>
          <p:nvPr/>
        </p:nvPicPr>
        <p:blipFill>
          <a:blip r:embed="rId3"/>
          <a:stretch>
            <a:fillRect/>
          </a:stretch>
        </p:blipFill>
        <p:spPr>
          <a:xfrm>
            <a:off x="5138928" y="5321808"/>
            <a:ext cx="237744" cy="237744"/>
          </a:xfrm>
          <a:prstGeom prst="rect">
            <a:avLst/>
          </a:prstGeom>
        </p:spPr>
      </p:pic>
      <p:sp>
        <p:nvSpPr>
          <p:cNvPr id="29" name="Text 24"/>
          <p:cNvSpPr txBox="1"/>
          <p:nvPr/>
        </p:nvSpPr>
        <p:spPr>
          <a:xfrm>
            <a:off x="5577840" y="5230368"/>
            <a:ext cx="1645920" cy="457200"/>
          </a:xfrm>
          <a:prstGeom prst="rect">
            <a:avLst/>
          </a:prstGeom>
          <a:noFill/>
          <a:ln/>
        </p:spPr>
        <p:txBody>
          <a:bodyPr wrap="square" lIns="0" tIns="0" rIns="0" bIns="0" rtlCol="0" anchor="t"/>
          <a:lstStyle/>
          <a:p>
            <a:pPr indent="0" marL="0">
              <a:buNone/>
            </a:pPr>
            <a:r>
              <a:rPr lang="en-US" sz="1400" dirty="0">
                <a:solidFill>
                  <a:schemeClr val="tx1"/>
                </a:solidFill>
              </a:rPr>
              <a:t>Ward-level targeting</a:t>
            </a:r>
            <a:endParaRPr lang="en-US" sz="1400" dirty="0"/>
          </a:p>
        </p:txBody>
      </p:sp>
      <p:sp>
        <p:nvSpPr>
          <p:cNvPr id="30" name="Shape 25"/>
          <p:cNvSpPr/>
          <p:nvPr/>
        </p:nvSpPr>
        <p:spPr>
          <a:xfrm>
            <a:off x="7269480" y="5212080"/>
            <a:ext cx="457200" cy="457200"/>
          </a:xfrm>
          <a:prstGeom prst="ellipse">
            <a:avLst/>
          </a:prstGeom>
          <a:solidFill>
            <a:schemeClr val="accent1"/>
          </a:solidFill>
          <a:ln w="12700">
            <a:solidFill>
              <a:schemeClr val="accent1"/>
            </a:solidFill>
            <a:prstDash val="solid"/>
          </a:ln>
        </p:spPr>
      </p:sp>
      <p:pic>
        <p:nvPicPr>
          <p:cNvPr id="31" name="Image 3" descr="preencoded.png">    </p:cNvPr>
          <p:cNvPicPr>
            <a:picLocks noChangeAspect="1"/>
          </p:cNvPicPr>
          <p:nvPr/>
        </p:nvPicPr>
        <p:blipFill>
          <a:blip r:embed="rId4"/>
          <a:stretch>
            <a:fillRect/>
          </a:stretch>
        </p:blipFill>
        <p:spPr>
          <a:xfrm>
            <a:off x="7379208" y="5321808"/>
            <a:ext cx="237744" cy="237744"/>
          </a:xfrm>
          <a:prstGeom prst="rect">
            <a:avLst/>
          </a:prstGeom>
        </p:spPr>
      </p:pic>
      <p:sp>
        <p:nvSpPr>
          <p:cNvPr id="32" name="Text 26"/>
          <p:cNvSpPr txBox="1"/>
          <p:nvPr/>
        </p:nvSpPr>
        <p:spPr>
          <a:xfrm>
            <a:off x="7818120" y="5230368"/>
            <a:ext cx="1645920" cy="457200"/>
          </a:xfrm>
          <a:prstGeom prst="rect">
            <a:avLst/>
          </a:prstGeom>
          <a:noFill/>
          <a:ln/>
        </p:spPr>
        <p:txBody>
          <a:bodyPr wrap="square" lIns="0" tIns="0" rIns="0" bIns="0" rtlCol="0" anchor="t"/>
          <a:lstStyle/>
          <a:p>
            <a:pPr indent="0" marL="0">
              <a:buNone/>
            </a:pPr>
            <a:r>
              <a:rPr lang="en-US" sz="1400" dirty="0">
                <a:solidFill>
                  <a:schemeClr val="tx1"/>
                </a:solidFill>
              </a:rPr>
              <a:t>Offline-capable app</a:t>
            </a:r>
            <a:endParaRPr lang="en-US" sz="1400" dirty="0"/>
          </a:p>
        </p:txBody>
      </p:sp>
      <p:sp>
        <p:nvSpPr>
          <p:cNvPr id="33" name="Shape 27"/>
          <p:cNvSpPr/>
          <p:nvPr/>
        </p:nvSpPr>
        <p:spPr>
          <a:xfrm>
            <a:off x="9509760" y="5212080"/>
            <a:ext cx="457200" cy="457200"/>
          </a:xfrm>
          <a:prstGeom prst="ellipse">
            <a:avLst/>
          </a:prstGeom>
          <a:solidFill>
            <a:schemeClr val="accent1"/>
          </a:solidFill>
          <a:ln w="12700">
            <a:solidFill>
              <a:schemeClr val="accent1"/>
            </a:solidFill>
            <a:prstDash val="solid"/>
          </a:ln>
        </p:spPr>
      </p:sp>
      <p:pic>
        <p:nvPicPr>
          <p:cNvPr id="34" name="Image 4" descr="preencoded.png">    </p:cNvPr>
          <p:cNvPicPr>
            <a:picLocks noChangeAspect="1"/>
          </p:cNvPicPr>
          <p:nvPr/>
        </p:nvPicPr>
        <p:blipFill>
          <a:blip r:embed="rId5"/>
          <a:stretch>
            <a:fillRect/>
          </a:stretch>
        </p:blipFill>
        <p:spPr>
          <a:xfrm>
            <a:off x="9619488" y="5321808"/>
            <a:ext cx="237744" cy="237744"/>
          </a:xfrm>
          <a:prstGeom prst="rect">
            <a:avLst/>
          </a:prstGeom>
        </p:spPr>
      </p:pic>
      <p:sp>
        <p:nvSpPr>
          <p:cNvPr id="35" name="Text 28"/>
          <p:cNvSpPr txBox="1"/>
          <p:nvPr/>
        </p:nvSpPr>
        <p:spPr>
          <a:xfrm>
            <a:off x="10058400" y="5230368"/>
            <a:ext cx="1645920" cy="457200"/>
          </a:xfrm>
          <a:prstGeom prst="rect">
            <a:avLst/>
          </a:prstGeom>
          <a:noFill/>
          <a:ln/>
        </p:spPr>
        <p:txBody>
          <a:bodyPr wrap="square" lIns="0" tIns="0" rIns="0" bIns="0" rtlCol="0" anchor="t"/>
          <a:lstStyle/>
          <a:p>
            <a:pPr indent="0" marL="0">
              <a:buNone/>
            </a:pPr>
            <a:r>
              <a:rPr lang="en-US" sz="1400" dirty="0">
                <a:solidFill>
                  <a:schemeClr val="tx1"/>
                </a:solidFill>
              </a:rPr>
              <a:t>Volunteers &amp; sirens in loop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Problem statement and core research question</a:t>
            </a:r>
            <a:endParaRPr lang="en-US" sz="3200" dirty="0"/>
          </a:p>
        </p:txBody>
      </p:sp>
      <p:sp>
        <p:nvSpPr>
          <p:cNvPr id="3" name="Text 1"/>
          <p:cNvSpPr txBox="1"/>
          <p:nvPr/>
        </p:nvSpPr>
        <p:spPr>
          <a:xfrm>
            <a:off x="548640" y="1280160"/>
            <a:ext cx="5394960" cy="365760"/>
          </a:xfrm>
          <a:prstGeom prst="rect">
            <a:avLst/>
          </a:prstGeom>
          <a:noFill/>
          <a:ln/>
        </p:spPr>
        <p:txBody>
          <a:bodyPr wrap="square" lIns="0" tIns="0" rIns="0" bIns="0" rtlCol="0" anchor="t"/>
          <a:lstStyle/>
          <a:p>
            <a:pPr indent="0" marL="0">
              <a:buNone/>
            </a:pPr>
            <a:r>
              <a:rPr lang="en-US" sz="1600" b="1" dirty="0">
                <a:solidFill>
                  <a:schemeClr val="tx2"/>
                </a:solidFill>
              </a:rPr>
              <a:t>People at risk can receive warnings that are…</a:t>
            </a:r>
            <a:endParaRPr lang="en-US" sz="1600" dirty="0"/>
          </a:p>
        </p:txBody>
      </p:sp>
      <p:sp>
        <p:nvSpPr>
          <p:cNvPr id="4" name="Shape 2"/>
          <p:cNvSpPr/>
          <p:nvPr/>
        </p:nvSpPr>
        <p:spPr>
          <a:xfrm>
            <a:off x="548640" y="1783080"/>
            <a:ext cx="548640" cy="548640"/>
          </a:xfrm>
          <a:prstGeom prst="ellipse">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680314" y="1914754"/>
            <a:ext cx="285293" cy="285293"/>
          </a:xfrm>
          <a:prstGeom prst="rect">
            <a:avLst/>
          </a:prstGeom>
        </p:spPr>
      </p:pic>
      <p:sp>
        <p:nvSpPr>
          <p:cNvPr id="6" name="Text 3"/>
          <p:cNvSpPr txBox="1"/>
          <p:nvPr/>
        </p:nvSpPr>
        <p:spPr>
          <a:xfrm>
            <a:off x="1280160" y="1783080"/>
            <a:ext cx="4480560" cy="320040"/>
          </a:xfrm>
          <a:prstGeom prst="rect">
            <a:avLst/>
          </a:prstGeom>
          <a:noFill/>
          <a:ln/>
        </p:spPr>
        <p:txBody>
          <a:bodyPr wrap="square" lIns="0" tIns="0" rIns="0" bIns="0" rtlCol="0" anchor="t"/>
          <a:lstStyle/>
          <a:p>
            <a:pPr indent="0" marL="0">
              <a:buNone/>
            </a:pPr>
            <a:r>
              <a:rPr lang="en-US" sz="1600" b="1" dirty="0">
                <a:solidFill>
                  <a:schemeClr val="tx1"/>
                </a:solidFill>
              </a:rPr>
              <a:t>Late</a:t>
            </a:r>
            <a:endParaRPr lang="en-US" sz="1600" dirty="0"/>
          </a:p>
        </p:txBody>
      </p:sp>
      <p:sp>
        <p:nvSpPr>
          <p:cNvPr id="7" name="Text 4"/>
          <p:cNvSpPr txBox="1"/>
          <p:nvPr/>
        </p:nvSpPr>
        <p:spPr>
          <a:xfrm>
            <a:off x="1280160" y="2103120"/>
            <a:ext cx="4480560" cy="320040"/>
          </a:xfrm>
          <a:prstGeom prst="rect">
            <a:avLst/>
          </a:prstGeom>
          <a:noFill/>
          <a:ln/>
        </p:spPr>
        <p:txBody>
          <a:bodyPr wrap="square" lIns="0" tIns="0" rIns="0" bIns="0" rtlCol="0" anchor="t"/>
          <a:lstStyle/>
          <a:p>
            <a:pPr indent="0" marL="0">
              <a:buNone/>
            </a:pPr>
            <a:r>
              <a:rPr lang="en-US" sz="1400" dirty="0">
                <a:solidFill>
                  <a:schemeClr val="tx1"/>
                </a:solidFill>
              </a:rPr>
              <a:t>Warnings arrive after water is already rising</a:t>
            </a:r>
            <a:endParaRPr lang="en-US" sz="1400" dirty="0"/>
          </a:p>
        </p:txBody>
      </p:sp>
      <p:sp>
        <p:nvSpPr>
          <p:cNvPr id="8" name="Shape 5"/>
          <p:cNvSpPr/>
          <p:nvPr/>
        </p:nvSpPr>
        <p:spPr>
          <a:xfrm>
            <a:off x="548640" y="2697480"/>
            <a:ext cx="548640" cy="548640"/>
          </a:xfrm>
          <a:prstGeom prst="ellipse">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680314" y="2829154"/>
            <a:ext cx="285293" cy="285293"/>
          </a:xfrm>
          <a:prstGeom prst="rect">
            <a:avLst/>
          </a:prstGeom>
        </p:spPr>
      </p:pic>
      <p:sp>
        <p:nvSpPr>
          <p:cNvPr id="10" name="Text 6"/>
          <p:cNvSpPr txBox="1"/>
          <p:nvPr/>
        </p:nvSpPr>
        <p:spPr>
          <a:xfrm>
            <a:off x="1280160" y="2697480"/>
            <a:ext cx="4480560" cy="320040"/>
          </a:xfrm>
          <a:prstGeom prst="rect">
            <a:avLst/>
          </a:prstGeom>
          <a:noFill/>
          <a:ln/>
        </p:spPr>
        <p:txBody>
          <a:bodyPr wrap="square" lIns="0" tIns="0" rIns="0" bIns="0" rtlCol="0" anchor="t"/>
          <a:lstStyle/>
          <a:p>
            <a:pPr indent="0" marL="0">
              <a:buNone/>
            </a:pPr>
            <a:r>
              <a:rPr lang="en-US" sz="1600" b="1" dirty="0">
                <a:solidFill>
                  <a:schemeClr val="tx1"/>
                </a:solidFill>
              </a:rPr>
              <a:t>Too general</a:t>
            </a:r>
            <a:endParaRPr lang="en-US" sz="1600" dirty="0"/>
          </a:p>
        </p:txBody>
      </p:sp>
      <p:sp>
        <p:nvSpPr>
          <p:cNvPr id="11" name="Text 7"/>
          <p:cNvSpPr txBox="1"/>
          <p:nvPr/>
        </p:nvSpPr>
        <p:spPr>
          <a:xfrm>
            <a:off x="1280160" y="3017520"/>
            <a:ext cx="4480560" cy="320040"/>
          </a:xfrm>
          <a:prstGeom prst="rect">
            <a:avLst/>
          </a:prstGeom>
          <a:noFill/>
          <a:ln/>
        </p:spPr>
        <p:txBody>
          <a:bodyPr wrap="square" lIns="0" tIns="0" rIns="0" bIns="0" rtlCol="0" anchor="t"/>
          <a:lstStyle/>
          <a:p>
            <a:pPr indent="0" marL="0">
              <a:buNone/>
            </a:pPr>
            <a:r>
              <a:rPr lang="en-US" sz="1400" dirty="0">
                <a:solidFill>
                  <a:schemeClr val="tx1"/>
                </a:solidFill>
              </a:rPr>
              <a:t>District-wide alerts, not ward-specific</a:t>
            </a:r>
            <a:endParaRPr lang="en-US" sz="1400" dirty="0"/>
          </a:p>
        </p:txBody>
      </p:sp>
      <p:sp>
        <p:nvSpPr>
          <p:cNvPr id="12" name="Shape 8"/>
          <p:cNvSpPr/>
          <p:nvPr/>
        </p:nvSpPr>
        <p:spPr>
          <a:xfrm>
            <a:off x="548640" y="3611880"/>
            <a:ext cx="548640" cy="548640"/>
          </a:xfrm>
          <a:prstGeom prst="ellipse">
            <a:avLst/>
          </a:prstGeom>
          <a:solidFill>
            <a:schemeClr val="accent2"/>
          </a:solidFill>
          <a:ln w="12700">
            <a:solidFill>
              <a:schemeClr val="accent2"/>
            </a:solidFill>
            <a:prstDash val="solid"/>
          </a:ln>
        </p:spPr>
      </p:sp>
      <p:pic>
        <p:nvPicPr>
          <p:cNvPr id="13" name="Image 2" descr="preencoded.png">    </p:cNvPr>
          <p:cNvPicPr>
            <a:picLocks noChangeAspect="1"/>
          </p:cNvPicPr>
          <p:nvPr/>
        </p:nvPicPr>
        <p:blipFill>
          <a:blip r:embed="rId3"/>
          <a:stretch>
            <a:fillRect/>
          </a:stretch>
        </p:blipFill>
        <p:spPr>
          <a:xfrm>
            <a:off x="680314" y="3743554"/>
            <a:ext cx="285293" cy="285293"/>
          </a:xfrm>
          <a:prstGeom prst="rect">
            <a:avLst/>
          </a:prstGeom>
        </p:spPr>
      </p:pic>
      <p:sp>
        <p:nvSpPr>
          <p:cNvPr id="14" name="Text 9"/>
          <p:cNvSpPr txBox="1"/>
          <p:nvPr/>
        </p:nvSpPr>
        <p:spPr>
          <a:xfrm>
            <a:off x="1280160" y="3611880"/>
            <a:ext cx="4480560" cy="320040"/>
          </a:xfrm>
          <a:prstGeom prst="rect">
            <a:avLst/>
          </a:prstGeom>
          <a:noFill/>
          <a:ln/>
        </p:spPr>
        <p:txBody>
          <a:bodyPr wrap="square" lIns="0" tIns="0" rIns="0" bIns="0" rtlCol="0" anchor="t"/>
          <a:lstStyle/>
          <a:p>
            <a:pPr indent="0" marL="0">
              <a:buNone/>
            </a:pPr>
            <a:r>
              <a:rPr lang="en-US" sz="1600" b="1" dirty="0">
                <a:solidFill>
                  <a:schemeClr val="tx1"/>
                </a:solidFill>
              </a:rPr>
              <a:t>Not understood</a:t>
            </a:r>
            <a:endParaRPr lang="en-US" sz="1600" dirty="0"/>
          </a:p>
        </p:txBody>
      </p:sp>
      <p:sp>
        <p:nvSpPr>
          <p:cNvPr id="15" name="Text 10"/>
          <p:cNvSpPr txBox="1"/>
          <p:nvPr/>
        </p:nvSpPr>
        <p:spPr>
          <a:xfrm>
            <a:off x="1280160" y="3931920"/>
            <a:ext cx="4480560" cy="320040"/>
          </a:xfrm>
          <a:prstGeom prst="rect">
            <a:avLst/>
          </a:prstGeom>
          <a:noFill/>
          <a:ln/>
        </p:spPr>
        <p:txBody>
          <a:bodyPr wrap="square" lIns="0" tIns="0" rIns="0" bIns="0" rtlCol="0" anchor="t"/>
          <a:lstStyle/>
          <a:p>
            <a:pPr indent="0" marL="0">
              <a:buNone/>
            </a:pPr>
            <a:r>
              <a:rPr lang="en-US" sz="1400" dirty="0">
                <a:solidFill>
                  <a:schemeClr val="tx1"/>
                </a:solidFill>
              </a:rPr>
              <a:t>Language, literacy, disability, jargon</a:t>
            </a:r>
            <a:endParaRPr lang="en-US" sz="1400" dirty="0"/>
          </a:p>
        </p:txBody>
      </p:sp>
      <p:sp>
        <p:nvSpPr>
          <p:cNvPr id="16" name="Shape 11"/>
          <p:cNvSpPr/>
          <p:nvPr/>
        </p:nvSpPr>
        <p:spPr>
          <a:xfrm>
            <a:off x="548640" y="4526280"/>
            <a:ext cx="548640" cy="548640"/>
          </a:xfrm>
          <a:prstGeom prst="ellipse">
            <a:avLst/>
          </a:prstGeom>
          <a:solidFill>
            <a:schemeClr val="accent2"/>
          </a:solidFill>
          <a:ln w="12700">
            <a:solidFill>
              <a:schemeClr val="accent2"/>
            </a:solidFill>
            <a:prstDash val="solid"/>
          </a:ln>
        </p:spPr>
      </p:sp>
      <p:pic>
        <p:nvPicPr>
          <p:cNvPr id="17" name="Image 3" descr="preencoded.png">    </p:cNvPr>
          <p:cNvPicPr>
            <a:picLocks noChangeAspect="1"/>
          </p:cNvPicPr>
          <p:nvPr/>
        </p:nvPicPr>
        <p:blipFill>
          <a:blip r:embed="rId4"/>
          <a:stretch>
            <a:fillRect/>
          </a:stretch>
        </p:blipFill>
        <p:spPr>
          <a:xfrm>
            <a:off x="680314" y="4657954"/>
            <a:ext cx="285293" cy="285293"/>
          </a:xfrm>
          <a:prstGeom prst="rect">
            <a:avLst/>
          </a:prstGeom>
        </p:spPr>
      </p:pic>
      <p:sp>
        <p:nvSpPr>
          <p:cNvPr id="18" name="Text 12"/>
          <p:cNvSpPr txBox="1"/>
          <p:nvPr/>
        </p:nvSpPr>
        <p:spPr>
          <a:xfrm>
            <a:off x="1280160" y="4526280"/>
            <a:ext cx="4480560" cy="320040"/>
          </a:xfrm>
          <a:prstGeom prst="rect">
            <a:avLst/>
          </a:prstGeom>
          <a:noFill/>
          <a:ln/>
        </p:spPr>
        <p:txBody>
          <a:bodyPr wrap="square" lIns="0" tIns="0" rIns="0" bIns="0" rtlCol="0" anchor="t"/>
          <a:lstStyle/>
          <a:p>
            <a:pPr indent="0" marL="0">
              <a:buNone/>
            </a:pPr>
            <a:r>
              <a:rPr lang="en-US" sz="1600" b="1" dirty="0">
                <a:solidFill>
                  <a:schemeClr val="tx1"/>
                </a:solidFill>
              </a:rPr>
              <a:t>Not received</a:t>
            </a:r>
            <a:endParaRPr lang="en-US" sz="1600" dirty="0"/>
          </a:p>
        </p:txBody>
      </p:sp>
      <p:sp>
        <p:nvSpPr>
          <p:cNvPr id="19" name="Text 13"/>
          <p:cNvSpPr txBox="1"/>
          <p:nvPr/>
        </p:nvSpPr>
        <p:spPr>
          <a:xfrm>
            <a:off x="1280160" y="4846320"/>
            <a:ext cx="4480560" cy="320040"/>
          </a:xfrm>
          <a:prstGeom prst="rect">
            <a:avLst/>
          </a:prstGeom>
          <a:noFill/>
          <a:ln/>
        </p:spPr>
        <p:txBody>
          <a:bodyPr wrap="square" lIns="0" tIns="0" rIns="0" bIns="0" rtlCol="0" anchor="t"/>
          <a:lstStyle/>
          <a:p>
            <a:pPr indent="0" marL="0">
              <a:buNone/>
            </a:pPr>
            <a:r>
              <a:rPr lang="en-US" sz="1400" dirty="0">
                <a:solidFill>
                  <a:schemeClr val="tx1"/>
                </a:solidFill>
              </a:rPr>
              <a:t>Weak networks, no smartphone, no power</a:t>
            </a:r>
            <a:endParaRPr lang="en-US" sz="1400" dirty="0"/>
          </a:p>
        </p:txBody>
      </p:sp>
      <p:sp>
        <p:nvSpPr>
          <p:cNvPr id="20" name="Text 14"/>
          <p:cNvSpPr txBox="1"/>
          <p:nvPr/>
        </p:nvSpPr>
        <p:spPr>
          <a:xfrm>
            <a:off x="548640" y="5486400"/>
            <a:ext cx="5394960" cy="548640"/>
          </a:xfrm>
          <a:prstGeom prst="rect">
            <a:avLst/>
          </a:prstGeom>
          <a:noFill/>
          <a:ln/>
        </p:spPr>
        <p:txBody>
          <a:bodyPr wrap="square" lIns="0" tIns="0" rIns="0" bIns="0" rtlCol="0" anchor="t"/>
          <a:lstStyle/>
          <a:p>
            <a:pPr indent="0" marL="0">
              <a:buNone/>
            </a:pPr>
            <a:r>
              <a:rPr lang="en-US" sz="1400" i="1" dirty="0">
                <a:solidFill>
                  <a:schemeClr val="accent6"/>
                </a:solidFill>
              </a:rPr>
              <a:t>…while authorities decide under time pressure from fragmented data of uneven reliability [A].</a:t>
            </a:r>
            <a:endParaRPr lang="en-US" sz="1400" dirty="0"/>
          </a:p>
        </p:txBody>
      </p:sp>
      <p:sp>
        <p:nvSpPr>
          <p:cNvPr id="21" name="Shape 15"/>
          <p:cNvSpPr/>
          <p:nvPr/>
        </p:nvSpPr>
        <p:spPr>
          <a:xfrm>
            <a:off x="6309360" y="1280160"/>
            <a:ext cx="5303520" cy="4754880"/>
          </a:xfrm>
          <a:prstGeom prst="roundRect">
            <a:avLst>
              <a:gd name="adj" fmla="val 1538"/>
            </a:avLst>
          </a:prstGeom>
          <a:solidFill>
            <a:schemeClr val="tx2"/>
          </a:solidFill>
          <a:ln w="12700">
            <a:solidFill>
              <a:schemeClr val="tx2"/>
            </a:solidFill>
            <a:prstDash val="solid"/>
          </a:ln>
        </p:spPr>
      </p:sp>
      <p:sp>
        <p:nvSpPr>
          <p:cNvPr id="22" name="Text 16"/>
          <p:cNvSpPr txBox="1"/>
          <p:nvPr/>
        </p:nvSpPr>
        <p:spPr>
          <a:xfrm>
            <a:off x="6675120" y="1554480"/>
            <a:ext cx="4572000" cy="274320"/>
          </a:xfrm>
          <a:prstGeom prst="rect">
            <a:avLst/>
          </a:prstGeom>
          <a:noFill/>
          <a:ln/>
        </p:spPr>
        <p:txBody>
          <a:bodyPr wrap="square" lIns="0" tIns="0" rIns="0" bIns="0" rtlCol="0" anchor="t"/>
          <a:lstStyle/>
          <a:p>
            <a:pPr indent="0" marL="0">
              <a:buNone/>
            </a:pPr>
            <a:r>
              <a:rPr lang="en-US" sz="1300" b="1" spc="200" kern="0" dirty="0">
                <a:solidFill>
                  <a:schemeClr val="accent2"/>
                </a:solidFill>
              </a:rPr>
              <a:t>CORE RESEARCH QUESTION</a:t>
            </a:r>
            <a:endParaRPr lang="en-US" sz="1300" dirty="0"/>
          </a:p>
        </p:txBody>
      </p:sp>
      <p:sp>
        <p:nvSpPr>
          <p:cNvPr id="23" name="Text 17"/>
          <p:cNvSpPr txBox="1"/>
          <p:nvPr/>
        </p:nvSpPr>
        <p:spPr>
          <a:xfrm>
            <a:off x="6675120" y="1965960"/>
            <a:ext cx="4572000" cy="2560320"/>
          </a:xfrm>
          <a:prstGeom prst="rect">
            <a:avLst/>
          </a:prstGeom>
          <a:noFill/>
          <a:ln/>
        </p:spPr>
        <p:txBody>
          <a:bodyPr wrap="square" lIns="0" tIns="0" rIns="0" bIns="0" rtlCol="0" anchor="t"/>
          <a:lstStyle/>
          <a:p>
            <a:pPr indent="0" marL="0">
              <a:buNone/>
            </a:pPr>
            <a:r>
              <a:rPr lang="en-US" sz="2000" i="1" dirty="0">
                <a:solidFill>
                  <a:schemeClr val="bg1"/>
                </a:solidFill>
                <a:latin typeface="Cambria" pitchFamily="34" charset="0"/>
                <a:ea typeface="Cambria" pitchFamily="34" charset="-122"/>
                <a:cs typeface="Cambria" pitchFamily="34" charset="-120"/>
              </a:rPr>
              <a:t>How can an adaptive, globally deployable early warning and evacuation support system reduce the human impact of floods by providing timely, reliable, localized and actionable risk information — evaluated first in a Nepal pilot?</a:t>
            </a:r>
            <a:endParaRPr lang="en-US" sz="2000" dirty="0"/>
          </a:p>
        </p:txBody>
      </p:sp>
      <p:sp>
        <p:nvSpPr>
          <p:cNvPr id="24" name="Text 18"/>
          <p:cNvSpPr txBox="1"/>
          <p:nvPr/>
        </p:nvSpPr>
        <p:spPr>
          <a:xfrm>
            <a:off x="6675120" y="4617720"/>
            <a:ext cx="4572000" cy="1188720"/>
          </a:xfrm>
          <a:prstGeom prst="rect">
            <a:avLst/>
          </a:prstGeom>
          <a:noFill/>
          <a:ln/>
        </p:spPr>
        <p:txBody>
          <a:bodyPr wrap="square" lIns="0" tIns="0" rIns="0" bIns="0" rtlCol="0" anchor="t"/>
          <a:lstStyle/>
          <a:p>
            <a:pPr indent="0" marL="0">
              <a:buNone/>
            </a:pPr>
            <a:r>
              <a:rPr lang="en-US" sz="1400" dirty="0">
                <a:solidFill>
                  <a:schemeClr val="bg2"/>
                </a:solidFill>
              </a:rPr>
              <a:t>The RE problem: what must the system do, how well, and under which failures — and how do we show the requirements are complete, consistent, traceable and validated?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Supporting research questions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5349240" cy="914400"/>
        </p:xfrm>
        <a:graphic>
          <a:graphicData uri="http://schemas.openxmlformats.org/drawingml/2006/table">
            <a:tbl>
              <a:tblPr/>
              <a:tblGrid>
                <a:gridCol w="731520"/>
                <a:gridCol w="4617720"/>
              </a:tblGrid>
              <a:tr h="621792">
                <a:tc>
                  <a:txBody>
                    <a:bodyPr/>
                    <a:lstStyle/>
                    <a:p>
                      <a:pPr indent="0" marL="0">
                        <a:buNone/>
                      </a:pPr>
                      <a:r>
                        <a:rPr lang="en-US" sz="1400" b="1" dirty="0">
                          <a:solidFill>
                            <a:schemeClr val="bg1"/>
                          </a:solidFill>
                        </a:rPr>
                        <a:t>RQ</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Theme and question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621792">
                <a:tc>
                  <a:txBody>
                    <a:bodyPr/>
                    <a:lstStyle/>
                    <a:p>
                      <a:pPr indent="0" marL="0">
                        <a:buNone/>
                      </a:pPr>
                      <a:r>
                        <a:rPr lang="en-US" sz="1400" b="1" dirty="0">
                          <a:solidFill>
                            <a:schemeClr val="accent1"/>
                          </a:solidFill>
                        </a:rPr>
                        <a:t>RQ1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Early detection — which data signals give useful lead time?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accent1"/>
                          </a:solidFill>
                        </a:rPr>
                        <a:t>RQ2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Risk assessment — how to keep risk explainable and configurable?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accent1"/>
                          </a:solidFill>
                        </a:rPr>
                        <a:t>RQ3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Warning generation — which rules prevent contradiction and loss?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accent1"/>
                          </a:solidFill>
                        </a:rPr>
                        <a:t>RQ4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Communication — which channels and formats are understood?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accent1"/>
                          </a:solidFill>
                        </a:rPr>
                        <a:t>RQ5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Evacuation — how to never recommend unsafe routes or shelters?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accent1"/>
                          </a:solidFill>
                        </a:rPr>
                        <a:t>RQ6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Accessibility — what serves disabled, elderly, low-literacy users?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accent1"/>
                          </a:solidFill>
                        </a:rPr>
                        <a:t>RQ7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Reliability — what availability is proportionate for a prototype?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263640" y="1280160"/>
          <a:ext cx="5349240" cy="914400"/>
        </p:xfrm>
        <a:graphic>
          <a:graphicData uri="http://schemas.openxmlformats.org/drawingml/2006/table">
            <a:tbl>
              <a:tblPr/>
              <a:tblGrid>
                <a:gridCol w="731520"/>
                <a:gridCol w="4617720"/>
              </a:tblGrid>
              <a:tr h="621792">
                <a:tc>
                  <a:txBody>
                    <a:bodyPr/>
                    <a:lstStyle/>
                    <a:p>
                      <a:pPr indent="0" marL="0">
                        <a:buNone/>
                      </a:pPr>
                      <a:r>
                        <a:rPr lang="en-US" sz="1400" b="1" dirty="0">
                          <a:solidFill>
                            <a:schemeClr val="bg1"/>
                          </a:solidFill>
                        </a:rPr>
                        <a:t>RQ</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Theme and question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621792">
                <a:tc>
                  <a:txBody>
                    <a:bodyPr/>
                    <a:lstStyle/>
                    <a:p>
                      <a:pPr indent="0" marL="0">
                        <a:buNone/>
                      </a:pPr>
                      <a:r>
                        <a:rPr lang="en-US" sz="1400" b="1" dirty="0">
                          <a:solidFill>
                            <a:schemeClr val="accent1"/>
                          </a:solidFill>
                        </a:rPr>
                        <a:t>RQ8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False alarms — how to balance missed warnings against fatigue?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accent1"/>
                          </a:solidFill>
                        </a:rPr>
                        <a:t>RQ9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System failures — which failures, detected and mitigated how?</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accent1"/>
                          </a:solidFill>
                        </a:rPr>
                        <a:t>RQ10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Conflicts — which stakeholder conflicts, resolved by which RE techniques?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accent1"/>
                          </a:solidFill>
                        </a:rPr>
                        <a:t>RQ11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Limited infrastructure — how to degrade gracefully?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accent1"/>
                          </a:solidFill>
                        </a:rPr>
                        <a:t>RQ12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Safety — which requirements are safety-critical, verified how?</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accent1"/>
                          </a:solidFill>
                        </a:rPr>
                        <a:t>RQ13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Privacy &amp; security — alerting with minimal data and no spoofing?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accent1"/>
                          </a:solidFill>
                        </a:rPr>
                        <a:t>RQ14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Validation — how to validate with hard-to-reach stakeholders?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Measurable system objectives</a:t>
            </a:r>
            <a:endParaRPr lang="en-US" sz="3200" dirty="0"/>
          </a:p>
        </p:txBody>
      </p:sp>
      <p:sp>
        <p:nvSpPr>
          <p:cNvPr id="3" name="Shape 1"/>
          <p:cNvSpPr/>
          <p:nvPr/>
        </p:nvSpPr>
        <p:spPr>
          <a:xfrm>
            <a:off x="548640" y="1325880"/>
            <a:ext cx="2569464" cy="2240280"/>
          </a:xfrm>
          <a:prstGeom prst="roundRect">
            <a:avLst>
              <a:gd name="adj" fmla="val 3265"/>
            </a:avLst>
          </a:prstGeom>
          <a:solidFill>
            <a:schemeClr val="bg2"/>
          </a:solidFill>
          <a:ln w="12700">
            <a:solidFill>
              <a:schemeClr val="bg2"/>
            </a:solidFill>
            <a:prstDash val="solid"/>
          </a:ln>
        </p:spPr>
      </p:sp>
      <p:sp>
        <p:nvSpPr>
          <p:cNvPr id="4" name="Shape 2"/>
          <p:cNvSpPr/>
          <p:nvPr/>
        </p:nvSpPr>
        <p:spPr>
          <a:xfrm>
            <a:off x="777240" y="1554480"/>
            <a:ext cx="548640" cy="54864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08914" y="1686154"/>
            <a:ext cx="285293" cy="285293"/>
          </a:xfrm>
          <a:prstGeom prst="rect">
            <a:avLst/>
          </a:prstGeom>
        </p:spPr>
      </p:pic>
      <p:sp>
        <p:nvSpPr>
          <p:cNvPr id="6" name="Text 3"/>
          <p:cNvSpPr txBox="1"/>
          <p:nvPr/>
        </p:nvSpPr>
        <p:spPr>
          <a:xfrm>
            <a:off x="777240" y="2240280"/>
            <a:ext cx="2112264" cy="365760"/>
          </a:xfrm>
          <a:prstGeom prst="rect">
            <a:avLst/>
          </a:prstGeom>
          <a:noFill/>
          <a:ln/>
        </p:spPr>
        <p:txBody>
          <a:bodyPr wrap="square" lIns="0" tIns="0" rIns="0" bIns="0" rtlCol="0" anchor="t"/>
          <a:lstStyle/>
          <a:p>
            <a:pPr indent="0" marL="0">
              <a:buNone/>
            </a:pPr>
            <a:r>
              <a:rPr lang="en-US" sz="1700" b="1" dirty="0">
                <a:solidFill>
                  <a:schemeClr val="tx2"/>
                </a:solidFill>
              </a:rPr>
              <a:t>Early detection</a:t>
            </a:r>
            <a:endParaRPr lang="en-US" sz="1700" dirty="0"/>
          </a:p>
        </p:txBody>
      </p:sp>
      <p:sp>
        <p:nvSpPr>
          <p:cNvPr id="7" name="Text 4"/>
          <p:cNvSpPr txBox="1"/>
          <p:nvPr/>
        </p:nvSpPr>
        <p:spPr>
          <a:xfrm>
            <a:off x="777240" y="2651760"/>
            <a:ext cx="2112264" cy="777240"/>
          </a:xfrm>
          <a:prstGeom prst="rect">
            <a:avLst/>
          </a:prstGeom>
          <a:noFill/>
          <a:ln/>
        </p:spPr>
        <p:txBody>
          <a:bodyPr wrap="square" lIns="0" tIns="0" rIns="0" bIns="0" rtlCol="0" anchor="t"/>
          <a:lstStyle/>
          <a:p>
            <a:pPr indent="0" marL="0">
              <a:buNone/>
            </a:pPr>
            <a:r>
              <a:rPr lang="en-US" sz="1400" dirty="0">
                <a:solidFill>
                  <a:schemeClr val="tx1"/>
                </a:solidFill>
              </a:rPr>
              <a:t>Risk updated ≤ 60 s after new data [T]</a:t>
            </a:r>
            <a:endParaRPr lang="en-US" sz="1400" dirty="0"/>
          </a:p>
        </p:txBody>
      </p:sp>
      <p:sp>
        <p:nvSpPr>
          <p:cNvPr id="8" name="Shape 5"/>
          <p:cNvSpPr/>
          <p:nvPr/>
        </p:nvSpPr>
        <p:spPr>
          <a:xfrm>
            <a:off x="3392424" y="1325880"/>
            <a:ext cx="2569464" cy="2240280"/>
          </a:xfrm>
          <a:prstGeom prst="roundRect">
            <a:avLst>
              <a:gd name="adj" fmla="val 3265"/>
            </a:avLst>
          </a:prstGeom>
          <a:solidFill>
            <a:schemeClr val="bg2"/>
          </a:solidFill>
          <a:ln w="12700">
            <a:solidFill>
              <a:schemeClr val="bg2"/>
            </a:solidFill>
            <a:prstDash val="solid"/>
          </a:ln>
        </p:spPr>
      </p:sp>
      <p:sp>
        <p:nvSpPr>
          <p:cNvPr id="9" name="Shape 6"/>
          <p:cNvSpPr/>
          <p:nvPr/>
        </p:nvSpPr>
        <p:spPr>
          <a:xfrm>
            <a:off x="3621024" y="1554480"/>
            <a:ext cx="548640" cy="54864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752698" y="1686154"/>
            <a:ext cx="285293" cy="285293"/>
          </a:xfrm>
          <a:prstGeom prst="rect">
            <a:avLst/>
          </a:prstGeom>
        </p:spPr>
      </p:pic>
      <p:sp>
        <p:nvSpPr>
          <p:cNvPr id="11" name="Text 7"/>
          <p:cNvSpPr txBox="1"/>
          <p:nvPr/>
        </p:nvSpPr>
        <p:spPr>
          <a:xfrm>
            <a:off x="3621024" y="2240280"/>
            <a:ext cx="2112264" cy="365760"/>
          </a:xfrm>
          <a:prstGeom prst="rect">
            <a:avLst/>
          </a:prstGeom>
          <a:noFill/>
          <a:ln/>
        </p:spPr>
        <p:txBody>
          <a:bodyPr wrap="square" lIns="0" tIns="0" rIns="0" bIns="0" rtlCol="0" anchor="t"/>
          <a:lstStyle/>
          <a:p>
            <a:pPr indent="0" marL="0">
              <a:buNone/>
            </a:pPr>
            <a:r>
              <a:rPr lang="en-US" sz="1700" b="1" dirty="0">
                <a:solidFill>
                  <a:schemeClr val="tx2"/>
                </a:solidFill>
              </a:rPr>
              <a:t>Four clear levels</a:t>
            </a:r>
            <a:endParaRPr lang="en-US" sz="1700" dirty="0"/>
          </a:p>
        </p:txBody>
      </p:sp>
      <p:sp>
        <p:nvSpPr>
          <p:cNvPr id="12" name="Text 8"/>
          <p:cNvSpPr txBox="1"/>
          <p:nvPr/>
        </p:nvSpPr>
        <p:spPr>
          <a:xfrm>
            <a:off x="3621024" y="2651760"/>
            <a:ext cx="2112264" cy="777240"/>
          </a:xfrm>
          <a:prstGeom prst="rect">
            <a:avLst/>
          </a:prstGeom>
          <a:noFill/>
          <a:ln/>
        </p:spPr>
        <p:txBody>
          <a:bodyPr wrap="square" lIns="0" tIns="0" rIns="0" bIns="0" rtlCol="0" anchor="t"/>
          <a:lstStyle/>
          <a:p>
            <a:pPr indent="0" marL="0">
              <a:buNone/>
            </a:pPr>
            <a:r>
              <a:rPr lang="en-US" sz="1400" dirty="0">
                <a:solidFill>
                  <a:schemeClr val="tx1"/>
                </a:solidFill>
              </a:rPr>
              <a:t>100 % match with scenario oracles</a:t>
            </a:r>
            <a:endParaRPr lang="en-US" sz="1400" dirty="0"/>
          </a:p>
        </p:txBody>
      </p:sp>
      <p:sp>
        <p:nvSpPr>
          <p:cNvPr id="13" name="Shape 9"/>
          <p:cNvSpPr/>
          <p:nvPr/>
        </p:nvSpPr>
        <p:spPr>
          <a:xfrm>
            <a:off x="6236208" y="1325880"/>
            <a:ext cx="2569464" cy="2240280"/>
          </a:xfrm>
          <a:prstGeom prst="roundRect">
            <a:avLst>
              <a:gd name="adj" fmla="val 3265"/>
            </a:avLst>
          </a:prstGeom>
          <a:solidFill>
            <a:schemeClr val="bg2"/>
          </a:solidFill>
          <a:ln w="12700">
            <a:solidFill>
              <a:schemeClr val="bg2"/>
            </a:solidFill>
            <a:prstDash val="solid"/>
          </a:ln>
        </p:spPr>
      </p:sp>
      <p:sp>
        <p:nvSpPr>
          <p:cNvPr id="14" name="Shape 10"/>
          <p:cNvSpPr/>
          <p:nvPr/>
        </p:nvSpPr>
        <p:spPr>
          <a:xfrm>
            <a:off x="6464808" y="1554480"/>
            <a:ext cx="548640" cy="54864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6596482" y="1686154"/>
            <a:ext cx="285293" cy="285293"/>
          </a:xfrm>
          <a:prstGeom prst="rect">
            <a:avLst/>
          </a:prstGeom>
        </p:spPr>
      </p:pic>
      <p:sp>
        <p:nvSpPr>
          <p:cNvPr id="16" name="Text 11"/>
          <p:cNvSpPr txBox="1"/>
          <p:nvPr/>
        </p:nvSpPr>
        <p:spPr>
          <a:xfrm>
            <a:off x="6464808" y="2240280"/>
            <a:ext cx="2112264" cy="365760"/>
          </a:xfrm>
          <a:prstGeom prst="rect">
            <a:avLst/>
          </a:prstGeom>
          <a:noFill/>
          <a:ln/>
        </p:spPr>
        <p:txBody>
          <a:bodyPr wrap="square" lIns="0" tIns="0" rIns="0" bIns="0" rtlCol="0" anchor="t"/>
          <a:lstStyle/>
          <a:p>
            <a:pPr indent="0" marL="0">
              <a:buNone/>
            </a:pPr>
            <a:r>
              <a:rPr lang="en-US" sz="1700" b="1" dirty="0">
                <a:solidFill>
                  <a:schemeClr val="tx2"/>
                </a:solidFill>
              </a:rPr>
              <a:t>Localized alerts</a:t>
            </a:r>
            <a:endParaRPr lang="en-US" sz="1700" dirty="0"/>
          </a:p>
        </p:txBody>
      </p:sp>
      <p:sp>
        <p:nvSpPr>
          <p:cNvPr id="17" name="Text 12"/>
          <p:cNvSpPr txBox="1"/>
          <p:nvPr/>
        </p:nvSpPr>
        <p:spPr>
          <a:xfrm>
            <a:off x="6464808" y="2651760"/>
            <a:ext cx="2112264" cy="777240"/>
          </a:xfrm>
          <a:prstGeom prst="rect">
            <a:avLst/>
          </a:prstGeom>
          <a:noFill/>
          <a:ln/>
        </p:spPr>
        <p:txBody>
          <a:bodyPr wrap="square" lIns="0" tIns="0" rIns="0" bIns="0" rtlCol="0" anchor="t"/>
          <a:lstStyle/>
          <a:p>
            <a:pPr indent="0" marL="0">
              <a:buNone/>
            </a:pPr>
            <a:r>
              <a:rPr lang="en-US" sz="1400" dirty="0">
                <a:solidFill>
                  <a:schemeClr val="tx1"/>
                </a:solidFill>
              </a:rPr>
              <a:t>0 alerts delivered outside target area</a:t>
            </a:r>
            <a:endParaRPr lang="en-US" sz="1400" dirty="0"/>
          </a:p>
        </p:txBody>
      </p:sp>
      <p:sp>
        <p:nvSpPr>
          <p:cNvPr id="18" name="Shape 13"/>
          <p:cNvSpPr/>
          <p:nvPr/>
        </p:nvSpPr>
        <p:spPr>
          <a:xfrm>
            <a:off x="9079992" y="1325880"/>
            <a:ext cx="2569464" cy="2240280"/>
          </a:xfrm>
          <a:prstGeom prst="roundRect">
            <a:avLst>
              <a:gd name="adj" fmla="val 3265"/>
            </a:avLst>
          </a:prstGeom>
          <a:solidFill>
            <a:schemeClr val="bg2"/>
          </a:solidFill>
          <a:ln w="12700">
            <a:solidFill>
              <a:schemeClr val="bg2"/>
            </a:solidFill>
            <a:prstDash val="solid"/>
          </a:ln>
        </p:spPr>
      </p:sp>
      <p:sp>
        <p:nvSpPr>
          <p:cNvPr id="19" name="Shape 14"/>
          <p:cNvSpPr/>
          <p:nvPr/>
        </p:nvSpPr>
        <p:spPr>
          <a:xfrm>
            <a:off x="9308592" y="1554480"/>
            <a:ext cx="548640" cy="54864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9440266" y="1686154"/>
            <a:ext cx="285293" cy="285293"/>
          </a:xfrm>
          <a:prstGeom prst="rect">
            <a:avLst/>
          </a:prstGeom>
        </p:spPr>
      </p:pic>
      <p:sp>
        <p:nvSpPr>
          <p:cNvPr id="21" name="Text 15"/>
          <p:cNvSpPr txBox="1"/>
          <p:nvPr/>
        </p:nvSpPr>
        <p:spPr>
          <a:xfrm>
            <a:off x="9308592" y="2240280"/>
            <a:ext cx="2112264" cy="365760"/>
          </a:xfrm>
          <a:prstGeom prst="rect">
            <a:avLst/>
          </a:prstGeom>
          <a:noFill/>
          <a:ln/>
        </p:spPr>
        <p:txBody>
          <a:bodyPr wrap="square" lIns="0" tIns="0" rIns="0" bIns="0" rtlCol="0" anchor="t"/>
          <a:lstStyle/>
          <a:p>
            <a:pPr indent="0" marL="0">
              <a:buNone/>
            </a:pPr>
            <a:r>
              <a:rPr lang="en-US" sz="1700" b="1" dirty="0">
                <a:solidFill>
                  <a:schemeClr val="tx2"/>
                </a:solidFill>
              </a:rPr>
              <a:t>Actionable</a:t>
            </a:r>
            <a:endParaRPr lang="en-US" sz="1700" dirty="0"/>
          </a:p>
        </p:txBody>
      </p:sp>
      <p:sp>
        <p:nvSpPr>
          <p:cNvPr id="22" name="Text 16"/>
          <p:cNvSpPr txBox="1"/>
          <p:nvPr/>
        </p:nvSpPr>
        <p:spPr>
          <a:xfrm>
            <a:off x="9308592" y="2651760"/>
            <a:ext cx="2112264" cy="777240"/>
          </a:xfrm>
          <a:prstGeom prst="rect">
            <a:avLst/>
          </a:prstGeom>
          <a:noFill/>
          <a:ln/>
        </p:spPr>
        <p:txBody>
          <a:bodyPr wrap="square" lIns="0" tIns="0" rIns="0" bIns="0" rtlCol="0" anchor="t"/>
          <a:lstStyle/>
          <a:p>
            <a:pPr indent="0" marL="0">
              <a:buNone/>
            </a:pPr>
            <a:r>
              <a:rPr lang="en-US" sz="1400" dirty="0">
                <a:solidFill>
                  <a:schemeClr val="tx1"/>
                </a:solidFill>
              </a:rPr>
              <a:t>≥ 80 % of test users pick the right action [T]</a:t>
            </a:r>
            <a:endParaRPr lang="en-US" sz="1400" dirty="0"/>
          </a:p>
        </p:txBody>
      </p:sp>
      <p:sp>
        <p:nvSpPr>
          <p:cNvPr id="23" name="Shape 17"/>
          <p:cNvSpPr/>
          <p:nvPr/>
        </p:nvSpPr>
        <p:spPr>
          <a:xfrm>
            <a:off x="548640" y="3840480"/>
            <a:ext cx="2569464" cy="2240280"/>
          </a:xfrm>
          <a:prstGeom prst="roundRect">
            <a:avLst>
              <a:gd name="adj" fmla="val 3265"/>
            </a:avLst>
          </a:prstGeom>
          <a:solidFill>
            <a:schemeClr val="bg2"/>
          </a:solidFill>
          <a:ln w="12700">
            <a:solidFill>
              <a:schemeClr val="bg2"/>
            </a:solidFill>
            <a:prstDash val="solid"/>
          </a:ln>
        </p:spPr>
      </p:sp>
      <p:sp>
        <p:nvSpPr>
          <p:cNvPr id="24" name="Shape 18"/>
          <p:cNvSpPr/>
          <p:nvPr/>
        </p:nvSpPr>
        <p:spPr>
          <a:xfrm>
            <a:off x="777240" y="4069080"/>
            <a:ext cx="548640" cy="548640"/>
          </a:xfrm>
          <a:prstGeom prst="ellipse">
            <a:avLst/>
          </a:prstGeom>
          <a:solidFill>
            <a:schemeClr val="accent1"/>
          </a:solidFill>
          <a:ln w="12700">
            <a:solidFill>
              <a:schemeClr val="accent1"/>
            </a:solidFill>
            <a:prstDash val="solid"/>
          </a:ln>
        </p:spPr>
      </p:sp>
      <p:pic>
        <p:nvPicPr>
          <p:cNvPr id="25" name="Image 4" descr="preencoded.png">    </p:cNvPr>
          <p:cNvPicPr>
            <a:picLocks noChangeAspect="1"/>
          </p:cNvPicPr>
          <p:nvPr/>
        </p:nvPicPr>
        <p:blipFill>
          <a:blip r:embed="rId5"/>
          <a:stretch>
            <a:fillRect/>
          </a:stretch>
        </p:blipFill>
        <p:spPr>
          <a:xfrm>
            <a:off x="908914" y="4200754"/>
            <a:ext cx="285293" cy="285293"/>
          </a:xfrm>
          <a:prstGeom prst="rect">
            <a:avLst/>
          </a:prstGeom>
        </p:spPr>
      </p:pic>
      <p:sp>
        <p:nvSpPr>
          <p:cNvPr id="26" name="Text 19"/>
          <p:cNvSpPr txBox="1"/>
          <p:nvPr/>
        </p:nvSpPr>
        <p:spPr>
          <a:xfrm>
            <a:off x="777240" y="4754880"/>
            <a:ext cx="2112264" cy="365760"/>
          </a:xfrm>
          <a:prstGeom prst="rect">
            <a:avLst/>
          </a:prstGeom>
          <a:noFill/>
          <a:ln/>
        </p:spPr>
        <p:txBody>
          <a:bodyPr wrap="square" lIns="0" tIns="0" rIns="0" bIns="0" rtlCol="0" anchor="t"/>
          <a:lstStyle/>
          <a:p>
            <a:pPr indent="0" marL="0">
              <a:buNone/>
            </a:pPr>
            <a:r>
              <a:rPr lang="en-US" sz="1700" b="1" dirty="0">
                <a:solidFill>
                  <a:schemeClr val="tx2"/>
                </a:solidFill>
              </a:rPr>
              <a:t>Safe routes</a:t>
            </a:r>
            <a:endParaRPr lang="en-US" sz="1700" dirty="0"/>
          </a:p>
        </p:txBody>
      </p:sp>
      <p:sp>
        <p:nvSpPr>
          <p:cNvPr id="27" name="Text 20"/>
          <p:cNvSpPr txBox="1"/>
          <p:nvPr/>
        </p:nvSpPr>
        <p:spPr>
          <a:xfrm>
            <a:off x="777240" y="5166360"/>
            <a:ext cx="2112264" cy="777240"/>
          </a:xfrm>
          <a:prstGeom prst="rect">
            <a:avLst/>
          </a:prstGeom>
          <a:noFill/>
          <a:ln/>
        </p:spPr>
        <p:txBody>
          <a:bodyPr wrap="square" lIns="0" tIns="0" rIns="0" bIns="0" rtlCol="0" anchor="t"/>
          <a:lstStyle/>
          <a:p>
            <a:pPr indent="0" marL="0">
              <a:buNone/>
            </a:pPr>
            <a:r>
              <a:rPr lang="en-US" sz="1400" dirty="0">
                <a:solidFill>
                  <a:schemeClr val="tx1"/>
                </a:solidFill>
              </a:rPr>
              <a:t>0 routes through hazard zones or closures</a:t>
            </a:r>
            <a:endParaRPr lang="en-US" sz="1400" dirty="0"/>
          </a:p>
        </p:txBody>
      </p:sp>
      <p:sp>
        <p:nvSpPr>
          <p:cNvPr id="28" name="Shape 21"/>
          <p:cNvSpPr/>
          <p:nvPr/>
        </p:nvSpPr>
        <p:spPr>
          <a:xfrm>
            <a:off x="3392424" y="3840480"/>
            <a:ext cx="2569464" cy="2240280"/>
          </a:xfrm>
          <a:prstGeom prst="roundRect">
            <a:avLst>
              <a:gd name="adj" fmla="val 3265"/>
            </a:avLst>
          </a:prstGeom>
          <a:solidFill>
            <a:schemeClr val="bg2"/>
          </a:solidFill>
          <a:ln w="12700">
            <a:solidFill>
              <a:schemeClr val="bg2"/>
            </a:solidFill>
            <a:prstDash val="solid"/>
          </a:ln>
        </p:spPr>
      </p:sp>
      <p:sp>
        <p:nvSpPr>
          <p:cNvPr id="29" name="Shape 22"/>
          <p:cNvSpPr/>
          <p:nvPr/>
        </p:nvSpPr>
        <p:spPr>
          <a:xfrm>
            <a:off x="3621024" y="4069080"/>
            <a:ext cx="548640" cy="548640"/>
          </a:xfrm>
          <a:prstGeom prst="ellipse">
            <a:avLst/>
          </a:prstGeom>
          <a:solidFill>
            <a:schemeClr val="accent1"/>
          </a:solidFill>
          <a:ln w="12700">
            <a:solidFill>
              <a:schemeClr val="accent1"/>
            </a:solidFill>
            <a:prstDash val="solid"/>
          </a:ln>
        </p:spPr>
      </p:sp>
      <p:pic>
        <p:nvPicPr>
          <p:cNvPr id="30" name="Image 5" descr="preencoded.png">    </p:cNvPr>
          <p:cNvPicPr>
            <a:picLocks noChangeAspect="1"/>
          </p:cNvPicPr>
          <p:nvPr/>
        </p:nvPicPr>
        <p:blipFill>
          <a:blip r:embed="rId6"/>
          <a:stretch>
            <a:fillRect/>
          </a:stretch>
        </p:blipFill>
        <p:spPr>
          <a:xfrm>
            <a:off x="3752698" y="4200754"/>
            <a:ext cx="285293" cy="285293"/>
          </a:xfrm>
          <a:prstGeom prst="rect">
            <a:avLst/>
          </a:prstGeom>
        </p:spPr>
      </p:pic>
      <p:sp>
        <p:nvSpPr>
          <p:cNvPr id="31" name="Text 23"/>
          <p:cNvSpPr txBox="1"/>
          <p:nvPr/>
        </p:nvSpPr>
        <p:spPr>
          <a:xfrm>
            <a:off x="3621024" y="4754880"/>
            <a:ext cx="2112264" cy="365760"/>
          </a:xfrm>
          <a:prstGeom prst="rect">
            <a:avLst/>
          </a:prstGeom>
          <a:noFill/>
          <a:ln/>
        </p:spPr>
        <p:txBody>
          <a:bodyPr wrap="square" lIns="0" tIns="0" rIns="0" bIns="0" rtlCol="0" anchor="t"/>
          <a:lstStyle/>
          <a:p>
            <a:pPr indent="0" marL="0">
              <a:buNone/>
            </a:pPr>
            <a:r>
              <a:rPr lang="en-US" sz="1700" b="1" dirty="0">
                <a:solidFill>
                  <a:schemeClr val="tx2"/>
                </a:solidFill>
              </a:rPr>
              <a:t>Any language</a:t>
            </a:r>
            <a:endParaRPr lang="en-US" sz="1700" dirty="0"/>
          </a:p>
        </p:txBody>
      </p:sp>
      <p:sp>
        <p:nvSpPr>
          <p:cNvPr id="32" name="Text 24"/>
          <p:cNvSpPr txBox="1"/>
          <p:nvPr/>
        </p:nvSpPr>
        <p:spPr>
          <a:xfrm>
            <a:off x="3621024" y="5166360"/>
            <a:ext cx="2112264" cy="777240"/>
          </a:xfrm>
          <a:prstGeom prst="rect">
            <a:avLst/>
          </a:prstGeom>
          <a:noFill/>
          <a:ln/>
        </p:spPr>
        <p:txBody>
          <a:bodyPr wrap="square" lIns="0" tIns="0" rIns="0" bIns="0" rtlCol="0" anchor="t"/>
          <a:lstStyle/>
          <a:p>
            <a:pPr indent="0" marL="0">
              <a:buNone/>
            </a:pPr>
            <a:r>
              <a:rPr lang="en-US" sz="1400" dirty="0">
                <a:solidFill>
                  <a:schemeClr val="tx1"/>
                </a:solidFill>
              </a:rPr>
              <a:t>100 % of strings in every configured language (pilot: Nepali + English)</a:t>
            </a:r>
            <a:endParaRPr lang="en-US" sz="1400" dirty="0"/>
          </a:p>
        </p:txBody>
      </p:sp>
      <p:sp>
        <p:nvSpPr>
          <p:cNvPr id="33" name="Shape 25"/>
          <p:cNvSpPr/>
          <p:nvPr/>
        </p:nvSpPr>
        <p:spPr>
          <a:xfrm>
            <a:off x="6236208" y="3840480"/>
            <a:ext cx="2569464" cy="2240280"/>
          </a:xfrm>
          <a:prstGeom prst="roundRect">
            <a:avLst>
              <a:gd name="adj" fmla="val 3265"/>
            </a:avLst>
          </a:prstGeom>
          <a:solidFill>
            <a:schemeClr val="bg2"/>
          </a:solidFill>
          <a:ln w="12700">
            <a:solidFill>
              <a:schemeClr val="bg2"/>
            </a:solidFill>
            <a:prstDash val="solid"/>
          </a:ln>
        </p:spPr>
      </p:sp>
      <p:sp>
        <p:nvSpPr>
          <p:cNvPr id="34" name="Shape 26"/>
          <p:cNvSpPr/>
          <p:nvPr/>
        </p:nvSpPr>
        <p:spPr>
          <a:xfrm>
            <a:off x="6464808" y="4069080"/>
            <a:ext cx="548640" cy="548640"/>
          </a:xfrm>
          <a:prstGeom prst="ellipse">
            <a:avLst/>
          </a:prstGeom>
          <a:solidFill>
            <a:schemeClr val="accent1"/>
          </a:solidFill>
          <a:ln w="12700">
            <a:solidFill>
              <a:schemeClr val="accent1"/>
            </a:solidFill>
            <a:prstDash val="solid"/>
          </a:ln>
        </p:spPr>
      </p:sp>
      <p:pic>
        <p:nvPicPr>
          <p:cNvPr id="35" name="Image 6" descr="preencoded.png">    </p:cNvPr>
          <p:cNvPicPr>
            <a:picLocks noChangeAspect="1"/>
          </p:cNvPicPr>
          <p:nvPr/>
        </p:nvPicPr>
        <p:blipFill>
          <a:blip r:embed="rId7"/>
          <a:stretch>
            <a:fillRect/>
          </a:stretch>
        </p:blipFill>
        <p:spPr>
          <a:xfrm>
            <a:off x="6596482" y="4200754"/>
            <a:ext cx="285293" cy="285293"/>
          </a:xfrm>
          <a:prstGeom prst="rect">
            <a:avLst/>
          </a:prstGeom>
        </p:spPr>
      </p:pic>
      <p:sp>
        <p:nvSpPr>
          <p:cNvPr id="36" name="Text 27"/>
          <p:cNvSpPr txBox="1"/>
          <p:nvPr/>
        </p:nvSpPr>
        <p:spPr>
          <a:xfrm>
            <a:off x="6464808" y="4754880"/>
            <a:ext cx="2112264" cy="365760"/>
          </a:xfrm>
          <a:prstGeom prst="rect">
            <a:avLst/>
          </a:prstGeom>
          <a:noFill/>
          <a:ln/>
        </p:spPr>
        <p:txBody>
          <a:bodyPr wrap="square" lIns="0" tIns="0" rIns="0" bIns="0" rtlCol="0" anchor="t"/>
          <a:lstStyle/>
          <a:p>
            <a:pPr indent="0" marL="0">
              <a:buNone/>
            </a:pPr>
            <a:r>
              <a:rPr lang="en-US" sz="1700" b="1" dirty="0">
                <a:solidFill>
                  <a:schemeClr val="tx2"/>
                </a:solidFill>
              </a:rPr>
              <a:t>Works offline</a:t>
            </a:r>
            <a:endParaRPr lang="en-US" sz="1700" dirty="0"/>
          </a:p>
        </p:txBody>
      </p:sp>
      <p:sp>
        <p:nvSpPr>
          <p:cNvPr id="37" name="Text 28"/>
          <p:cNvSpPr txBox="1"/>
          <p:nvPr/>
        </p:nvSpPr>
        <p:spPr>
          <a:xfrm>
            <a:off x="6464808" y="5166360"/>
            <a:ext cx="2112264" cy="777240"/>
          </a:xfrm>
          <a:prstGeom prst="rect">
            <a:avLst/>
          </a:prstGeom>
          <a:noFill/>
          <a:ln/>
        </p:spPr>
        <p:txBody>
          <a:bodyPr wrap="square" lIns="0" tIns="0" rIns="0" bIns="0" rtlCol="0" anchor="t"/>
          <a:lstStyle/>
          <a:p>
            <a:pPr indent="0" marL="0">
              <a:buNone/>
            </a:pPr>
            <a:r>
              <a:rPr lang="en-US" sz="1400" dirty="0">
                <a:solidFill>
                  <a:schemeClr val="tx1"/>
                </a:solidFill>
              </a:rPr>
              <a:t>Last risk, shelters, instructions cached</a:t>
            </a:r>
            <a:endParaRPr lang="en-US" sz="1400" dirty="0"/>
          </a:p>
        </p:txBody>
      </p:sp>
      <p:sp>
        <p:nvSpPr>
          <p:cNvPr id="38" name="Shape 29"/>
          <p:cNvSpPr/>
          <p:nvPr/>
        </p:nvSpPr>
        <p:spPr>
          <a:xfrm>
            <a:off x="9079992" y="3840480"/>
            <a:ext cx="2569464" cy="2240280"/>
          </a:xfrm>
          <a:prstGeom prst="roundRect">
            <a:avLst>
              <a:gd name="adj" fmla="val 3265"/>
            </a:avLst>
          </a:prstGeom>
          <a:solidFill>
            <a:schemeClr val="bg2"/>
          </a:solidFill>
          <a:ln w="12700">
            <a:solidFill>
              <a:schemeClr val="bg2"/>
            </a:solidFill>
            <a:prstDash val="solid"/>
          </a:ln>
        </p:spPr>
      </p:sp>
      <p:sp>
        <p:nvSpPr>
          <p:cNvPr id="39" name="Shape 30"/>
          <p:cNvSpPr/>
          <p:nvPr/>
        </p:nvSpPr>
        <p:spPr>
          <a:xfrm>
            <a:off x="9308592" y="4069080"/>
            <a:ext cx="548640" cy="548640"/>
          </a:xfrm>
          <a:prstGeom prst="ellipse">
            <a:avLst/>
          </a:prstGeom>
          <a:solidFill>
            <a:schemeClr val="accent1"/>
          </a:solidFill>
          <a:ln w="12700">
            <a:solidFill>
              <a:schemeClr val="accent1"/>
            </a:solidFill>
            <a:prstDash val="solid"/>
          </a:ln>
        </p:spPr>
      </p:sp>
      <p:pic>
        <p:nvPicPr>
          <p:cNvPr id="40" name="Image 7" descr="preencoded.png">    </p:cNvPr>
          <p:cNvPicPr>
            <a:picLocks noChangeAspect="1"/>
          </p:cNvPicPr>
          <p:nvPr/>
        </p:nvPicPr>
        <p:blipFill>
          <a:blip r:embed="rId8"/>
          <a:stretch>
            <a:fillRect/>
          </a:stretch>
        </p:blipFill>
        <p:spPr>
          <a:xfrm>
            <a:off x="9440266" y="4200754"/>
            <a:ext cx="285293" cy="285293"/>
          </a:xfrm>
          <a:prstGeom prst="rect">
            <a:avLst/>
          </a:prstGeom>
        </p:spPr>
      </p:pic>
      <p:sp>
        <p:nvSpPr>
          <p:cNvPr id="41" name="Text 31"/>
          <p:cNvSpPr txBox="1"/>
          <p:nvPr/>
        </p:nvSpPr>
        <p:spPr>
          <a:xfrm>
            <a:off x="9308592" y="4754880"/>
            <a:ext cx="2112264" cy="365760"/>
          </a:xfrm>
          <a:prstGeom prst="rect">
            <a:avLst/>
          </a:prstGeom>
          <a:noFill/>
          <a:ln/>
        </p:spPr>
        <p:txBody>
          <a:bodyPr wrap="square" lIns="0" tIns="0" rIns="0" bIns="0" rtlCol="0" anchor="t"/>
          <a:lstStyle/>
          <a:p>
            <a:pPr indent="0" marL="0">
              <a:buNone/>
            </a:pPr>
            <a:r>
              <a:rPr lang="en-US" sz="1700" b="1" dirty="0">
                <a:solidFill>
                  <a:schemeClr val="tx2"/>
                </a:solidFill>
              </a:rPr>
              <a:t>Accountable</a:t>
            </a:r>
            <a:endParaRPr lang="en-US" sz="1700" dirty="0"/>
          </a:p>
        </p:txBody>
      </p:sp>
      <p:sp>
        <p:nvSpPr>
          <p:cNvPr id="42" name="Text 32"/>
          <p:cNvSpPr txBox="1"/>
          <p:nvPr/>
        </p:nvSpPr>
        <p:spPr>
          <a:xfrm>
            <a:off x="9308592" y="5166360"/>
            <a:ext cx="2112264" cy="777240"/>
          </a:xfrm>
          <a:prstGeom prst="rect">
            <a:avLst/>
          </a:prstGeom>
          <a:noFill/>
          <a:ln/>
        </p:spPr>
        <p:txBody>
          <a:bodyPr wrap="square" lIns="0" tIns="0" rIns="0" bIns="0" rtlCol="0" anchor="t"/>
          <a:lstStyle/>
          <a:p>
            <a:pPr indent="0" marL="0">
              <a:buNone/>
            </a:pPr>
            <a:r>
              <a:rPr lang="en-US" sz="1400" dirty="0">
                <a:solidFill>
                  <a:schemeClr val="tx1"/>
                </a:solidFill>
              </a:rPr>
              <a:t>100 % of warning actions in audit log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Semester scope: live data, real hardware pilot</a:t>
            </a:r>
            <a:endParaRPr lang="en-US" sz="3200" dirty="0"/>
          </a:p>
        </p:txBody>
      </p:sp>
      <p:sp>
        <p:nvSpPr>
          <p:cNvPr id="3" name="Shape 1"/>
          <p:cNvSpPr/>
          <p:nvPr/>
        </p:nvSpPr>
        <p:spPr>
          <a:xfrm>
            <a:off x="548640" y="1280160"/>
            <a:ext cx="5349240" cy="4754880"/>
          </a:xfrm>
          <a:prstGeom prst="roundRect">
            <a:avLst>
              <a:gd name="adj" fmla="val 1538"/>
            </a:avLst>
          </a:prstGeom>
          <a:solidFill>
            <a:schemeClr val="bg2"/>
          </a:solidFill>
          <a:ln w="12700">
            <a:solidFill>
              <a:schemeClr val="bg2"/>
            </a:solidFill>
            <a:prstDash val="solid"/>
          </a:ln>
        </p:spPr>
      </p:sp>
      <p:sp>
        <p:nvSpPr>
          <p:cNvPr id="4" name="Text 2"/>
          <p:cNvSpPr txBox="1"/>
          <p:nvPr/>
        </p:nvSpPr>
        <p:spPr>
          <a:xfrm>
            <a:off x="868680" y="1463040"/>
            <a:ext cx="457200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In scope (semester MVP)</a:t>
            </a:r>
            <a:endParaRPr lang="en-US" sz="2200" dirty="0"/>
          </a:p>
        </p:txBody>
      </p:sp>
      <p:sp>
        <p:nvSpPr>
          <p:cNvPr id="5" name="Shape 3"/>
          <p:cNvSpPr/>
          <p:nvPr/>
        </p:nvSpPr>
        <p:spPr>
          <a:xfrm>
            <a:off x="868680" y="2029968"/>
            <a:ext cx="292608" cy="292608"/>
          </a:xfrm>
          <a:prstGeom prst="ellipse">
            <a:avLst/>
          </a:prstGeom>
          <a:solidFill>
            <a:schemeClr val="accent5"/>
          </a:solidFill>
          <a:ln w="12700">
            <a:solidFill>
              <a:schemeClr val="accent5"/>
            </a:solidFill>
            <a:prstDash val="solid"/>
          </a:ln>
        </p:spPr>
      </p:sp>
      <p:pic>
        <p:nvPicPr>
          <p:cNvPr id="6" name="Image 0" descr="preencoded.png">    </p:cNvPr>
          <p:cNvPicPr>
            <a:picLocks noChangeAspect="1"/>
          </p:cNvPicPr>
          <p:nvPr/>
        </p:nvPicPr>
        <p:blipFill>
          <a:blip r:embed="rId1"/>
          <a:stretch>
            <a:fillRect/>
          </a:stretch>
        </p:blipFill>
        <p:spPr>
          <a:xfrm>
            <a:off x="938906" y="2100194"/>
            <a:ext cx="152156" cy="152156"/>
          </a:xfrm>
          <a:prstGeom prst="rect">
            <a:avLst/>
          </a:prstGeom>
        </p:spPr>
      </p:pic>
      <p:sp>
        <p:nvSpPr>
          <p:cNvPr id="7" name="Text 4"/>
          <p:cNvSpPr txBox="1"/>
          <p:nvPr/>
        </p:nvSpPr>
        <p:spPr>
          <a:xfrm>
            <a:off x="1325880" y="2029968"/>
            <a:ext cx="4434840" cy="320040"/>
          </a:xfrm>
          <a:prstGeom prst="rect">
            <a:avLst/>
          </a:prstGeom>
          <a:noFill/>
          <a:ln/>
        </p:spPr>
        <p:txBody>
          <a:bodyPr wrap="square" lIns="0" tIns="0" rIns="0" bIns="0" rtlCol="0" anchor="t"/>
          <a:lstStyle/>
          <a:p>
            <a:pPr indent="0" marL="0">
              <a:buNone/>
            </a:pPr>
            <a:r>
              <a:rPr lang="en-US" sz="1400" dirty="0">
                <a:solidFill>
                  <a:schemeClr val="tx1"/>
                </a:solidFill>
              </a:rPr>
              <a:t>Live satellite rain &amp; flood data (GPM, Sentinel-1, GloFAS)</a:t>
            </a:r>
            <a:endParaRPr lang="en-US" sz="1400" dirty="0"/>
          </a:p>
        </p:txBody>
      </p:sp>
      <p:sp>
        <p:nvSpPr>
          <p:cNvPr id="8" name="Shape 5"/>
          <p:cNvSpPr/>
          <p:nvPr/>
        </p:nvSpPr>
        <p:spPr>
          <a:xfrm>
            <a:off x="868680" y="2514600"/>
            <a:ext cx="292608" cy="292608"/>
          </a:xfrm>
          <a:prstGeom prst="ellipse">
            <a:avLst/>
          </a:prstGeom>
          <a:solidFill>
            <a:schemeClr val="accent5"/>
          </a:solidFill>
          <a:ln w="12700">
            <a:solidFill>
              <a:schemeClr val="accent5"/>
            </a:solidFill>
            <a:prstDash val="solid"/>
          </a:ln>
        </p:spPr>
      </p:sp>
      <p:pic>
        <p:nvPicPr>
          <p:cNvPr id="9" name="Image 1" descr="preencoded.png">    </p:cNvPr>
          <p:cNvPicPr>
            <a:picLocks noChangeAspect="1"/>
          </p:cNvPicPr>
          <p:nvPr/>
        </p:nvPicPr>
        <p:blipFill>
          <a:blip r:embed="rId2"/>
          <a:stretch>
            <a:fillRect/>
          </a:stretch>
        </p:blipFill>
        <p:spPr>
          <a:xfrm>
            <a:off x="938906" y="2584826"/>
            <a:ext cx="152156" cy="152156"/>
          </a:xfrm>
          <a:prstGeom prst="rect">
            <a:avLst/>
          </a:prstGeom>
        </p:spPr>
      </p:pic>
      <p:sp>
        <p:nvSpPr>
          <p:cNvPr id="10" name="Text 6"/>
          <p:cNvSpPr txBox="1"/>
          <p:nvPr/>
        </p:nvSpPr>
        <p:spPr>
          <a:xfrm>
            <a:off x="1325880" y="2514600"/>
            <a:ext cx="4434840" cy="320040"/>
          </a:xfrm>
          <a:prstGeom prst="rect">
            <a:avLst/>
          </a:prstGeom>
          <a:noFill/>
          <a:ln/>
        </p:spPr>
        <p:txBody>
          <a:bodyPr wrap="square" lIns="0" tIns="0" rIns="0" bIns="0" rtlCol="0" anchor="t"/>
          <a:lstStyle/>
          <a:p>
            <a:pPr indent="0" marL="0">
              <a:buNone/>
            </a:pPr>
            <a:r>
              <a:rPr lang="en-US" sz="1400" dirty="0">
                <a:solidFill>
                  <a:schemeClr val="tx1"/>
                </a:solidFill>
              </a:rPr>
              <a:t>1–3 own IoT river gauges at one pilot site</a:t>
            </a:r>
            <a:endParaRPr lang="en-US" sz="1400" dirty="0"/>
          </a:p>
        </p:txBody>
      </p:sp>
      <p:sp>
        <p:nvSpPr>
          <p:cNvPr id="11" name="Shape 7"/>
          <p:cNvSpPr/>
          <p:nvPr/>
        </p:nvSpPr>
        <p:spPr>
          <a:xfrm>
            <a:off x="868680" y="2999232"/>
            <a:ext cx="292608" cy="292608"/>
          </a:xfrm>
          <a:prstGeom prst="ellipse">
            <a:avLst/>
          </a:prstGeom>
          <a:solidFill>
            <a:schemeClr val="accent5"/>
          </a:solidFill>
          <a:ln w="12700">
            <a:solidFill>
              <a:schemeClr val="accent5"/>
            </a:solidFill>
            <a:prstDash val="solid"/>
          </a:ln>
        </p:spPr>
      </p:sp>
      <p:pic>
        <p:nvPicPr>
          <p:cNvPr id="12" name="Image 2" descr="preencoded.png">    </p:cNvPr>
          <p:cNvPicPr>
            <a:picLocks noChangeAspect="1"/>
          </p:cNvPicPr>
          <p:nvPr/>
        </p:nvPicPr>
        <p:blipFill>
          <a:blip r:embed="rId3"/>
          <a:stretch>
            <a:fillRect/>
          </a:stretch>
        </p:blipFill>
        <p:spPr>
          <a:xfrm>
            <a:off x="938906" y="3069458"/>
            <a:ext cx="152156" cy="152156"/>
          </a:xfrm>
          <a:prstGeom prst="rect">
            <a:avLst/>
          </a:prstGeom>
        </p:spPr>
      </p:pic>
      <p:sp>
        <p:nvSpPr>
          <p:cNvPr id="13" name="Text 8"/>
          <p:cNvSpPr txBox="1"/>
          <p:nvPr/>
        </p:nvSpPr>
        <p:spPr>
          <a:xfrm>
            <a:off x="1325880" y="2999232"/>
            <a:ext cx="4434840" cy="320040"/>
          </a:xfrm>
          <a:prstGeom prst="rect">
            <a:avLst/>
          </a:prstGeom>
          <a:noFill/>
          <a:ln/>
        </p:spPr>
        <p:txBody>
          <a:bodyPr wrap="square" lIns="0" tIns="0" rIns="0" bIns="0" rtlCol="0" anchor="t"/>
          <a:lstStyle/>
          <a:p>
            <a:pPr indent="0" marL="0">
              <a:buNone/>
            </a:pPr>
            <a:r>
              <a:rPr lang="en-US" sz="1400" dirty="0">
                <a:solidFill>
                  <a:schemeClr val="tx1"/>
                </a:solidFill>
              </a:rPr>
              <a:t>1 siren controller pilot — human-authorized, test mode</a:t>
            </a:r>
            <a:endParaRPr lang="en-US" sz="1400" dirty="0"/>
          </a:p>
        </p:txBody>
      </p:sp>
      <p:sp>
        <p:nvSpPr>
          <p:cNvPr id="14" name="Shape 9"/>
          <p:cNvSpPr/>
          <p:nvPr/>
        </p:nvSpPr>
        <p:spPr>
          <a:xfrm>
            <a:off x="868680" y="3483864"/>
            <a:ext cx="292608" cy="292608"/>
          </a:xfrm>
          <a:prstGeom prst="ellipse">
            <a:avLst/>
          </a:prstGeom>
          <a:solidFill>
            <a:schemeClr val="accent5"/>
          </a:solidFill>
          <a:ln w="12700">
            <a:solidFill>
              <a:schemeClr val="accent5"/>
            </a:solidFill>
            <a:prstDash val="solid"/>
          </a:ln>
        </p:spPr>
      </p:sp>
      <p:pic>
        <p:nvPicPr>
          <p:cNvPr id="15" name="Image 3" descr="preencoded.png">    </p:cNvPr>
          <p:cNvPicPr>
            <a:picLocks noChangeAspect="1"/>
          </p:cNvPicPr>
          <p:nvPr/>
        </p:nvPicPr>
        <p:blipFill>
          <a:blip r:embed="rId4"/>
          <a:stretch>
            <a:fillRect/>
          </a:stretch>
        </p:blipFill>
        <p:spPr>
          <a:xfrm>
            <a:off x="938906" y="3554090"/>
            <a:ext cx="152156" cy="152156"/>
          </a:xfrm>
          <a:prstGeom prst="rect">
            <a:avLst/>
          </a:prstGeom>
        </p:spPr>
      </p:pic>
      <p:sp>
        <p:nvSpPr>
          <p:cNvPr id="16" name="Text 10"/>
          <p:cNvSpPr txBox="1"/>
          <p:nvPr/>
        </p:nvSpPr>
        <p:spPr>
          <a:xfrm>
            <a:off x="1325880" y="3483864"/>
            <a:ext cx="4434840" cy="320040"/>
          </a:xfrm>
          <a:prstGeom prst="rect">
            <a:avLst/>
          </a:prstGeom>
          <a:noFill/>
          <a:ln/>
        </p:spPr>
        <p:txBody>
          <a:bodyPr wrap="square" lIns="0" tIns="0" rIns="0" bIns="0" rtlCol="0" anchor="t"/>
          <a:lstStyle/>
          <a:p>
            <a:pPr indent="0" marL="0">
              <a:buNone/>
            </a:pPr>
            <a:r>
              <a:rPr lang="en-US" sz="1400" dirty="0">
                <a:solidFill>
                  <a:schemeClr val="tx1"/>
                </a:solidFill>
              </a:rPr>
              <a:t>DHM station adapter (live after data agreement)</a:t>
            </a:r>
            <a:endParaRPr lang="en-US" sz="1400" dirty="0"/>
          </a:p>
        </p:txBody>
      </p:sp>
      <p:sp>
        <p:nvSpPr>
          <p:cNvPr id="17" name="Shape 11"/>
          <p:cNvSpPr/>
          <p:nvPr/>
        </p:nvSpPr>
        <p:spPr>
          <a:xfrm>
            <a:off x="868680" y="3968496"/>
            <a:ext cx="292608" cy="292608"/>
          </a:xfrm>
          <a:prstGeom prst="ellipse">
            <a:avLst/>
          </a:prstGeom>
          <a:solidFill>
            <a:schemeClr val="accent5"/>
          </a:solidFill>
          <a:ln w="12700">
            <a:solidFill>
              <a:schemeClr val="accent5"/>
            </a:solidFill>
            <a:prstDash val="solid"/>
          </a:ln>
        </p:spPr>
      </p:sp>
      <p:pic>
        <p:nvPicPr>
          <p:cNvPr id="18" name="Image 4" descr="preencoded.png">    </p:cNvPr>
          <p:cNvPicPr>
            <a:picLocks noChangeAspect="1"/>
          </p:cNvPicPr>
          <p:nvPr/>
        </p:nvPicPr>
        <p:blipFill>
          <a:blip r:embed="rId5"/>
          <a:stretch>
            <a:fillRect/>
          </a:stretch>
        </p:blipFill>
        <p:spPr>
          <a:xfrm>
            <a:off x="938906" y="4038722"/>
            <a:ext cx="152156" cy="152156"/>
          </a:xfrm>
          <a:prstGeom prst="rect">
            <a:avLst/>
          </a:prstGeom>
        </p:spPr>
      </p:pic>
      <p:sp>
        <p:nvSpPr>
          <p:cNvPr id="19" name="Text 12"/>
          <p:cNvSpPr txBox="1"/>
          <p:nvPr/>
        </p:nvSpPr>
        <p:spPr>
          <a:xfrm>
            <a:off x="1325880" y="3968496"/>
            <a:ext cx="4434840" cy="320040"/>
          </a:xfrm>
          <a:prstGeom prst="rect">
            <a:avLst/>
          </a:prstGeom>
          <a:noFill/>
          <a:ln/>
        </p:spPr>
        <p:txBody>
          <a:bodyPr wrap="square" lIns="0" tIns="0" rIns="0" bIns="0" rtlCol="0" anchor="t"/>
          <a:lstStyle/>
          <a:p>
            <a:pPr indent="0" marL="0">
              <a:buNone/>
            </a:pPr>
            <a:r>
              <a:rPr lang="en-US" sz="1400" dirty="0">
                <a:solidFill>
                  <a:schemeClr val="tx1"/>
                </a:solidFill>
              </a:rPr>
              <a:t>Rule-based risk engine with confidence</a:t>
            </a:r>
            <a:endParaRPr lang="en-US" sz="1400" dirty="0"/>
          </a:p>
        </p:txBody>
      </p:sp>
      <p:sp>
        <p:nvSpPr>
          <p:cNvPr id="20" name="Shape 13"/>
          <p:cNvSpPr/>
          <p:nvPr/>
        </p:nvSpPr>
        <p:spPr>
          <a:xfrm>
            <a:off x="868680" y="4453128"/>
            <a:ext cx="292608" cy="292608"/>
          </a:xfrm>
          <a:prstGeom prst="ellipse">
            <a:avLst/>
          </a:prstGeom>
          <a:solidFill>
            <a:schemeClr val="accent5"/>
          </a:solidFill>
          <a:ln w="12700">
            <a:solidFill>
              <a:schemeClr val="accent5"/>
            </a:solidFill>
            <a:prstDash val="solid"/>
          </a:ln>
        </p:spPr>
      </p:sp>
      <p:pic>
        <p:nvPicPr>
          <p:cNvPr id="21" name="Image 5" descr="preencoded.png">    </p:cNvPr>
          <p:cNvPicPr>
            <a:picLocks noChangeAspect="1"/>
          </p:cNvPicPr>
          <p:nvPr/>
        </p:nvPicPr>
        <p:blipFill>
          <a:blip r:embed="rId6"/>
          <a:stretch>
            <a:fillRect/>
          </a:stretch>
        </p:blipFill>
        <p:spPr>
          <a:xfrm>
            <a:off x="938906" y="4523354"/>
            <a:ext cx="152156" cy="152156"/>
          </a:xfrm>
          <a:prstGeom prst="rect">
            <a:avLst/>
          </a:prstGeom>
        </p:spPr>
      </p:pic>
      <p:sp>
        <p:nvSpPr>
          <p:cNvPr id="22" name="Text 14"/>
          <p:cNvSpPr txBox="1"/>
          <p:nvPr/>
        </p:nvSpPr>
        <p:spPr>
          <a:xfrm>
            <a:off x="1325880" y="4453128"/>
            <a:ext cx="4434840" cy="320040"/>
          </a:xfrm>
          <a:prstGeom prst="rect">
            <a:avLst/>
          </a:prstGeom>
          <a:noFill/>
          <a:ln/>
        </p:spPr>
        <p:txBody>
          <a:bodyPr wrap="square" lIns="0" tIns="0" rIns="0" bIns="0" rtlCol="0" anchor="t"/>
          <a:lstStyle/>
          <a:p>
            <a:pPr indent="0" marL="0">
              <a:buNone/>
            </a:pPr>
            <a:r>
              <a:rPr lang="en-US" sz="1400" dirty="0">
                <a:solidFill>
                  <a:schemeClr val="tx1"/>
                </a:solidFill>
              </a:rPr>
              <a:t>Warning workflow with human approval</a:t>
            </a:r>
            <a:endParaRPr lang="en-US" sz="1400" dirty="0"/>
          </a:p>
        </p:txBody>
      </p:sp>
      <p:sp>
        <p:nvSpPr>
          <p:cNvPr id="23" name="Shape 15"/>
          <p:cNvSpPr/>
          <p:nvPr/>
        </p:nvSpPr>
        <p:spPr>
          <a:xfrm>
            <a:off x="868680" y="4937760"/>
            <a:ext cx="292608" cy="292608"/>
          </a:xfrm>
          <a:prstGeom prst="ellipse">
            <a:avLst/>
          </a:prstGeom>
          <a:solidFill>
            <a:schemeClr val="accent5"/>
          </a:solidFill>
          <a:ln w="12700">
            <a:solidFill>
              <a:schemeClr val="accent5"/>
            </a:solidFill>
            <a:prstDash val="solid"/>
          </a:ln>
        </p:spPr>
      </p:sp>
      <p:pic>
        <p:nvPicPr>
          <p:cNvPr id="24" name="Image 6" descr="preencoded.png">    </p:cNvPr>
          <p:cNvPicPr>
            <a:picLocks noChangeAspect="1"/>
          </p:cNvPicPr>
          <p:nvPr/>
        </p:nvPicPr>
        <p:blipFill>
          <a:blip r:embed="rId7"/>
          <a:stretch>
            <a:fillRect/>
          </a:stretch>
        </p:blipFill>
        <p:spPr>
          <a:xfrm>
            <a:off x="938906" y="5007986"/>
            <a:ext cx="152156" cy="152156"/>
          </a:xfrm>
          <a:prstGeom prst="rect">
            <a:avLst/>
          </a:prstGeom>
        </p:spPr>
      </p:pic>
      <p:sp>
        <p:nvSpPr>
          <p:cNvPr id="25" name="Text 16"/>
          <p:cNvSpPr txBox="1"/>
          <p:nvPr/>
        </p:nvSpPr>
        <p:spPr>
          <a:xfrm>
            <a:off x="1325880" y="4937760"/>
            <a:ext cx="4434840" cy="320040"/>
          </a:xfrm>
          <a:prstGeom prst="rect">
            <a:avLst/>
          </a:prstGeom>
          <a:noFill/>
          <a:ln/>
        </p:spPr>
        <p:txBody>
          <a:bodyPr wrap="square" lIns="0" tIns="0" rIns="0" bIns="0" rtlCol="0" anchor="t"/>
          <a:lstStyle/>
          <a:p>
            <a:pPr indent="0" marL="0">
              <a:buNone/>
            </a:pPr>
            <a:r>
              <a:rPr lang="en-US" sz="1400" dirty="0">
                <a:solidFill>
                  <a:schemeClr val="tx1"/>
                </a:solidFill>
              </a:rPr>
              <a:t>Citizen app, authority dashboard, admin</a:t>
            </a:r>
            <a:endParaRPr lang="en-US" sz="1400" dirty="0"/>
          </a:p>
        </p:txBody>
      </p:sp>
      <p:sp>
        <p:nvSpPr>
          <p:cNvPr id="26" name="Shape 17"/>
          <p:cNvSpPr/>
          <p:nvPr/>
        </p:nvSpPr>
        <p:spPr>
          <a:xfrm>
            <a:off x="868680" y="5422392"/>
            <a:ext cx="292608" cy="292608"/>
          </a:xfrm>
          <a:prstGeom prst="ellipse">
            <a:avLst/>
          </a:prstGeom>
          <a:solidFill>
            <a:schemeClr val="accent5"/>
          </a:solidFill>
          <a:ln w="12700">
            <a:solidFill>
              <a:schemeClr val="accent5"/>
            </a:solidFill>
            <a:prstDash val="solid"/>
          </a:ln>
        </p:spPr>
      </p:sp>
      <p:pic>
        <p:nvPicPr>
          <p:cNvPr id="27" name="Image 7" descr="preencoded.png">    </p:cNvPr>
          <p:cNvPicPr>
            <a:picLocks noChangeAspect="1"/>
          </p:cNvPicPr>
          <p:nvPr/>
        </p:nvPicPr>
        <p:blipFill>
          <a:blip r:embed="rId8"/>
          <a:stretch>
            <a:fillRect/>
          </a:stretch>
        </p:blipFill>
        <p:spPr>
          <a:xfrm>
            <a:off x="938906" y="5492618"/>
            <a:ext cx="152156" cy="152156"/>
          </a:xfrm>
          <a:prstGeom prst="rect">
            <a:avLst/>
          </a:prstGeom>
        </p:spPr>
      </p:pic>
      <p:sp>
        <p:nvSpPr>
          <p:cNvPr id="28" name="Text 18"/>
          <p:cNvSpPr txBox="1"/>
          <p:nvPr/>
        </p:nvSpPr>
        <p:spPr>
          <a:xfrm>
            <a:off x="1325880" y="5422392"/>
            <a:ext cx="4434840" cy="320040"/>
          </a:xfrm>
          <a:prstGeom prst="rect">
            <a:avLst/>
          </a:prstGeom>
          <a:noFill/>
          <a:ln/>
        </p:spPr>
        <p:txBody>
          <a:bodyPr wrap="square" lIns="0" tIns="0" rIns="0" bIns="0" rtlCol="0" anchor="t"/>
          <a:lstStyle/>
          <a:p>
            <a:pPr indent="0" marL="0">
              <a:buNone/>
            </a:pPr>
            <a:r>
              <a:rPr lang="en-US" sz="1400" dirty="0">
                <a:solidFill>
                  <a:schemeClr val="tx1"/>
                </a:solidFill>
              </a:rPr>
              <a:t>Shelters, safe routing, audit log, degraded mode</a:t>
            </a:r>
            <a:endParaRPr lang="en-US" sz="1400" dirty="0"/>
          </a:p>
        </p:txBody>
      </p:sp>
      <p:sp>
        <p:nvSpPr>
          <p:cNvPr id="29" name="Shape 19"/>
          <p:cNvSpPr/>
          <p:nvPr/>
        </p:nvSpPr>
        <p:spPr>
          <a:xfrm>
            <a:off x="6263640" y="1280160"/>
            <a:ext cx="5349240" cy="4754880"/>
          </a:xfrm>
          <a:prstGeom prst="roundRect">
            <a:avLst>
              <a:gd name="adj" fmla="val 1538"/>
            </a:avLst>
          </a:prstGeom>
          <a:solidFill>
            <a:schemeClr val="bg2"/>
          </a:solidFill>
          <a:ln w="12700">
            <a:solidFill>
              <a:schemeClr val="bg2"/>
            </a:solidFill>
            <a:prstDash val="solid"/>
          </a:ln>
        </p:spPr>
      </p:sp>
      <p:sp>
        <p:nvSpPr>
          <p:cNvPr id="30" name="Text 20"/>
          <p:cNvSpPr txBox="1"/>
          <p:nvPr/>
        </p:nvSpPr>
        <p:spPr>
          <a:xfrm>
            <a:off x="6583680" y="1463040"/>
            <a:ext cx="457200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Not this semester</a:t>
            </a:r>
            <a:endParaRPr lang="en-US" sz="2200" dirty="0"/>
          </a:p>
        </p:txBody>
      </p:sp>
      <p:sp>
        <p:nvSpPr>
          <p:cNvPr id="31" name="Shape 21"/>
          <p:cNvSpPr/>
          <p:nvPr/>
        </p:nvSpPr>
        <p:spPr>
          <a:xfrm>
            <a:off x="6583680" y="2029968"/>
            <a:ext cx="292608" cy="292608"/>
          </a:xfrm>
          <a:prstGeom prst="ellipse">
            <a:avLst/>
          </a:prstGeom>
          <a:solidFill>
            <a:schemeClr val="accent3"/>
          </a:solidFill>
          <a:ln w="12700">
            <a:solidFill>
              <a:schemeClr val="accent3"/>
            </a:solidFill>
            <a:prstDash val="solid"/>
          </a:ln>
        </p:spPr>
      </p:sp>
      <p:pic>
        <p:nvPicPr>
          <p:cNvPr id="32" name="Image 8" descr="preencoded.png">    </p:cNvPr>
          <p:cNvPicPr>
            <a:picLocks noChangeAspect="1"/>
          </p:cNvPicPr>
          <p:nvPr/>
        </p:nvPicPr>
        <p:blipFill>
          <a:blip r:embed="rId9"/>
          <a:stretch>
            <a:fillRect/>
          </a:stretch>
        </p:blipFill>
        <p:spPr>
          <a:xfrm>
            <a:off x="6653906" y="2100194"/>
            <a:ext cx="152156" cy="152156"/>
          </a:xfrm>
          <a:prstGeom prst="rect">
            <a:avLst/>
          </a:prstGeom>
        </p:spPr>
      </p:pic>
      <p:sp>
        <p:nvSpPr>
          <p:cNvPr id="33" name="Text 22"/>
          <p:cNvSpPr txBox="1"/>
          <p:nvPr/>
        </p:nvSpPr>
        <p:spPr>
          <a:xfrm>
            <a:off x="7040880" y="2029968"/>
            <a:ext cx="4434840" cy="320040"/>
          </a:xfrm>
          <a:prstGeom prst="rect">
            <a:avLst/>
          </a:prstGeom>
          <a:noFill/>
          <a:ln/>
        </p:spPr>
        <p:txBody>
          <a:bodyPr wrap="square" lIns="0" tIns="0" rIns="0" bIns="0" rtlCol="0" anchor="t"/>
          <a:lstStyle/>
          <a:p>
            <a:pPr indent="0" marL="0">
              <a:buNone/>
            </a:pPr>
            <a:r>
              <a:rPr lang="en-US" sz="1400" dirty="0">
                <a:solidFill>
                  <a:schemeClr val="tx1"/>
                </a:solidFill>
              </a:rPr>
              <a:t>Own country-wide sensor network (use DHM's)</a:t>
            </a:r>
            <a:endParaRPr lang="en-US" sz="1400" dirty="0"/>
          </a:p>
        </p:txBody>
      </p:sp>
      <p:sp>
        <p:nvSpPr>
          <p:cNvPr id="34" name="Shape 23"/>
          <p:cNvSpPr/>
          <p:nvPr/>
        </p:nvSpPr>
        <p:spPr>
          <a:xfrm>
            <a:off x="6583680" y="2514600"/>
            <a:ext cx="292608" cy="292608"/>
          </a:xfrm>
          <a:prstGeom prst="ellipse">
            <a:avLst/>
          </a:prstGeom>
          <a:solidFill>
            <a:schemeClr val="accent3"/>
          </a:solidFill>
          <a:ln w="12700">
            <a:solidFill>
              <a:schemeClr val="accent3"/>
            </a:solidFill>
            <a:prstDash val="solid"/>
          </a:ln>
        </p:spPr>
      </p:sp>
      <p:pic>
        <p:nvPicPr>
          <p:cNvPr id="35" name="Image 9" descr="preencoded.png">    </p:cNvPr>
          <p:cNvPicPr>
            <a:picLocks noChangeAspect="1"/>
          </p:cNvPicPr>
          <p:nvPr/>
        </p:nvPicPr>
        <p:blipFill>
          <a:blip r:embed="rId10"/>
          <a:stretch>
            <a:fillRect/>
          </a:stretch>
        </p:blipFill>
        <p:spPr>
          <a:xfrm>
            <a:off x="6653906" y="2584826"/>
            <a:ext cx="152156" cy="152156"/>
          </a:xfrm>
          <a:prstGeom prst="rect">
            <a:avLst/>
          </a:prstGeom>
        </p:spPr>
      </p:pic>
      <p:sp>
        <p:nvSpPr>
          <p:cNvPr id="36" name="Text 24"/>
          <p:cNvSpPr txBox="1"/>
          <p:nvPr/>
        </p:nvSpPr>
        <p:spPr>
          <a:xfrm>
            <a:off x="7040880" y="2514600"/>
            <a:ext cx="4434840" cy="320040"/>
          </a:xfrm>
          <a:prstGeom prst="rect">
            <a:avLst/>
          </a:prstGeom>
          <a:noFill/>
          <a:ln/>
        </p:spPr>
        <p:txBody>
          <a:bodyPr wrap="square" lIns="0" tIns="0" rIns="0" bIns="0" rtlCol="0" anchor="t"/>
          <a:lstStyle/>
          <a:p>
            <a:pPr indent="0" marL="0">
              <a:buNone/>
            </a:pPr>
            <a:r>
              <a:rPr lang="en-US" sz="1400" dirty="0">
                <a:solidFill>
                  <a:schemeClr val="tx1"/>
                </a:solidFill>
              </a:rPr>
              <a:t>Autonomous sirens or warnings without approval</a:t>
            </a:r>
            <a:endParaRPr lang="en-US" sz="1400" dirty="0"/>
          </a:p>
        </p:txBody>
      </p:sp>
      <p:sp>
        <p:nvSpPr>
          <p:cNvPr id="37" name="Shape 25"/>
          <p:cNvSpPr/>
          <p:nvPr/>
        </p:nvSpPr>
        <p:spPr>
          <a:xfrm>
            <a:off x="6583680" y="2999232"/>
            <a:ext cx="292608" cy="292608"/>
          </a:xfrm>
          <a:prstGeom prst="ellipse">
            <a:avLst/>
          </a:prstGeom>
          <a:solidFill>
            <a:schemeClr val="accent3"/>
          </a:solidFill>
          <a:ln w="12700">
            <a:solidFill>
              <a:schemeClr val="accent3"/>
            </a:solidFill>
            <a:prstDash val="solid"/>
          </a:ln>
        </p:spPr>
      </p:sp>
      <p:pic>
        <p:nvPicPr>
          <p:cNvPr id="38" name="Image 10" descr="preencoded.png">    </p:cNvPr>
          <p:cNvPicPr>
            <a:picLocks noChangeAspect="1"/>
          </p:cNvPicPr>
          <p:nvPr/>
        </p:nvPicPr>
        <p:blipFill>
          <a:blip r:embed="rId11"/>
          <a:stretch>
            <a:fillRect/>
          </a:stretch>
        </p:blipFill>
        <p:spPr>
          <a:xfrm>
            <a:off x="6653906" y="3069458"/>
            <a:ext cx="152156" cy="152156"/>
          </a:xfrm>
          <a:prstGeom prst="rect">
            <a:avLst/>
          </a:prstGeom>
        </p:spPr>
      </p:pic>
      <p:sp>
        <p:nvSpPr>
          <p:cNvPr id="39" name="Text 26"/>
          <p:cNvSpPr txBox="1"/>
          <p:nvPr/>
        </p:nvSpPr>
        <p:spPr>
          <a:xfrm>
            <a:off x="7040880" y="2999232"/>
            <a:ext cx="4434840" cy="320040"/>
          </a:xfrm>
          <a:prstGeom prst="rect">
            <a:avLst/>
          </a:prstGeom>
          <a:noFill/>
          <a:ln/>
        </p:spPr>
        <p:txBody>
          <a:bodyPr wrap="square" lIns="0" tIns="0" rIns="0" bIns="0" rtlCol="0" anchor="t"/>
          <a:lstStyle/>
          <a:p>
            <a:pPr indent="0" marL="0">
              <a:buNone/>
            </a:pPr>
            <a:r>
              <a:rPr lang="en-US" sz="1400" dirty="0">
                <a:solidFill>
                  <a:schemeClr val="tx1"/>
                </a:solidFill>
              </a:rPr>
              <a:t>Control of dams or any infrastructure</a:t>
            </a:r>
            <a:endParaRPr lang="en-US" sz="1400" dirty="0"/>
          </a:p>
        </p:txBody>
      </p:sp>
      <p:sp>
        <p:nvSpPr>
          <p:cNvPr id="40" name="Shape 27"/>
          <p:cNvSpPr/>
          <p:nvPr/>
        </p:nvSpPr>
        <p:spPr>
          <a:xfrm>
            <a:off x="6583680" y="3483864"/>
            <a:ext cx="292608" cy="292608"/>
          </a:xfrm>
          <a:prstGeom prst="ellipse">
            <a:avLst/>
          </a:prstGeom>
          <a:solidFill>
            <a:schemeClr val="accent3"/>
          </a:solidFill>
          <a:ln w="12700">
            <a:solidFill>
              <a:schemeClr val="accent3"/>
            </a:solidFill>
            <a:prstDash val="solid"/>
          </a:ln>
        </p:spPr>
      </p:sp>
      <p:pic>
        <p:nvPicPr>
          <p:cNvPr id="41" name="Image 11" descr="preencoded.png">    </p:cNvPr>
          <p:cNvPicPr>
            <a:picLocks noChangeAspect="1"/>
          </p:cNvPicPr>
          <p:nvPr/>
        </p:nvPicPr>
        <p:blipFill>
          <a:blip r:embed="rId12"/>
          <a:stretch>
            <a:fillRect/>
          </a:stretch>
        </p:blipFill>
        <p:spPr>
          <a:xfrm>
            <a:off x="6653906" y="3554090"/>
            <a:ext cx="152156" cy="152156"/>
          </a:xfrm>
          <a:prstGeom prst="rect">
            <a:avLst/>
          </a:prstGeom>
        </p:spPr>
      </p:pic>
      <p:sp>
        <p:nvSpPr>
          <p:cNvPr id="42" name="Text 28"/>
          <p:cNvSpPr txBox="1"/>
          <p:nvPr/>
        </p:nvSpPr>
        <p:spPr>
          <a:xfrm>
            <a:off x="7040880" y="3483864"/>
            <a:ext cx="4434840" cy="320040"/>
          </a:xfrm>
          <a:prstGeom prst="rect">
            <a:avLst/>
          </a:prstGeom>
          <a:noFill/>
          <a:ln/>
        </p:spPr>
        <p:txBody>
          <a:bodyPr wrap="square" lIns="0" tIns="0" rIns="0" bIns="0" rtlCol="0" anchor="t"/>
          <a:lstStyle/>
          <a:p>
            <a:pPr indent="0" marL="0">
              <a:buNone/>
            </a:pPr>
            <a:r>
              <a:rPr lang="en-US" sz="1400" dirty="0">
                <a:solidFill>
                  <a:schemeClr val="tx1"/>
                </a:solidFill>
              </a:rPr>
              <a:t>Replacing government warning authority</a:t>
            </a:r>
            <a:endParaRPr lang="en-US" sz="1400" dirty="0"/>
          </a:p>
        </p:txBody>
      </p:sp>
      <p:sp>
        <p:nvSpPr>
          <p:cNvPr id="43" name="Shape 29"/>
          <p:cNvSpPr/>
          <p:nvPr/>
        </p:nvSpPr>
        <p:spPr>
          <a:xfrm>
            <a:off x="6583680" y="3968496"/>
            <a:ext cx="292608" cy="292608"/>
          </a:xfrm>
          <a:prstGeom prst="ellipse">
            <a:avLst/>
          </a:prstGeom>
          <a:solidFill>
            <a:schemeClr val="accent3"/>
          </a:solidFill>
          <a:ln w="12700">
            <a:solidFill>
              <a:schemeClr val="accent3"/>
            </a:solidFill>
            <a:prstDash val="solid"/>
          </a:ln>
        </p:spPr>
      </p:sp>
      <p:pic>
        <p:nvPicPr>
          <p:cNvPr id="44" name="Image 12" descr="preencoded.png">    </p:cNvPr>
          <p:cNvPicPr>
            <a:picLocks noChangeAspect="1"/>
          </p:cNvPicPr>
          <p:nvPr/>
        </p:nvPicPr>
        <p:blipFill>
          <a:blip r:embed="rId13"/>
          <a:stretch>
            <a:fillRect/>
          </a:stretch>
        </p:blipFill>
        <p:spPr>
          <a:xfrm>
            <a:off x="6653906" y="4038722"/>
            <a:ext cx="152156" cy="152156"/>
          </a:xfrm>
          <a:prstGeom prst="rect">
            <a:avLst/>
          </a:prstGeom>
        </p:spPr>
      </p:pic>
      <p:sp>
        <p:nvSpPr>
          <p:cNvPr id="45" name="Text 30"/>
          <p:cNvSpPr txBox="1"/>
          <p:nvPr/>
        </p:nvSpPr>
        <p:spPr>
          <a:xfrm>
            <a:off x="7040880" y="3968496"/>
            <a:ext cx="4434840" cy="320040"/>
          </a:xfrm>
          <a:prstGeom prst="rect">
            <a:avLst/>
          </a:prstGeom>
          <a:noFill/>
          <a:ln/>
        </p:spPr>
        <p:txBody>
          <a:bodyPr wrap="square" lIns="0" tIns="0" rIns="0" bIns="0" rtlCol="0" anchor="t"/>
          <a:lstStyle/>
          <a:p>
            <a:pPr indent="0" marL="0">
              <a:buNone/>
            </a:pPr>
            <a:r>
              <a:rPr lang="en-US" sz="1400" dirty="0">
                <a:solidFill>
                  <a:schemeClr val="tx1"/>
                </a:solidFill>
              </a:rPr>
              <a:t>Guaranteed prediction or safety</a:t>
            </a:r>
            <a:endParaRPr lang="en-US" sz="1400" dirty="0"/>
          </a:p>
        </p:txBody>
      </p:sp>
      <p:sp>
        <p:nvSpPr>
          <p:cNvPr id="46" name="Shape 31"/>
          <p:cNvSpPr/>
          <p:nvPr/>
        </p:nvSpPr>
        <p:spPr>
          <a:xfrm>
            <a:off x="6583680" y="4453128"/>
            <a:ext cx="292608" cy="292608"/>
          </a:xfrm>
          <a:prstGeom prst="ellipse">
            <a:avLst/>
          </a:prstGeom>
          <a:solidFill>
            <a:schemeClr val="accent3"/>
          </a:solidFill>
          <a:ln w="12700">
            <a:solidFill>
              <a:schemeClr val="accent3"/>
            </a:solidFill>
            <a:prstDash val="solid"/>
          </a:ln>
        </p:spPr>
      </p:sp>
      <p:pic>
        <p:nvPicPr>
          <p:cNvPr id="47" name="Image 13" descr="preencoded.png">    </p:cNvPr>
          <p:cNvPicPr>
            <a:picLocks noChangeAspect="1"/>
          </p:cNvPicPr>
          <p:nvPr/>
        </p:nvPicPr>
        <p:blipFill>
          <a:blip r:embed="rId14"/>
          <a:stretch>
            <a:fillRect/>
          </a:stretch>
        </p:blipFill>
        <p:spPr>
          <a:xfrm>
            <a:off x="6653906" y="4523354"/>
            <a:ext cx="152156" cy="152156"/>
          </a:xfrm>
          <a:prstGeom prst="rect">
            <a:avLst/>
          </a:prstGeom>
        </p:spPr>
      </p:pic>
      <p:sp>
        <p:nvSpPr>
          <p:cNvPr id="48" name="Text 32"/>
          <p:cNvSpPr txBox="1"/>
          <p:nvPr/>
        </p:nvSpPr>
        <p:spPr>
          <a:xfrm>
            <a:off x="7040880" y="4453128"/>
            <a:ext cx="4434840" cy="320040"/>
          </a:xfrm>
          <a:prstGeom prst="rect">
            <a:avLst/>
          </a:prstGeom>
          <a:noFill/>
          <a:ln/>
        </p:spPr>
        <p:txBody>
          <a:bodyPr wrap="square" lIns="0" tIns="0" rIns="0" bIns="0" rtlCol="0" anchor="t"/>
          <a:lstStyle/>
          <a:p>
            <a:pPr indent="0" marL="0">
              <a:buNone/>
            </a:pPr>
            <a:r>
              <a:rPr lang="en-US" sz="1400" dirty="0">
                <a:solidFill>
                  <a:schemeClr val="tx1"/>
                </a:solidFill>
              </a:rPr>
              <a:t>Cell broadcast (needs telecom / NTA agreement)</a:t>
            </a:r>
            <a:endParaRPr lang="en-US" sz="1400" dirty="0"/>
          </a:p>
        </p:txBody>
      </p:sp>
      <p:sp>
        <p:nvSpPr>
          <p:cNvPr id="49" name="Shape 33"/>
          <p:cNvSpPr/>
          <p:nvPr/>
        </p:nvSpPr>
        <p:spPr>
          <a:xfrm>
            <a:off x="6583680" y="4937760"/>
            <a:ext cx="292608" cy="292608"/>
          </a:xfrm>
          <a:prstGeom prst="ellipse">
            <a:avLst/>
          </a:prstGeom>
          <a:solidFill>
            <a:schemeClr val="accent3"/>
          </a:solidFill>
          <a:ln w="12700">
            <a:solidFill>
              <a:schemeClr val="accent3"/>
            </a:solidFill>
            <a:prstDash val="solid"/>
          </a:ln>
        </p:spPr>
      </p:sp>
      <p:pic>
        <p:nvPicPr>
          <p:cNvPr id="50" name="Image 14" descr="preencoded.png">    </p:cNvPr>
          <p:cNvPicPr>
            <a:picLocks noChangeAspect="1"/>
          </p:cNvPicPr>
          <p:nvPr/>
        </p:nvPicPr>
        <p:blipFill>
          <a:blip r:embed="rId15"/>
          <a:stretch>
            <a:fillRect/>
          </a:stretch>
        </p:blipFill>
        <p:spPr>
          <a:xfrm>
            <a:off x="6653906" y="5007986"/>
            <a:ext cx="152156" cy="152156"/>
          </a:xfrm>
          <a:prstGeom prst="rect">
            <a:avLst/>
          </a:prstGeom>
        </p:spPr>
      </p:pic>
      <p:sp>
        <p:nvSpPr>
          <p:cNvPr id="51" name="Text 34"/>
          <p:cNvSpPr txBox="1"/>
          <p:nvPr/>
        </p:nvSpPr>
        <p:spPr>
          <a:xfrm>
            <a:off x="7040880" y="4937760"/>
            <a:ext cx="4434840" cy="320040"/>
          </a:xfrm>
          <a:prstGeom prst="rect">
            <a:avLst/>
          </a:prstGeom>
          <a:noFill/>
          <a:ln/>
        </p:spPr>
        <p:txBody>
          <a:bodyPr wrap="square" lIns="0" tIns="0" rIns="0" bIns="0" rtlCol="0" anchor="t"/>
          <a:lstStyle/>
          <a:p>
            <a:pPr indent="0" marL="0">
              <a:buNone/>
            </a:pPr>
            <a:r>
              <a:rPr lang="en-US" sz="1400" dirty="0">
                <a:solidFill>
                  <a:schemeClr val="tx1"/>
                </a:solidFill>
              </a:rPr>
              <a:t>Public alerts before government sign-off</a:t>
            </a:r>
            <a:endParaRPr lang="en-US" sz="1400" dirty="0"/>
          </a:p>
        </p:txBody>
      </p:sp>
      <p:sp>
        <p:nvSpPr>
          <p:cNvPr id="52" name="Shape 35"/>
          <p:cNvSpPr/>
          <p:nvPr/>
        </p:nvSpPr>
        <p:spPr>
          <a:xfrm>
            <a:off x="6583680" y="5422392"/>
            <a:ext cx="292608" cy="292608"/>
          </a:xfrm>
          <a:prstGeom prst="ellipse">
            <a:avLst/>
          </a:prstGeom>
          <a:solidFill>
            <a:schemeClr val="accent3"/>
          </a:solidFill>
          <a:ln w="12700">
            <a:solidFill>
              <a:schemeClr val="accent3"/>
            </a:solidFill>
            <a:prstDash val="solid"/>
          </a:ln>
        </p:spPr>
      </p:sp>
      <p:pic>
        <p:nvPicPr>
          <p:cNvPr id="53" name="Image 15" descr="preencoded.png">    </p:cNvPr>
          <p:cNvPicPr>
            <a:picLocks noChangeAspect="1"/>
          </p:cNvPicPr>
          <p:nvPr/>
        </p:nvPicPr>
        <p:blipFill>
          <a:blip r:embed="rId16"/>
          <a:stretch>
            <a:fillRect/>
          </a:stretch>
        </p:blipFill>
        <p:spPr>
          <a:xfrm>
            <a:off x="6653906" y="5492618"/>
            <a:ext cx="152156" cy="152156"/>
          </a:xfrm>
          <a:prstGeom prst="rect">
            <a:avLst/>
          </a:prstGeom>
        </p:spPr>
      </p:pic>
      <p:sp>
        <p:nvSpPr>
          <p:cNvPr id="54" name="Text 36"/>
          <p:cNvSpPr txBox="1"/>
          <p:nvPr/>
        </p:nvSpPr>
        <p:spPr>
          <a:xfrm>
            <a:off x="7040880" y="5422392"/>
            <a:ext cx="4434840" cy="320040"/>
          </a:xfrm>
          <a:prstGeom prst="rect">
            <a:avLst/>
          </a:prstGeom>
          <a:noFill/>
          <a:ln/>
        </p:spPr>
        <p:txBody>
          <a:bodyPr wrap="square" lIns="0" tIns="0" rIns="0" bIns="0" rtlCol="0" anchor="t"/>
          <a:lstStyle/>
          <a:p>
            <a:pPr indent="0" marL="0">
              <a:buNone/>
            </a:pPr>
            <a:r>
              <a:rPr lang="en-US" sz="1400" dirty="0">
                <a:solidFill>
                  <a:schemeClr val="tx1"/>
                </a:solidFill>
              </a:rPr>
              <a:t>24/7 national operations (roadmap Phase 3)</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24 stakeholder groups in five classes</a:t>
            </a:r>
            <a:endParaRPr lang="en-US" sz="3200" dirty="0"/>
          </a:p>
        </p:txBody>
      </p:sp>
      <p:sp>
        <p:nvSpPr>
          <p:cNvPr id="3" name="Shape 1"/>
          <p:cNvSpPr/>
          <p:nvPr/>
        </p:nvSpPr>
        <p:spPr>
          <a:xfrm>
            <a:off x="548640" y="1325880"/>
            <a:ext cx="2002536" cy="3794760"/>
          </a:xfrm>
          <a:prstGeom prst="roundRect">
            <a:avLst>
              <a:gd name="adj" fmla="val 3653"/>
            </a:avLst>
          </a:prstGeom>
          <a:solidFill>
            <a:schemeClr val="bg2"/>
          </a:solidFill>
          <a:ln w="12700">
            <a:solidFill>
              <a:schemeClr val="bg2"/>
            </a:solidFill>
            <a:prstDash val="solid"/>
          </a:ln>
        </p:spPr>
      </p:sp>
      <p:sp>
        <p:nvSpPr>
          <p:cNvPr id="4" name="Shape 2"/>
          <p:cNvSpPr/>
          <p:nvPr/>
        </p:nvSpPr>
        <p:spPr>
          <a:xfrm>
            <a:off x="777240" y="155448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30859" y="1708099"/>
            <a:ext cx="332842" cy="332842"/>
          </a:xfrm>
          <a:prstGeom prst="rect">
            <a:avLst/>
          </a:prstGeom>
        </p:spPr>
      </p:pic>
      <p:sp>
        <p:nvSpPr>
          <p:cNvPr id="6" name="Text 3"/>
          <p:cNvSpPr txBox="1"/>
          <p:nvPr/>
        </p:nvSpPr>
        <p:spPr>
          <a:xfrm>
            <a:off x="777240" y="2377440"/>
            <a:ext cx="1636776" cy="640080"/>
          </a:xfrm>
          <a:prstGeom prst="rect">
            <a:avLst/>
          </a:prstGeom>
          <a:noFill/>
          <a:ln/>
        </p:spPr>
        <p:txBody>
          <a:bodyPr wrap="square" lIns="0" tIns="0" rIns="0" bIns="0" rtlCol="0" anchor="t"/>
          <a:lstStyle/>
          <a:p>
            <a:pPr indent="0" marL="0">
              <a:buNone/>
            </a:pPr>
            <a:r>
              <a:rPr lang="en-US" sz="1800" b="1" dirty="0">
                <a:solidFill>
                  <a:schemeClr val="tx2"/>
                </a:solidFill>
              </a:rPr>
              <a:t>At-risk public</a:t>
            </a:r>
            <a:endParaRPr lang="en-US" sz="1800" dirty="0"/>
          </a:p>
        </p:txBody>
      </p:sp>
      <p:sp>
        <p:nvSpPr>
          <p:cNvPr id="7" name="Text 4"/>
          <p:cNvSpPr txBox="1"/>
          <p:nvPr/>
        </p:nvSpPr>
        <p:spPr>
          <a:xfrm>
            <a:off x="777240" y="3063240"/>
            <a:ext cx="1636776" cy="1920240"/>
          </a:xfrm>
          <a:prstGeom prst="rect">
            <a:avLst/>
          </a:prstGeom>
          <a:noFill/>
          <a:ln/>
        </p:spPr>
        <p:txBody>
          <a:bodyPr wrap="square" lIns="0" tIns="0" rIns="0" bIns="0" rtlCol="0" anchor="t"/>
          <a:lstStyle/>
          <a:p>
            <a:pPr indent="0" marL="0">
              <a:buNone/>
            </a:pPr>
            <a:r>
              <a:rPr lang="en-US" sz="1400" dirty="0">
                <a:solidFill>
                  <a:schemeClr val="tx1"/>
                </a:solidFill>
              </a:rPr>
              <a:t>Residents, flood-prone households, farmers, elderly, children, persons with disabilities, tourists</a:t>
            </a:r>
            <a:endParaRPr lang="en-US" sz="1400" dirty="0"/>
          </a:p>
        </p:txBody>
      </p:sp>
      <p:sp>
        <p:nvSpPr>
          <p:cNvPr id="8" name="Shape 5"/>
          <p:cNvSpPr/>
          <p:nvPr/>
        </p:nvSpPr>
        <p:spPr>
          <a:xfrm>
            <a:off x="2816352" y="1325880"/>
            <a:ext cx="2002536" cy="3794760"/>
          </a:xfrm>
          <a:prstGeom prst="roundRect">
            <a:avLst>
              <a:gd name="adj" fmla="val 3653"/>
            </a:avLst>
          </a:prstGeom>
          <a:solidFill>
            <a:schemeClr val="bg2"/>
          </a:solidFill>
          <a:ln w="12700">
            <a:solidFill>
              <a:schemeClr val="bg2"/>
            </a:solidFill>
            <a:prstDash val="solid"/>
          </a:ln>
        </p:spPr>
      </p:sp>
      <p:sp>
        <p:nvSpPr>
          <p:cNvPr id="9" name="Shape 6"/>
          <p:cNvSpPr/>
          <p:nvPr/>
        </p:nvSpPr>
        <p:spPr>
          <a:xfrm>
            <a:off x="3044952" y="1554480"/>
            <a:ext cx="640080" cy="64008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198571" y="1708099"/>
            <a:ext cx="332842" cy="332842"/>
          </a:xfrm>
          <a:prstGeom prst="rect">
            <a:avLst/>
          </a:prstGeom>
        </p:spPr>
      </p:pic>
      <p:sp>
        <p:nvSpPr>
          <p:cNvPr id="11" name="Text 7"/>
          <p:cNvSpPr txBox="1"/>
          <p:nvPr/>
        </p:nvSpPr>
        <p:spPr>
          <a:xfrm>
            <a:off x="3044952" y="2377440"/>
            <a:ext cx="1636776" cy="640080"/>
          </a:xfrm>
          <a:prstGeom prst="rect">
            <a:avLst/>
          </a:prstGeom>
          <a:noFill/>
          <a:ln/>
        </p:spPr>
        <p:txBody>
          <a:bodyPr wrap="square" lIns="0" tIns="0" rIns="0" bIns="0" rtlCol="0" anchor="t"/>
          <a:lstStyle/>
          <a:p>
            <a:pPr indent="0" marL="0">
              <a:buNone/>
            </a:pPr>
            <a:r>
              <a:rPr lang="en-US" sz="1800" b="1" dirty="0">
                <a:solidFill>
                  <a:schemeClr val="tx2"/>
                </a:solidFill>
              </a:rPr>
              <a:t>Authorities</a:t>
            </a:r>
            <a:endParaRPr lang="en-US" sz="1800" dirty="0"/>
          </a:p>
        </p:txBody>
      </p:sp>
      <p:sp>
        <p:nvSpPr>
          <p:cNvPr id="12" name="Text 8"/>
          <p:cNvSpPr txBox="1"/>
          <p:nvPr/>
        </p:nvSpPr>
        <p:spPr>
          <a:xfrm>
            <a:off x="3044952" y="3063240"/>
            <a:ext cx="1636776" cy="1920240"/>
          </a:xfrm>
          <a:prstGeom prst="rect">
            <a:avLst/>
          </a:prstGeom>
          <a:noFill/>
          <a:ln/>
        </p:spPr>
        <p:txBody>
          <a:bodyPr wrap="square" lIns="0" tIns="0" rIns="0" bIns="0" rtlCol="0" anchor="t"/>
          <a:lstStyle/>
          <a:p>
            <a:pPr indent="0" marL="0">
              <a:buNone/>
            </a:pPr>
            <a:r>
              <a:rPr lang="en-US" sz="1400" dirty="0">
                <a:solidFill>
                  <a:schemeClr val="tx1"/>
                </a:solidFill>
              </a:rPr>
              <a:t>Local, district and national DRR authorities (pilot: wards, municipalities, NDRRMA)</a:t>
            </a:r>
            <a:endParaRPr lang="en-US" sz="1400" dirty="0"/>
          </a:p>
        </p:txBody>
      </p:sp>
      <p:sp>
        <p:nvSpPr>
          <p:cNvPr id="13" name="Shape 9"/>
          <p:cNvSpPr/>
          <p:nvPr/>
        </p:nvSpPr>
        <p:spPr>
          <a:xfrm>
            <a:off x="5084064" y="1325880"/>
            <a:ext cx="2002536" cy="3794760"/>
          </a:xfrm>
          <a:prstGeom prst="roundRect">
            <a:avLst>
              <a:gd name="adj" fmla="val 3653"/>
            </a:avLst>
          </a:prstGeom>
          <a:solidFill>
            <a:schemeClr val="bg2"/>
          </a:solidFill>
          <a:ln w="12700">
            <a:solidFill>
              <a:schemeClr val="bg2"/>
            </a:solidFill>
            <a:prstDash val="solid"/>
          </a:ln>
        </p:spPr>
      </p:sp>
      <p:sp>
        <p:nvSpPr>
          <p:cNvPr id="14" name="Shape 10"/>
          <p:cNvSpPr/>
          <p:nvPr/>
        </p:nvSpPr>
        <p:spPr>
          <a:xfrm>
            <a:off x="5312664" y="1554480"/>
            <a:ext cx="640080" cy="64008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5466283" y="1708099"/>
            <a:ext cx="332842" cy="332842"/>
          </a:xfrm>
          <a:prstGeom prst="rect">
            <a:avLst/>
          </a:prstGeom>
        </p:spPr>
      </p:pic>
      <p:sp>
        <p:nvSpPr>
          <p:cNvPr id="16" name="Text 11"/>
          <p:cNvSpPr txBox="1"/>
          <p:nvPr/>
        </p:nvSpPr>
        <p:spPr>
          <a:xfrm>
            <a:off x="5312664" y="2377440"/>
            <a:ext cx="1636776" cy="640080"/>
          </a:xfrm>
          <a:prstGeom prst="rect">
            <a:avLst/>
          </a:prstGeom>
          <a:noFill/>
          <a:ln/>
        </p:spPr>
        <p:txBody>
          <a:bodyPr wrap="square" lIns="0" tIns="0" rIns="0" bIns="0" rtlCol="0" anchor="t"/>
          <a:lstStyle/>
          <a:p>
            <a:pPr indent="0" marL="0">
              <a:buNone/>
            </a:pPr>
            <a:r>
              <a:rPr lang="en-US" sz="1800" b="1" dirty="0">
                <a:solidFill>
                  <a:schemeClr val="tx2"/>
                </a:solidFill>
              </a:rPr>
              <a:t>Responders</a:t>
            </a:r>
            <a:endParaRPr lang="en-US" sz="1800" dirty="0"/>
          </a:p>
        </p:txBody>
      </p:sp>
      <p:sp>
        <p:nvSpPr>
          <p:cNvPr id="17" name="Text 12"/>
          <p:cNvSpPr txBox="1"/>
          <p:nvPr/>
        </p:nvSpPr>
        <p:spPr>
          <a:xfrm>
            <a:off x="5312664" y="3063240"/>
            <a:ext cx="1636776" cy="1920240"/>
          </a:xfrm>
          <a:prstGeom prst="rect">
            <a:avLst/>
          </a:prstGeom>
          <a:noFill/>
          <a:ln/>
        </p:spPr>
        <p:txBody>
          <a:bodyPr wrap="square" lIns="0" tIns="0" rIns="0" bIns="0" rtlCol="0" anchor="t"/>
          <a:lstStyle/>
          <a:p>
            <a:pPr indent="0" marL="0">
              <a:buNone/>
            </a:pPr>
            <a:r>
              <a:rPr lang="en-US" sz="1400" dirty="0">
                <a:solidFill>
                  <a:schemeClr val="tx1"/>
                </a:solidFill>
              </a:rPr>
              <a:t>Police, armed police, army, fire services, hospitals, search-and-rescue teams</a:t>
            </a:r>
            <a:endParaRPr lang="en-US" sz="1400" dirty="0"/>
          </a:p>
        </p:txBody>
      </p:sp>
      <p:sp>
        <p:nvSpPr>
          <p:cNvPr id="18" name="Shape 13"/>
          <p:cNvSpPr/>
          <p:nvPr/>
        </p:nvSpPr>
        <p:spPr>
          <a:xfrm>
            <a:off x="7351776" y="1325880"/>
            <a:ext cx="2002536" cy="3794760"/>
          </a:xfrm>
          <a:prstGeom prst="roundRect">
            <a:avLst>
              <a:gd name="adj" fmla="val 3653"/>
            </a:avLst>
          </a:prstGeom>
          <a:solidFill>
            <a:schemeClr val="bg2"/>
          </a:solidFill>
          <a:ln w="12700">
            <a:solidFill>
              <a:schemeClr val="bg2"/>
            </a:solidFill>
            <a:prstDash val="solid"/>
          </a:ln>
        </p:spPr>
      </p:sp>
      <p:sp>
        <p:nvSpPr>
          <p:cNvPr id="19" name="Shape 14"/>
          <p:cNvSpPr/>
          <p:nvPr/>
        </p:nvSpPr>
        <p:spPr>
          <a:xfrm>
            <a:off x="7580376" y="1554480"/>
            <a:ext cx="640080" cy="64008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7733995" y="1708099"/>
            <a:ext cx="332842" cy="332842"/>
          </a:xfrm>
          <a:prstGeom prst="rect">
            <a:avLst/>
          </a:prstGeom>
        </p:spPr>
      </p:pic>
      <p:sp>
        <p:nvSpPr>
          <p:cNvPr id="21" name="Text 15"/>
          <p:cNvSpPr txBox="1"/>
          <p:nvPr/>
        </p:nvSpPr>
        <p:spPr>
          <a:xfrm>
            <a:off x="7580376" y="2377440"/>
            <a:ext cx="1636776" cy="640080"/>
          </a:xfrm>
          <a:prstGeom prst="rect">
            <a:avLst/>
          </a:prstGeom>
          <a:noFill/>
          <a:ln/>
        </p:spPr>
        <p:txBody>
          <a:bodyPr wrap="square" lIns="0" tIns="0" rIns="0" bIns="0" rtlCol="0" anchor="t"/>
          <a:lstStyle/>
          <a:p>
            <a:pPr indent="0" marL="0">
              <a:buNone/>
            </a:pPr>
            <a:r>
              <a:rPr lang="en-US" sz="1800" b="1" dirty="0">
                <a:solidFill>
                  <a:schemeClr val="tx2"/>
                </a:solidFill>
              </a:rPr>
              <a:t>Partners &amp; providers</a:t>
            </a:r>
            <a:endParaRPr lang="en-US" sz="1800" dirty="0"/>
          </a:p>
        </p:txBody>
      </p:sp>
      <p:sp>
        <p:nvSpPr>
          <p:cNvPr id="22" name="Text 16"/>
          <p:cNvSpPr txBox="1"/>
          <p:nvPr/>
        </p:nvSpPr>
        <p:spPr>
          <a:xfrm>
            <a:off x="7580376" y="3063240"/>
            <a:ext cx="1636776" cy="1920240"/>
          </a:xfrm>
          <a:prstGeom prst="rect">
            <a:avLst/>
          </a:prstGeom>
          <a:noFill/>
          <a:ln/>
        </p:spPr>
        <p:txBody>
          <a:bodyPr wrap="square" lIns="0" tIns="0" rIns="0" bIns="0" rtlCol="0" anchor="t"/>
          <a:lstStyle/>
          <a:p>
            <a:pPr indent="0" marL="0">
              <a:buNone/>
            </a:pPr>
            <a:r>
              <a:rPr lang="en-US" sz="1400" dirty="0">
                <a:solidFill>
                  <a:schemeClr val="tx1"/>
                </a:solidFill>
              </a:rPr>
              <a:t>NGOs / Red Cross, volunteers, telecoms and regulator, hydromet service, road authorities, data providers</a:t>
            </a:r>
            <a:endParaRPr lang="en-US" sz="1400" dirty="0"/>
          </a:p>
        </p:txBody>
      </p:sp>
      <p:sp>
        <p:nvSpPr>
          <p:cNvPr id="23" name="Shape 17"/>
          <p:cNvSpPr/>
          <p:nvPr/>
        </p:nvSpPr>
        <p:spPr>
          <a:xfrm>
            <a:off x="9619488" y="1325880"/>
            <a:ext cx="2002536" cy="3794760"/>
          </a:xfrm>
          <a:prstGeom prst="roundRect">
            <a:avLst>
              <a:gd name="adj" fmla="val 3653"/>
            </a:avLst>
          </a:prstGeom>
          <a:solidFill>
            <a:schemeClr val="bg2"/>
          </a:solidFill>
          <a:ln w="12700">
            <a:solidFill>
              <a:schemeClr val="bg2"/>
            </a:solidFill>
            <a:prstDash val="solid"/>
          </a:ln>
        </p:spPr>
      </p:sp>
      <p:sp>
        <p:nvSpPr>
          <p:cNvPr id="24" name="Shape 18"/>
          <p:cNvSpPr/>
          <p:nvPr/>
        </p:nvSpPr>
        <p:spPr>
          <a:xfrm>
            <a:off x="9848088" y="1554480"/>
            <a:ext cx="640080" cy="640080"/>
          </a:xfrm>
          <a:prstGeom prst="ellipse">
            <a:avLst/>
          </a:prstGeom>
          <a:solidFill>
            <a:schemeClr val="accent1"/>
          </a:solidFill>
          <a:ln w="12700">
            <a:solidFill>
              <a:schemeClr val="accent1"/>
            </a:solidFill>
            <a:prstDash val="solid"/>
          </a:ln>
        </p:spPr>
      </p:sp>
      <p:pic>
        <p:nvPicPr>
          <p:cNvPr id="25" name="Image 4" descr="preencoded.png">    </p:cNvPr>
          <p:cNvPicPr>
            <a:picLocks noChangeAspect="1"/>
          </p:cNvPicPr>
          <p:nvPr/>
        </p:nvPicPr>
        <p:blipFill>
          <a:blip r:embed="rId5"/>
          <a:stretch>
            <a:fillRect/>
          </a:stretch>
        </p:blipFill>
        <p:spPr>
          <a:xfrm>
            <a:off x="10001707" y="1708099"/>
            <a:ext cx="332842" cy="332842"/>
          </a:xfrm>
          <a:prstGeom prst="rect">
            <a:avLst/>
          </a:prstGeom>
        </p:spPr>
      </p:pic>
      <p:sp>
        <p:nvSpPr>
          <p:cNvPr id="26" name="Text 19"/>
          <p:cNvSpPr txBox="1"/>
          <p:nvPr/>
        </p:nvSpPr>
        <p:spPr>
          <a:xfrm>
            <a:off x="9848088" y="2377440"/>
            <a:ext cx="1636776" cy="640080"/>
          </a:xfrm>
          <a:prstGeom prst="rect">
            <a:avLst/>
          </a:prstGeom>
          <a:noFill/>
          <a:ln/>
        </p:spPr>
        <p:txBody>
          <a:bodyPr wrap="square" lIns="0" tIns="0" rIns="0" bIns="0" rtlCol="0" anchor="t"/>
          <a:lstStyle/>
          <a:p>
            <a:pPr indent="0" marL="0">
              <a:buNone/>
            </a:pPr>
            <a:r>
              <a:rPr lang="en-US" sz="1800" b="1" dirty="0">
                <a:solidFill>
                  <a:schemeClr val="tx2"/>
                </a:solidFill>
              </a:rPr>
              <a:t>Builders</a:t>
            </a:r>
            <a:endParaRPr lang="en-US" sz="1800" dirty="0"/>
          </a:p>
        </p:txBody>
      </p:sp>
      <p:sp>
        <p:nvSpPr>
          <p:cNvPr id="27" name="Text 20"/>
          <p:cNvSpPr txBox="1"/>
          <p:nvPr/>
        </p:nvSpPr>
        <p:spPr>
          <a:xfrm>
            <a:off x="9848088" y="3063240"/>
            <a:ext cx="1636776" cy="1920240"/>
          </a:xfrm>
          <a:prstGeom prst="rect">
            <a:avLst/>
          </a:prstGeom>
          <a:noFill/>
          <a:ln/>
        </p:spPr>
        <p:txBody>
          <a:bodyPr wrap="square" lIns="0" tIns="0" rIns="0" bIns="0" rtlCol="0" anchor="t"/>
          <a:lstStyle/>
          <a:p>
            <a:pPr indent="0" marL="0">
              <a:buNone/>
            </a:pPr>
            <a:r>
              <a:rPr lang="en-US" sz="1400" dirty="0">
                <a:solidFill>
                  <a:schemeClr val="tx1"/>
                </a:solidFill>
              </a:rPr>
              <a:t>System administrators, software developers</a:t>
            </a:r>
            <a:endParaRPr lang="en-US" sz="1400" dirty="0"/>
          </a:p>
        </p:txBody>
      </p:sp>
      <p:sp>
        <p:nvSpPr>
          <p:cNvPr id="28" name="Shape 21"/>
          <p:cNvSpPr/>
          <p:nvPr/>
        </p:nvSpPr>
        <p:spPr>
          <a:xfrm>
            <a:off x="548640" y="5349240"/>
            <a:ext cx="11064240" cy="685800"/>
          </a:xfrm>
          <a:prstGeom prst="roundRect">
            <a:avLst>
              <a:gd name="adj" fmla="val 10667"/>
            </a:avLst>
          </a:prstGeom>
          <a:solidFill>
            <a:schemeClr val="tx2"/>
          </a:solidFill>
          <a:ln w="12700">
            <a:solidFill>
              <a:schemeClr val="tx2"/>
            </a:solidFill>
            <a:prstDash val="solid"/>
          </a:ln>
        </p:spPr>
      </p:sp>
      <p:sp>
        <p:nvSpPr>
          <p:cNvPr id="29" name="Text 22"/>
          <p:cNvSpPr txBox="1"/>
          <p:nvPr/>
        </p:nvSpPr>
        <p:spPr>
          <a:xfrm>
            <a:off x="822960" y="5413248"/>
            <a:ext cx="10515600" cy="548640"/>
          </a:xfrm>
          <a:prstGeom prst="rect">
            <a:avLst/>
          </a:prstGeom>
          <a:noFill/>
          <a:ln/>
        </p:spPr>
        <p:txBody>
          <a:bodyPr wrap="square" lIns="0" tIns="0" rIns="0" bIns="0" rtlCol="0" anchor="ctr"/>
          <a:lstStyle/>
          <a:p>
            <a:pPr indent="0" marL="0">
              <a:buNone/>
            </a:pPr>
            <a:r>
              <a:rPr lang="en-US" sz="1500" dirty="0">
                <a:solidFill>
                  <a:schemeClr val="bg1"/>
                </a:solidFill>
              </a:rPr>
              <a:t>Each analysed on six dimensions: goals · responsibilities · information needs · concerns · constraints · conflicts with others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Power–interest grid and engagement</a:t>
            </a:r>
            <a:endParaRPr lang="en-US" sz="3200" dirty="0"/>
          </a:p>
        </p:txBody>
      </p:sp>
      <p:sp>
        <p:nvSpPr>
          <p:cNvPr id="3" name="Shape 1"/>
          <p:cNvSpPr/>
          <p:nvPr/>
        </p:nvSpPr>
        <p:spPr>
          <a:xfrm>
            <a:off x="1097280" y="1325880"/>
            <a:ext cx="3200400" cy="2240280"/>
          </a:xfrm>
          <a:prstGeom prst="roundRect">
            <a:avLst>
              <a:gd name="adj" fmla="val 3265"/>
            </a:avLst>
          </a:prstGeom>
          <a:solidFill>
            <a:schemeClr val="bg2"/>
          </a:solidFill>
          <a:ln w="12700">
            <a:solidFill>
              <a:schemeClr val="bg2"/>
            </a:solidFill>
            <a:prstDash val="solid"/>
          </a:ln>
        </p:spPr>
      </p:sp>
      <p:sp>
        <p:nvSpPr>
          <p:cNvPr id="4" name="Text 2"/>
          <p:cNvSpPr txBox="1"/>
          <p:nvPr/>
        </p:nvSpPr>
        <p:spPr>
          <a:xfrm>
            <a:off x="1325880" y="1554480"/>
            <a:ext cx="2743200" cy="365760"/>
          </a:xfrm>
          <a:prstGeom prst="rect">
            <a:avLst/>
          </a:prstGeom>
          <a:noFill/>
          <a:ln/>
        </p:spPr>
        <p:txBody>
          <a:bodyPr wrap="square" lIns="0" tIns="0" rIns="0" bIns="0" rtlCol="0" anchor="t"/>
          <a:lstStyle/>
          <a:p>
            <a:pPr indent="0" marL="0">
              <a:buNone/>
            </a:pPr>
            <a:r>
              <a:rPr lang="en-US" sz="1800" b="1" dirty="0">
                <a:solidFill>
                  <a:schemeClr val="tx2"/>
                </a:solidFill>
              </a:rPr>
              <a:t>Keep satisfied</a:t>
            </a:r>
            <a:endParaRPr lang="en-US" sz="1800" dirty="0"/>
          </a:p>
        </p:txBody>
      </p:sp>
      <p:sp>
        <p:nvSpPr>
          <p:cNvPr id="5" name="Text 3"/>
          <p:cNvSpPr txBox="1"/>
          <p:nvPr/>
        </p:nvSpPr>
        <p:spPr>
          <a:xfrm>
            <a:off x="1325880" y="2011680"/>
            <a:ext cx="2743200" cy="1371600"/>
          </a:xfrm>
          <a:prstGeom prst="rect">
            <a:avLst/>
          </a:prstGeom>
          <a:noFill/>
          <a:ln/>
        </p:spPr>
        <p:txBody>
          <a:bodyPr wrap="square" lIns="0" tIns="0" rIns="0" bIns="0" rtlCol="0" anchor="t"/>
          <a:lstStyle/>
          <a:p>
            <a:pPr indent="0" marL="0">
              <a:buNone/>
            </a:pPr>
            <a:r>
              <a:rPr lang="en-US" sz="1400" dirty="0">
                <a:solidFill>
                  <a:schemeClr val="tx1"/>
                </a:solidFill>
              </a:rPr>
              <a:t>Telecoms and regulator, army, road authorities</a:t>
            </a:r>
            <a:endParaRPr lang="en-US" sz="1400" dirty="0"/>
          </a:p>
        </p:txBody>
      </p:sp>
      <p:sp>
        <p:nvSpPr>
          <p:cNvPr id="6" name="Shape 4"/>
          <p:cNvSpPr/>
          <p:nvPr/>
        </p:nvSpPr>
        <p:spPr>
          <a:xfrm>
            <a:off x="4434840" y="1325880"/>
            <a:ext cx="3200400" cy="2240280"/>
          </a:xfrm>
          <a:prstGeom prst="roundRect">
            <a:avLst>
              <a:gd name="adj" fmla="val 3265"/>
            </a:avLst>
          </a:prstGeom>
          <a:solidFill>
            <a:schemeClr val="accent1"/>
          </a:solidFill>
          <a:ln w="12700">
            <a:solidFill>
              <a:schemeClr val="accent1"/>
            </a:solidFill>
            <a:prstDash val="solid"/>
          </a:ln>
        </p:spPr>
      </p:sp>
      <p:sp>
        <p:nvSpPr>
          <p:cNvPr id="7" name="Text 5"/>
          <p:cNvSpPr txBox="1"/>
          <p:nvPr/>
        </p:nvSpPr>
        <p:spPr>
          <a:xfrm>
            <a:off x="4663440" y="1554480"/>
            <a:ext cx="2743200" cy="365760"/>
          </a:xfrm>
          <a:prstGeom prst="rect">
            <a:avLst/>
          </a:prstGeom>
          <a:noFill/>
          <a:ln/>
        </p:spPr>
        <p:txBody>
          <a:bodyPr wrap="square" lIns="0" tIns="0" rIns="0" bIns="0" rtlCol="0" anchor="t"/>
          <a:lstStyle/>
          <a:p>
            <a:pPr indent="0" marL="0">
              <a:buNone/>
            </a:pPr>
            <a:r>
              <a:rPr lang="en-US" sz="1800" b="1" dirty="0">
                <a:solidFill>
                  <a:schemeClr val="bg1"/>
                </a:solidFill>
              </a:rPr>
              <a:t>Manage closely</a:t>
            </a:r>
            <a:endParaRPr lang="en-US" sz="1800" dirty="0"/>
          </a:p>
        </p:txBody>
      </p:sp>
      <p:sp>
        <p:nvSpPr>
          <p:cNvPr id="8" name="Text 6"/>
          <p:cNvSpPr txBox="1"/>
          <p:nvPr/>
        </p:nvSpPr>
        <p:spPr>
          <a:xfrm>
            <a:off x="4663440" y="2011680"/>
            <a:ext cx="2743200" cy="1371600"/>
          </a:xfrm>
          <a:prstGeom prst="rect">
            <a:avLst/>
          </a:prstGeom>
          <a:noFill/>
          <a:ln/>
        </p:spPr>
        <p:txBody>
          <a:bodyPr wrap="square" lIns="0" tIns="0" rIns="0" bIns="0" rtlCol="0" anchor="t"/>
          <a:lstStyle/>
          <a:p>
            <a:pPr indent="0" marL="0">
              <a:buNone/>
            </a:pPr>
            <a:r>
              <a:rPr lang="en-US" sz="1400" dirty="0">
                <a:solidFill>
                  <a:schemeClr val="bg1"/>
                </a:solidFill>
              </a:rPr>
              <a:t>National DRR and hydromet authorities, local and district government, police, system admins</a:t>
            </a:r>
            <a:endParaRPr lang="en-US" sz="1400" dirty="0"/>
          </a:p>
        </p:txBody>
      </p:sp>
      <p:sp>
        <p:nvSpPr>
          <p:cNvPr id="9" name="Shape 7"/>
          <p:cNvSpPr/>
          <p:nvPr/>
        </p:nvSpPr>
        <p:spPr>
          <a:xfrm>
            <a:off x="1097280" y="3703320"/>
            <a:ext cx="3200400" cy="2240280"/>
          </a:xfrm>
          <a:prstGeom prst="roundRect">
            <a:avLst>
              <a:gd name="adj" fmla="val 3265"/>
            </a:avLst>
          </a:prstGeom>
          <a:solidFill>
            <a:schemeClr val="bg2"/>
          </a:solidFill>
          <a:ln w="12700">
            <a:solidFill>
              <a:schemeClr val="bg2"/>
            </a:solidFill>
            <a:prstDash val="solid"/>
          </a:ln>
        </p:spPr>
      </p:sp>
      <p:sp>
        <p:nvSpPr>
          <p:cNvPr id="10" name="Text 8"/>
          <p:cNvSpPr txBox="1"/>
          <p:nvPr/>
        </p:nvSpPr>
        <p:spPr>
          <a:xfrm>
            <a:off x="1325880" y="3931920"/>
            <a:ext cx="2743200" cy="365760"/>
          </a:xfrm>
          <a:prstGeom prst="rect">
            <a:avLst/>
          </a:prstGeom>
          <a:noFill/>
          <a:ln/>
        </p:spPr>
        <p:txBody>
          <a:bodyPr wrap="square" lIns="0" tIns="0" rIns="0" bIns="0" rtlCol="0" anchor="t"/>
          <a:lstStyle/>
          <a:p>
            <a:pPr indent="0" marL="0">
              <a:buNone/>
            </a:pPr>
            <a:r>
              <a:rPr lang="en-US" sz="1800" b="1" dirty="0">
                <a:solidFill>
                  <a:schemeClr val="tx2"/>
                </a:solidFill>
              </a:rPr>
              <a:t>Monitor</a:t>
            </a:r>
            <a:endParaRPr lang="en-US" sz="1800" dirty="0"/>
          </a:p>
        </p:txBody>
      </p:sp>
      <p:sp>
        <p:nvSpPr>
          <p:cNvPr id="11" name="Text 9"/>
          <p:cNvSpPr txBox="1"/>
          <p:nvPr/>
        </p:nvSpPr>
        <p:spPr>
          <a:xfrm>
            <a:off x="1325880" y="4389120"/>
            <a:ext cx="2743200" cy="1371600"/>
          </a:xfrm>
          <a:prstGeom prst="rect">
            <a:avLst/>
          </a:prstGeom>
          <a:noFill/>
          <a:ln/>
        </p:spPr>
        <p:txBody>
          <a:bodyPr wrap="square" lIns="0" tIns="0" rIns="0" bIns="0" rtlCol="0" anchor="t"/>
          <a:lstStyle/>
          <a:p>
            <a:pPr indent="0" marL="0">
              <a:buNone/>
            </a:pPr>
            <a:r>
              <a:rPr lang="en-US" sz="1400" dirty="0">
                <a:solidFill>
                  <a:schemeClr val="tx1"/>
                </a:solidFill>
              </a:rPr>
              <a:t>Tourists, external data providers</a:t>
            </a:r>
            <a:endParaRPr lang="en-US" sz="1400" dirty="0"/>
          </a:p>
        </p:txBody>
      </p:sp>
      <p:sp>
        <p:nvSpPr>
          <p:cNvPr id="12" name="Shape 10"/>
          <p:cNvSpPr/>
          <p:nvPr/>
        </p:nvSpPr>
        <p:spPr>
          <a:xfrm>
            <a:off x="4434840" y="3703320"/>
            <a:ext cx="3200400" cy="2240280"/>
          </a:xfrm>
          <a:prstGeom prst="roundRect">
            <a:avLst>
              <a:gd name="adj" fmla="val 3265"/>
            </a:avLst>
          </a:prstGeom>
          <a:solidFill>
            <a:schemeClr val="bg2"/>
          </a:solidFill>
          <a:ln w="12700">
            <a:solidFill>
              <a:schemeClr val="bg2"/>
            </a:solidFill>
            <a:prstDash val="solid"/>
          </a:ln>
        </p:spPr>
      </p:sp>
      <p:sp>
        <p:nvSpPr>
          <p:cNvPr id="13" name="Text 11"/>
          <p:cNvSpPr txBox="1"/>
          <p:nvPr/>
        </p:nvSpPr>
        <p:spPr>
          <a:xfrm>
            <a:off x="4663440" y="3931920"/>
            <a:ext cx="2743200" cy="365760"/>
          </a:xfrm>
          <a:prstGeom prst="rect">
            <a:avLst/>
          </a:prstGeom>
          <a:noFill/>
          <a:ln/>
        </p:spPr>
        <p:txBody>
          <a:bodyPr wrap="square" lIns="0" tIns="0" rIns="0" bIns="0" rtlCol="0" anchor="t"/>
          <a:lstStyle/>
          <a:p>
            <a:pPr indent="0" marL="0">
              <a:buNone/>
            </a:pPr>
            <a:r>
              <a:rPr lang="en-US" sz="1800" b="1" dirty="0">
                <a:solidFill>
                  <a:schemeClr val="tx2"/>
                </a:solidFill>
              </a:rPr>
              <a:t>Keep informed</a:t>
            </a:r>
            <a:endParaRPr lang="en-US" sz="1800" dirty="0"/>
          </a:p>
        </p:txBody>
      </p:sp>
      <p:sp>
        <p:nvSpPr>
          <p:cNvPr id="14" name="Text 12"/>
          <p:cNvSpPr txBox="1"/>
          <p:nvPr/>
        </p:nvSpPr>
        <p:spPr>
          <a:xfrm>
            <a:off x="4663440" y="4389120"/>
            <a:ext cx="2743200" cy="1371600"/>
          </a:xfrm>
          <a:prstGeom prst="rect">
            <a:avLst/>
          </a:prstGeom>
          <a:noFill/>
          <a:ln/>
        </p:spPr>
        <p:txBody>
          <a:bodyPr wrap="square" lIns="0" tIns="0" rIns="0" bIns="0" rtlCol="0" anchor="t"/>
          <a:lstStyle/>
          <a:p>
            <a:pPr indent="0" marL="0">
              <a:buNone/>
            </a:pPr>
            <a:r>
              <a:rPr lang="en-US" sz="1400" dirty="0">
                <a:solidFill>
                  <a:schemeClr val="tx1"/>
                </a:solidFill>
              </a:rPr>
              <a:t>NGOs, volunteers, hospitals — and at-risk residents ↑</a:t>
            </a:r>
            <a:endParaRPr lang="en-US" sz="1400" dirty="0"/>
          </a:p>
        </p:txBody>
      </p:sp>
      <p:sp>
        <p:nvSpPr>
          <p:cNvPr id="15" name="Text 13"/>
          <p:cNvSpPr txBox="1"/>
          <p:nvPr/>
        </p:nvSpPr>
        <p:spPr>
          <a:xfrm rot="16200000">
            <a:off x="320040" y="3108960"/>
            <a:ext cx="731520" cy="274320"/>
          </a:xfrm>
          <a:prstGeom prst="rect">
            <a:avLst/>
          </a:prstGeom>
          <a:noFill/>
          <a:ln/>
        </p:spPr>
        <p:txBody>
          <a:bodyPr wrap="square" lIns="0" tIns="0" rIns="0" bIns="0" rtlCol="0" anchor="t"/>
          <a:lstStyle/>
          <a:p>
            <a:pPr indent="0" marL="0">
              <a:buNone/>
            </a:pPr>
            <a:r>
              <a:rPr lang="en-US" sz="1200" dirty="0">
                <a:solidFill>
                  <a:schemeClr val="accent6"/>
                </a:solidFill>
              </a:rPr>
              <a:t>Power →</a:t>
            </a:r>
            <a:endParaRPr lang="en-US" sz="1200" dirty="0"/>
          </a:p>
        </p:txBody>
      </p:sp>
      <p:sp>
        <p:nvSpPr>
          <p:cNvPr id="16" name="Text 14"/>
          <p:cNvSpPr txBox="1"/>
          <p:nvPr/>
        </p:nvSpPr>
        <p:spPr>
          <a:xfrm>
            <a:off x="1097280" y="6080760"/>
            <a:ext cx="6537960" cy="274320"/>
          </a:xfrm>
          <a:prstGeom prst="rect">
            <a:avLst/>
          </a:prstGeom>
          <a:noFill/>
          <a:ln/>
        </p:spPr>
        <p:txBody>
          <a:bodyPr wrap="square" lIns="0" tIns="0" rIns="0" bIns="0" rtlCol="0" anchor="t"/>
          <a:lstStyle/>
          <a:p>
            <a:pPr algn="ctr" indent="0" marL="0">
              <a:buNone/>
            </a:pPr>
            <a:r>
              <a:rPr lang="en-US" sz="1200" dirty="0">
                <a:solidFill>
                  <a:schemeClr val="accent6"/>
                </a:solidFill>
              </a:rPr>
              <a:t>Interest →</a:t>
            </a:r>
            <a:endParaRPr lang="en-US" sz="1200" dirty="0"/>
          </a:p>
        </p:txBody>
      </p:sp>
      <p:sp>
        <p:nvSpPr>
          <p:cNvPr id="17" name="Shape 15"/>
          <p:cNvSpPr/>
          <p:nvPr/>
        </p:nvSpPr>
        <p:spPr>
          <a:xfrm>
            <a:off x="8001000" y="1325880"/>
            <a:ext cx="3611880" cy="4617720"/>
          </a:xfrm>
          <a:prstGeom prst="roundRect">
            <a:avLst>
              <a:gd name="adj" fmla="val 2025"/>
            </a:avLst>
          </a:prstGeom>
          <a:solidFill>
            <a:schemeClr val="tx2"/>
          </a:solidFill>
          <a:ln w="12700">
            <a:solidFill>
              <a:schemeClr val="tx2"/>
            </a:solidFill>
            <a:prstDash val="solid"/>
          </a:ln>
        </p:spPr>
      </p:sp>
      <p:sp>
        <p:nvSpPr>
          <p:cNvPr id="18" name="Shape 16"/>
          <p:cNvSpPr/>
          <p:nvPr/>
        </p:nvSpPr>
        <p:spPr>
          <a:xfrm>
            <a:off x="8275320" y="1600200"/>
            <a:ext cx="548640" cy="548640"/>
          </a:xfrm>
          <a:prstGeom prst="ellipse">
            <a:avLst/>
          </a:prstGeom>
          <a:solidFill>
            <a:schemeClr val="accent2"/>
          </a:solidFill>
          <a:ln w="12700">
            <a:solidFill>
              <a:schemeClr val="accent2"/>
            </a:solidFill>
            <a:prstDash val="solid"/>
          </a:ln>
        </p:spPr>
      </p:sp>
      <p:pic>
        <p:nvPicPr>
          <p:cNvPr id="19" name="Image 0" descr="preencoded.png">    </p:cNvPr>
          <p:cNvPicPr>
            <a:picLocks noChangeAspect="1"/>
          </p:cNvPicPr>
          <p:nvPr/>
        </p:nvPicPr>
        <p:blipFill>
          <a:blip r:embed="rId1"/>
          <a:stretch>
            <a:fillRect/>
          </a:stretch>
        </p:blipFill>
        <p:spPr>
          <a:xfrm>
            <a:off x="8406994" y="1731874"/>
            <a:ext cx="285293" cy="285293"/>
          </a:xfrm>
          <a:prstGeom prst="rect">
            <a:avLst/>
          </a:prstGeom>
        </p:spPr>
      </p:pic>
      <p:sp>
        <p:nvSpPr>
          <p:cNvPr id="20" name="Text 17"/>
          <p:cNvSpPr txBox="1"/>
          <p:nvPr/>
        </p:nvSpPr>
        <p:spPr>
          <a:xfrm>
            <a:off x="8275320" y="2331720"/>
            <a:ext cx="3108960" cy="365760"/>
          </a:xfrm>
          <a:prstGeom prst="rect">
            <a:avLst/>
          </a:prstGeom>
          <a:noFill/>
          <a:ln/>
        </p:spPr>
        <p:txBody>
          <a:bodyPr wrap="square" lIns="0" tIns="0" rIns="0" bIns="0" rtlCol="0" anchor="t"/>
          <a:lstStyle/>
          <a:p>
            <a:pPr indent="0" marL="0">
              <a:buNone/>
            </a:pPr>
            <a:r>
              <a:rPr lang="en-US" sz="1800" b="1" dirty="0">
                <a:solidFill>
                  <a:schemeClr val="bg1"/>
                </a:solidFill>
              </a:rPr>
              <a:t>Ethical override [D]</a:t>
            </a:r>
            <a:endParaRPr lang="en-US" sz="1800" dirty="0"/>
          </a:p>
        </p:txBody>
      </p:sp>
      <p:sp>
        <p:nvSpPr>
          <p:cNvPr id="21" name="Text 18"/>
          <p:cNvSpPr txBox="1"/>
          <p:nvPr/>
        </p:nvSpPr>
        <p:spPr>
          <a:xfrm>
            <a:off x="8275320" y="2788920"/>
            <a:ext cx="3108960" cy="2926080"/>
          </a:xfrm>
          <a:prstGeom prst="rect">
            <a:avLst/>
          </a:prstGeom>
          <a:noFill/>
          <a:ln/>
        </p:spPr>
        <p:txBody>
          <a:bodyPr wrap="square" lIns="0" tIns="0" rIns="0" bIns="0" rtlCol="0" anchor="t"/>
          <a:lstStyle/>
          <a:p>
            <a:pPr indent="0" marL="0">
              <a:buNone/>
            </a:pPr>
            <a:r>
              <a:rPr lang="en-US" sz="1400" dirty="0">
                <a:solidFill>
                  <a:schemeClr val="bg2"/>
                </a:solidFill>
              </a:rPr>
              <a:t>At-risk residents have little formal power but the highest stake: their lives. They are treated as “manage closely” for elicitation and validation — interviews, questionnaires and usability tests focus on them.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Stakeholder needs (StRS level)</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5349240" cy="914400"/>
        </p:xfrm>
        <a:graphic>
          <a:graphicData uri="http://schemas.openxmlformats.org/drawingml/2006/table">
            <a:tbl>
              <a:tblPr/>
              <a:tblGrid>
                <a:gridCol w="868680"/>
                <a:gridCol w="2971800"/>
                <a:gridCol w="1508760"/>
              </a:tblGrid>
              <a:tr h="512064">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Need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Who</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chemeClr val="accent1"/>
                          </a:solidFill>
                        </a:rPr>
                        <a:t>STK-01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Know early when my area may flood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6"/>
                          </a:solidFill>
                        </a:rPr>
                        <a:t>Residents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accent1"/>
                          </a:solidFill>
                        </a:rPr>
                        <a:t>STK-02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Understand it in my language and ability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Residents, PwD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accent1"/>
                          </a:solidFill>
                        </a:rPr>
                        <a:t>STK-03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Get warnings without smartphone or data</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6"/>
                          </a:solidFill>
                        </a:rPr>
                        <a:t>Feature-phone users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accent1"/>
                          </a:solidFill>
                        </a:rPr>
                        <a:t>STK-04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Know where to go and how, safely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Residents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accent1"/>
                          </a:solidFill>
                        </a:rPr>
                        <a:t>STK-05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Report what I see; ask for help</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6"/>
                          </a:solidFill>
                        </a:rPr>
                        <a:t>Residents, volunteers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accent1"/>
                          </a:solidFill>
                        </a:rPr>
                        <a:t>STK-06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Trustworthy risk picture per jurisdiction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Authorities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accent1"/>
                          </a:solidFill>
                        </a:rPr>
                        <a:t>STK-07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Final say over high-impact warnings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6"/>
                          </a:solidFill>
                        </a:rPr>
                        <a:t>Authorities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accent1"/>
                          </a:solidFill>
                        </a:rPr>
                        <a:t>STK-08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voice; never contradict official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Hydromet, DRR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263640" y="1280160"/>
          <a:ext cx="5349240" cy="914400"/>
        </p:xfrm>
        <a:graphic>
          <a:graphicData uri="http://schemas.openxmlformats.org/drawingml/2006/table">
            <a:tbl>
              <a:tblPr/>
              <a:tblGrid>
                <a:gridCol w="868680"/>
                <a:gridCol w="2971800"/>
                <a:gridCol w="1508760"/>
              </a:tblGrid>
              <a:tr h="512064">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Need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Who</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chemeClr val="accent1"/>
                          </a:solidFill>
                        </a:rPr>
                        <a:t>STK-09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Know if warnings reached people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6"/>
                          </a:solidFill>
                        </a:rPr>
                        <a:t>Authorities, SAR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accent1"/>
                          </a:solidFill>
                        </a:rPr>
                        <a:t>STK-10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Current shelter and road information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Shelter mgrs, police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accent1"/>
                          </a:solidFill>
                        </a:rPr>
                        <a:t>STK-11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Personal data not misused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6"/>
                          </a:solidFill>
                        </a:rPr>
                        <a:t>Citizens, NGOs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accent1"/>
                          </a:solidFill>
                        </a:rPr>
                        <a:t>STK-12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fake warnings possible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All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accent1"/>
                          </a:solidFill>
                        </a:rPr>
                        <a:t>STK-13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Configure areas without developers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6"/>
                          </a:solidFill>
                        </a:rPr>
                        <a:t>Admins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accent1"/>
                          </a:solidFill>
                        </a:rPr>
                        <a:t>STK-14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Add hazards without redesign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DRR auth., devs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accent1"/>
                          </a:solidFill>
                        </a:rPr>
                        <a:t>STK-15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Keep working when infrastructure fails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6"/>
                          </a:solidFill>
                        </a:rPr>
                        <a:t>All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accent1"/>
                          </a:solidFill>
                        </a:rPr>
                        <a:t>STK-16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Evidence to learn after each event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DRR, hydromet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Goal model: from impact to requirements</a:t>
            </a:r>
            <a:endParaRPr lang="en-US" sz="3200" dirty="0"/>
          </a:p>
        </p:txBody>
      </p:sp>
      <p:sp>
        <p:nvSpPr>
          <p:cNvPr id="3" name="Shape 1"/>
          <p:cNvSpPr/>
          <p:nvPr/>
        </p:nvSpPr>
        <p:spPr>
          <a:xfrm>
            <a:off x="3566160" y="1280160"/>
            <a:ext cx="5074920" cy="777240"/>
          </a:xfrm>
          <a:prstGeom prst="roundRect">
            <a:avLst>
              <a:gd name="adj" fmla="val 9412"/>
            </a:avLst>
          </a:prstGeom>
          <a:solidFill>
            <a:schemeClr val="tx2"/>
          </a:solidFill>
          <a:ln w="12700">
            <a:solidFill>
              <a:schemeClr val="tx2"/>
            </a:solidFill>
            <a:prstDash val="solid"/>
          </a:ln>
        </p:spPr>
      </p:sp>
      <p:sp>
        <p:nvSpPr>
          <p:cNvPr id="4" name="Text 2"/>
          <p:cNvSpPr txBox="1"/>
          <p:nvPr/>
        </p:nvSpPr>
        <p:spPr>
          <a:xfrm>
            <a:off x="3566160" y="1280160"/>
            <a:ext cx="5074920" cy="777240"/>
          </a:xfrm>
          <a:prstGeom prst="rect">
            <a:avLst/>
          </a:prstGeom>
          <a:noFill/>
          <a:ln/>
        </p:spPr>
        <p:txBody>
          <a:bodyPr wrap="square" lIns="0" tIns="0" rIns="0" bIns="0" rtlCol="0" anchor="ctr"/>
          <a:lstStyle/>
          <a:p>
            <a:pPr algn="ctr" indent="0" marL="0">
              <a:buNone/>
            </a:pPr>
            <a:r>
              <a:rPr lang="en-US" sz="1800" b="1" dirty="0">
                <a:solidFill>
                  <a:schemeClr val="bg1"/>
                </a:solidFill>
              </a:rPr>
              <a:t>G0  Reduce human impact of floods</a:t>
            </a:r>
            <a:endParaRPr lang="en-US" sz="1800" dirty="0"/>
          </a:p>
        </p:txBody>
      </p:sp>
      <p:sp>
        <p:nvSpPr>
          <p:cNvPr id="5" name="Shape 3"/>
          <p:cNvSpPr/>
          <p:nvPr/>
        </p:nvSpPr>
        <p:spPr>
          <a:xfrm>
            <a:off x="1197864" y="2514600"/>
            <a:ext cx="9729216" cy="0"/>
          </a:xfrm>
          <a:prstGeom prst="line">
            <a:avLst/>
          </a:prstGeom>
          <a:noFill/>
          <a:ln w="15875">
            <a:solidFill>
              <a:schemeClr val="accent6"/>
            </a:solidFill>
            <a:prstDash val="solid"/>
          </a:ln>
        </p:spPr>
      </p:sp>
      <p:sp>
        <p:nvSpPr>
          <p:cNvPr id="6" name="Shape 4"/>
          <p:cNvSpPr/>
          <p:nvPr/>
        </p:nvSpPr>
        <p:spPr>
          <a:xfrm>
            <a:off x="6103620" y="2057400"/>
            <a:ext cx="0" cy="457200"/>
          </a:xfrm>
          <a:prstGeom prst="line">
            <a:avLst/>
          </a:prstGeom>
          <a:noFill/>
          <a:ln w="15875">
            <a:solidFill>
              <a:schemeClr val="accent6"/>
            </a:solidFill>
            <a:prstDash val="solid"/>
          </a:ln>
        </p:spPr>
      </p:sp>
      <p:sp>
        <p:nvSpPr>
          <p:cNvPr id="7" name="Shape 5"/>
          <p:cNvSpPr/>
          <p:nvPr/>
        </p:nvSpPr>
        <p:spPr>
          <a:xfrm>
            <a:off x="1197864" y="2514600"/>
            <a:ext cx="0" cy="320040"/>
          </a:xfrm>
          <a:prstGeom prst="line">
            <a:avLst/>
          </a:prstGeom>
          <a:noFill/>
          <a:ln w="15875">
            <a:solidFill>
              <a:schemeClr val="accent6"/>
            </a:solidFill>
            <a:prstDash val="solid"/>
          </a:ln>
        </p:spPr>
      </p:sp>
      <p:sp>
        <p:nvSpPr>
          <p:cNvPr id="8" name="Shape 6"/>
          <p:cNvSpPr/>
          <p:nvPr/>
        </p:nvSpPr>
        <p:spPr>
          <a:xfrm>
            <a:off x="548640" y="2834640"/>
            <a:ext cx="1298448" cy="1600200"/>
          </a:xfrm>
          <a:prstGeom prst="roundRect">
            <a:avLst>
              <a:gd name="adj" fmla="val 5634"/>
            </a:avLst>
          </a:prstGeom>
          <a:solidFill>
            <a:schemeClr val="bg2"/>
          </a:solidFill>
          <a:ln w="12700">
            <a:solidFill>
              <a:schemeClr val="bg2"/>
            </a:solidFill>
            <a:prstDash val="solid"/>
          </a:ln>
        </p:spPr>
      </p:sp>
      <p:sp>
        <p:nvSpPr>
          <p:cNvPr id="9" name="Text 7"/>
          <p:cNvSpPr txBox="1"/>
          <p:nvPr/>
        </p:nvSpPr>
        <p:spPr>
          <a:xfrm>
            <a:off x="640080" y="2926080"/>
            <a:ext cx="1115568" cy="320040"/>
          </a:xfrm>
          <a:prstGeom prst="rect">
            <a:avLst/>
          </a:prstGeom>
          <a:noFill/>
          <a:ln/>
        </p:spPr>
        <p:txBody>
          <a:bodyPr wrap="square" lIns="0" tIns="0" rIns="0" bIns="0" rtlCol="0" anchor="t"/>
          <a:lstStyle/>
          <a:p>
            <a:pPr algn="ctr" indent="0" marL="0">
              <a:buNone/>
            </a:pPr>
            <a:r>
              <a:rPr lang="en-US" sz="1800" b="1" dirty="0">
                <a:solidFill>
                  <a:schemeClr val="accent1"/>
                </a:solidFill>
              </a:rPr>
              <a:t>G1</a:t>
            </a:r>
            <a:endParaRPr lang="en-US" sz="1800" dirty="0"/>
          </a:p>
        </p:txBody>
      </p:sp>
      <p:sp>
        <p:nvSpPr>
          <p:cNvPr id="10" name="Text 8"/>
          <p:cNvSpPr txBox="1"/>
          <p:nvPr/>
        </p:nvSpPr>
        <p:spPr>
          <a:xfrm>
            <a:off x="640080" y="3291840"/>
            <a:ext cx="1115568" cy="1005840"/>
          </a:xfrm>
          <a:prstGeom prst="rect">
            <a:avLst/>
          </a:prstGeom>
          <a:noFill/>
          <a:ln/>
        </p:spPr>
        <p:txBody>
          <a:bodyPr wrap="square" lIns="0" tIns="0" rIns="0" bIns="0" rtlCol="0" anchor="t"/>
          <a:lstStyle/>
          <a:p>
            <a:pPr algn="ctr" indent="0" marL="0">
              <a:buNone/>
            </a:pPr>
            <a:r>
              <a:rPr lang="en-US" sz="1400" dirty="0">
                <a:solidFill>
                  <a:schemeClr val="tx1"/>
                </a:solidFill>
              </a:rPr>
              <a:t>Know the risk early</a:t>
            </a:r>
            <a:endParaRPr lang="en-US" sz="1400" dirty="0"/>
          </a:p>
        </p:txBody>
      </p:sp>
      <p:sp>
        <p:nvSpPr>
          <p:cNvPr id="11" name="Text 9"/>
          <p:cNvSpPr txBox="1"/>
          <p:nvPr/>
        </p:nvSpPr>
        <p:spPr>
          <a:xfrm>
            <a:off x="548640" y="4526280"/>
            <a:ext cx="1298448" cy="274320"/>
          </a:xfrm>
          <a:prstGeom prst="rect">
            <a:avLst/>
          </a:prstGeom>
          <a:noFill/>
          <a:ln/>
        </p:spPr>
        <p:txBody>
          <a:bodyPr wrap="square" lIns="0" tIns="0" rIns="0" bIns="0" rtlCol="0" anchor="t"/>
          <a:lstStyle/>
          <a:p>
            <a:pPr algn="ctr" indent="0" marL="0">
              <a:buNone/>
            </a:pPr>
            <a:r>
              <a:rPr lang="en-US" sz="1200" dirty="0">
                <a:solidFill>
                  <a:schemeClr val="accent6"/>
                </a:solidFill>
              </a:rPr>
              <a:t>FR-01–10</a:t>
            </a:r>
            <a:endParaRPr lang="en-US" sz="1200" dirty="0"/>
          </a:p>
        </p:txBody>
      </p:sp>
      <p:sp>
        <p:nvSpPr>
          <p:cNvPr id="12" name="Shape 10"/>
          <p:cNvSpPr/>
          <p:nvPr/>
        </p:nvSpPr>
        <p:spPr>
          <a:xfrm>
            <a:off x="2587752" y="2514600"/>
            <a:ext cx="0" cy="320040"/>
          </a:xfrm>
          <a:prstGeom prst="line">
            <a:avLst/>
          </a:prstGeom>
          <a:noFill/>
          <a:ln w="15875">
            <a:solidFill>
              <a:schemeClr val="accent6"/>
            </a:solidFill>
            <a:prstDash val="solid"/>
          </a:ln>
        </p:spPr>
      </p:sp>
      <p:sp>
        <p:nvSpPr>
          <p:cNvPr id="13" name="Shape 11"/>
          <p:cNvSpPr/>
          <p:nvPr/>
        </p:nvSpPr>
        <p:spPr>
          <a:xfrm>
            <a:off x="1938528" y="2834640"/>
            <a:ext cx="1298448" cy="1600200"/>
          </a:xfrm>
          <a:prstGeom prst="roundRect">
            <a:avLst>
              <a:gd name="adj" fmla="val 5634"/>
            </a:avLst>
          </a:prstGeom>
          <a:solidFill>
            <a:schemeClr val="bg2"/>
          </a:solidFill>
          <a:ln w="12700">
            <a:solidFill>
              <a:schemeClr val="bg2"/>
            </a:solidFill>
            <a:prstDash val="solid"/>
          </a:ln>
        </p:spPr>
      </p:sp>
      <p:sp>
        <p:nvSpPr>
          <p:cNvPr id="14" name="Text 12"/>
          <p:cNvSpPr txBox="1"/>
          <p:nvPr/>
        </p:nvSpPr>
        <p:spPr>
          <a:xfrm>
            <a:off x="2029968" y="2926080"/>
            <a:ext cx="1115568" cy="320040"/>
          </a:xfrm>
          <a:prstGeom prst="rect">
            <a:avLst/>
          </a:prstGeom>
          <a:noFill/>
          <a:ln/>
        </p:spPr>
        <p:txBody>
          <a:bodyPr wrap="square" lIns="0" tIns="0" rIns="0" bIns="0" rtlCol="0" anchor="t"/>
          <a:lstStyle/>
          <a:p>
            <a:pPr algn="ctr" indent="0" marL="0">
              <a:buNone/>
            </a:pPr>
            <a:r>
              <a:rPr lang="en-US" sz="1800" b="1" dirty="0">
                <a:solidFill>
                  <a:schemeClr val="accent1"/>
                </a:solidFill>
              </a:rPr>
              <a:t>G2</a:t>
            </a:r>
            <a:endParaRPr lang="en-US" sz="1800" dirty="0"/>
          </a:p>
        </p:txBody>
      </p:sp>
      <p:sp>
        <p:nvSpPr>
          <p:cNvPr id="15" name="Text 13"/>
          <p:cNvSpPr txBox="1"/>
          <p:nvPr/>
        </p:nvSpPr>
        <p:spPr>
          <a:xfrm>
            <a:off x="2029968" y="3291840"/>
            <a:ext cx="1115568" cy="1005840"/>
          </a:xfrm>
          <a:prstGeom prst="rect">
            <a:avLst/>
          </a:prstGeom>
          <a:noFill/>
          <a:ln/>
        </p:spPr>
        <p:txBody>
          <a:bodyPr wrap="square" lIns="0" tIns="0" rIns="0" bIns="0" rtlCol="0" anchor="t"/>
          <a:lstStyle/>
          <a:p>
            <a:pPr algn="ctr" indent="0" marL="0">
              <a:buNone/>
            </a:pPr>
            <a:r>
              <a:rPr lang="en-US" sz="1400" dirty="0">
                <a:solidFill>
                  <a:schemeClr val="tx1"/>
                </a:solidFill>
              </a:rPr>
              <a:t>Assess risk per area</a:t>
            </a:r>
            <a:endParaRPr lang="en-US" sz="1400" dirty="0"/>
          </a:p>
        </p:txBody>
      </p:sp>
      <p:sp>
        <p:nvSpPr>
          <p:cNvPr id="16" name="Text 14"/>
          <p:cNvSpPr txBox="1"/>
          <p:nvPr/>
        </p:nvSpPr>
        <p:spPr>
          <a:xfrm>
            <a:off x="1938528" y="4526280"/>
            <a:ext cx="1298448" cy="274320"/>
          </a:xfrm>
          <a:prstGeom prst="rect">
            <a:avLst/>
          </a:prstGeom>
          <a:noFill/>
          <a:ln/>
        </p:spPr>
        <p:txBody>
          <a:bodyPr wrap="square" lIns="0" tIns="0" rIns="0" bIns="0" rtlCol="0" anchor="t"/>
          <a:lstStyle/>
          <a:p>
            <a:pPr algn="ctr" indent="0" marL="0">
              <a:buNone/>
            </a:pPr>
            <a:r>
              <a:rPr lang="en-US" sz="1200" dirty="0">
                <a:solidFill>
                  <a:schemeClr val="accent6"/>
                </a:solidFill>
              </a:rPr>
              <a:t>FR-11–17</a:t>
            </a:r>
            <a:endParaRPr lang="en-US" sz="1200" dirty="0"/>
          </a:p>
        </p:txBody>
      </p:sp>
      <p:sp>
        <p:nvSpPr>
          <p:cNvPr id="17" name="Shape 15"/>
          <p:cNvSpPr/>
          <p:nvPr/>
        </p:nvSpPr>
        <p:spPr>
          <a:xfrm>
            <a:off x="3977640" y="2514600"/>
            <a:ext cx="0" cy="320040"/>
          </a:xfrm>
          <a:prstGeom prst="line">
            <a:avLst/>
          </a:prstGeom>
          <a:noFill/>
          <a:ln w="15875">
            <a:solidFill>
              <a:schemeClr val="accent6"/>
            </a:solidFill>
            <a:prstDash val="solid"/>
          </a:ln>
        </p:spPr>
      </p:sp>
      <p:sp>
        <p:nvSpPr>
          <p:cNvPr id="18" name="Shape 16"/>
          <p:cNvSpPr/>
          <p:nvPr/>
        </p:nvSpPr>
        <p:spPr>
          <a:xfrm>
            <a:off x="3328416" y="2834640"/>
            <a:ext cx="1298448" cy="1600200"/>
          </a:xfrm>
          <a:prstGeom prst="roundRect">
            <a:avLst>
              <a:gd name="adj" fmla="val 5634"/>
            </a:avLst>
          </a:prstGeom>
          <a:solidFill>
            <a:schemeClr val="bg2"/>
          </a:solidFill>
          <a:ln w="12700">
            <a:solidFill>
              <a:schemeClr val="bg2"/>
            </a:solidFill>
            <a:prstDash val="solid"/>
          </a:ln>
        </p:spPr>
      </p:sp>
      <p:sp>
        <p:nvSpPr>
          <p:cNvPr id="19" name="Text 17"/>
          <p:cNvSpPr txBox="1"/>
          <p:nvPr/>
        </p:nvSpPr>
        <p:spPr>
          <a:xfrm>
            <a:off x="3419856" y="2926080"/>
            <a:ext cx="1115568" cy="320040"/>
          </a:xfrm>
          <a:prstGeom prst="rect">
            <a:avLst/>
          </a:prstGeom>
          <a:noFill/>
          <a:ln/>
        </p:spPr>
        <p:txBody>
          <a:bodyPr wrap="square" lIns="0" tIns="0" rIns="0" bIns="0" rtlCol="0" anchor="t"/>
          <a:lstStyle/>
          <a:p>
            <a:pPr algn="ctr" indent="0" marL="0">
              <a:buNone/>
            </a:pPr>
            <a:r>
              <a:rPr lang="en-US" sz="1800" b="1" dirty="0">
                <a:solidFill>
                  <a:schemeClr val="accent1"/>
                </a:solidFill>
              </a:rPr>
              <a:t>G3</a:t>
            </a:r>
            <a:endParaRPr lang="en-US" sz="1800" dirty="0"/>
          </a:p>
        </p:txBody>
      </p:sp>
      <p:sp>
        <p:nvSpPr>
          <p:cNvPr id="20" name="Text 18"/>
          <p:cNvSpPr txBox="1"/>
          <p:nvPr/>
        </p:nvSpPr>
        <p:spPr>
          <a:xfrm>
            <a:off x="3419856" y="3291840"/>
            <a:ext cx="1115568" cy="1005840"/>
          </a:xfrm>
          <a:prstGeom prst="rect">
            <a:avLst/>
          </a:prstGeom>
          <a:noFill/>
          <a:ln/>
        </p:spPr>
        <p:txBody>
          <a:bodyPr wrap="square" lIns="0" tIns="0" rIns="0" bIns="0" rtlCol="0" anchor="t"/>
          <a:lstStyle/>
          <a:p>
            <a:pPr algn="ctr" indent="0" marL="0">
              <a:buNone/>
            </a:pPr>
            <a:r>
              <a:rPr lang="en-US" sz="1400" dirty="0">
                <a:solidFill>
                  <a:schemeClr val="tx1"/>
                </a:solidFill>
              </a:rPr>
              <a:t>Warn the right people</a:t>
            </a:r>
            <a:endParaRPr lang="en-US" sz="1400" dirty="0"/>
          </a:p>
        </p:txBody>
      </p:sp>
      <p:sp>
        <p:nvSpPr>
          <p:cNvPr id="21" name="Text 19"/>
          <p:cNvSpPr txBox="1"/>
          <p:nvPr/>
        </p:nvSpPr>
        <p:spPr>
          <a:xfrm>
            <a:off x="3328416" y="4526280"/>
            <a:ext cx="1298448" cy="274320"/>
          </a:xfrm>
          <a:prstGeom prst="rect">
            <a:avLst/>
          </a:prstGeom>
          <a:noFill/>
          <a:ln/>
        </p:spPr>
        <p:txBody>
          <a:bodyPr wrap="square" lIns="0" tIns="0" rIns="0" bIns="0" rtlCol="0" anchor="t"/>
          <a:lstStyle/>
          <a:p>
            <a:pPr algn="ctr" indent="0" marL="0">
              <a:buNone/>
            </a:pPr>
            <a:r>
              <a:rPr lang="en-US" sz="1200" dirty="0">
                <a:solidFill>
                  <a:schemeClr val="accent6"/>
                </a:solidFill>
              </a:rPr>
              <a:t>FR-18–37</a:t>
            </a:r>
            <a:endParaRPr lang="en-US" sz="1200" dirty="0"/>
          </a:p>
        </p:txBody>
      </p:sp>
      <p:sp>
        <p:nvSpPr>
          <p:cNvPr id="22" name="Shape 20"/>
          <p:cNvSpPr/>
          <p:nvPr/>
        </p:nvSpPr>
        <p:spPr>
          <a:xfrm>
            <a:off x="5367528" y="2514600"/>
            <a:ext cx="0" cy="320040"/>
          </a:xfrm>
          <a:prstGeom prst="line">
            <a:avLst/>
          </a:prstGeom>
          <a:noFill/>
          <a:ln w="15875">
            <a:solidFill>
              <a:schemeClr val="accent6"/>
            </a:solidFill>
            <a:prstDash val="solid"/>
          </a:ln>
        </p:spPr>
      </p:sp>
      <p:sp>
        <p:nvSpPr>
          <p:cNvPr id="23" name="Shape 21"/>
          <p:cNvSpPr/>
          <p:nvPr/>
        </p:nvSpPr>
        <p:spPr>
          <a:xfrm>
            <a:off x="4718304" y="2834640"/>
            <a:ext cx="1298448" cy="1600200"/>
          </a:xfrm>
          <a:prstGeom prst="roundRect">
            <a:avLst>
              <a:gd name="adj" fmla="val 5634"/>
            </a:avLst>
          </a:prstGeom>
          <a:solidFill>
            <a:schemeClr val="bg2"/>
          </a:solidFill>
          <a:ln w="12700">
            <a:solidFill>
              <a:schemeClr val="bg2"/>
            </a:solidFill>
            <a:prstDash val="solid"/>
          </a:ln>
        </p:spPr>
      </p:sp>
      <p:sp>
        <p:nvSpPr>
          <p:cNvPr id="24" name="Text 22"/>
          <p:cNvSpPr txBox="1"/>
          <p:nvPr/>
        </p:nvSpPr>
        <p:spPr>
          <a:xfrm>
            <a:off x="4809744" y="2926080"/>
            <a:ext cx="1115568" cy="320040"/>
          </a:xfrm>
          <a:prstGeom prst="rect">
            <a:avLst/>
          </a:prstGeom>
          <a:noFill/>
          <a:ln/>
        </p:spPr>
        <p:txBody>
          <a:bodyPr wrap="square" lIns="0" tIns="0" rIns="0" bIns="0" rtlCol="0" anchor="t"/>
          <a:lstStyle/>
          <a:p>
            <a:pPr algn="ctr" indent="0" marL="0">
              <a:buNone/>
            </a:pPr>
            <a:r>
              <a:rPr lang="en-US" sz="1800" b="1" dirty="0">
                <a:solidFill>
                  <a:schemeClr val="accent1"/>
                </a:solidFill>
              </a:rPr>
              <a:t>G4</a:t>
            </a:r>
            <a:endParaRPr lang="en-US" sz="1800" dirty="0"/>
          </a:p>
        </p:txBody>
      </p:sp>
      <p:sp>
        <p:nvSpPr>
          <p:cNvPr id="25" name="Text 23"/>
          <p:cNvSpPr txBox="1"/>
          <p:nvPr/>
        </p:nvSpPr>
        <p:spPr>
          <a:xfrm>
            <a:off x="4809744" y="3291840"/>
            <a:ext cx="1115568" cy="1005840"/>
          </a:xfrm>
          <a:prstGeom prst="rect">
            <a:avLst/>
          </a:prstGeom>
          <a:noFill/>
          <a:ln/>
        </p:spPr>
        <p:txBody>
          <a:bodyPr wrap="square" lIns="0" tIns="0" rIns="0" bIns="0" rtlCol="0" anchor="t"/>
          <a:lstStyle/>
          <a:p>
            <a:pPr algn="ctr" indent="0" marL="0">
              <a:buNone/>
            </a:pPr>
            <a:r>
              <a:rPr lang="en-US" sz="1400" dirty="0">
                <a:solidFill>
                  <a:schemeClr val="tx1"/>
                </a:solidFill>
              </a:rPr>
              <a:t>Enable safe action</a:t>
            </a:r>
            <a:endParaRPr lang="en-US" sz="1400" dirty="0"/>
          </a:p>
        </p:txBody>
      </p:sp>
      <p:sp>
        <p:nvSpPr>
          <p:cNvPr id="26" name="Text 24"/>
          <p:cNvSpPr txBox="1"/>
          <p:nvPr/>
        </p:nvSpPr>
        <p:spPr>
          <a:xfrm>
            <a:off x="4718304" y="4526280"/>
            <a:ext cx="1298448" cy="274320"/>
          </a:xfrm>
          <a:prstGeom prst="rect">
            <a:avLst/>
          </a:prstGeom>
          <a:noFill/>
          <a:ln/>
        </p:spPr>
        <p:txBody>
          <a:bodyPr wrap="square" lIns="0" tIns="0" rIns="0" bIns="0" rtlCol="0" anchor="t"/>
          <a:lstStyle/>
          <a:p>
            <a:pPr algn="ctr" indent="0" marL="0">
              <a:buNone/>
            </a:pPr>
            <a:r>
              <a:rPr lang="en-US" sz="1200" dirty="0">
                <a:solidFill>
                  <a:schemeClr val="accent6"/>
                </a:solidFill>
              </a:rPr>
              <a:t>FR-38–46</a:t>
            </a:r>
            <a:endParaRPr lang="en-US" sz="1200" dirty="0"/>
          </a:p>
        </p:txBody>
      </p:sp>
      <p:sp>
        <p:nvSpPr>
          <p:cNvPr id="27" name="Shape 25"/>
          <p:cNvSpPr/>
          <p:nvPr/>
        </p:nvSpPr>
        <p:spPr>
          <a:xfrm>
            <a:off x="6757416" y="2514600"/>
            <a:ext cx="0" cy="320040"/>
          </a:xfrm>
          <a:prstGeom prst="line">
            <a:avLst/>
          </a:prstGeom>
          <a:noFill/>
          <a:ln w="15875">
            <a:solidFill>
              <a:schemeClr val="accent6"/>
            </a:solidFill>
            <a:prstDash val="solid"/>
          </a:ln>
        </p:spPr>
      </p:sp>
      <p:sp>
        <p:nvSpPr>
          <p:cNvPr id="28" name="Shape 26"/>
          <p:cNvSpPr/>
          <p:nvPr/>
        </p:nvSpPr>
        <p:spPr>
          <a:xfrm>
            <a:off x="6108192" y="2834640"/>
            <a:ext cx="1298448" cy="1600200"/>
          </a:xfrm>
          <a:prstGeom prst="roundRect">
            <a:avLst>
              <a:gd name="adj" fmla="val 5634"/>
            </a:avLst>
          </a:prstGeom>
          <a:solidFill>
            <a:schemeClr val="bg2"/>
          </a:solidFill>
          <a:ln w="12700">
            <a:solidFill>
              <a:schemeClr val="bg2"/>
            </a:solidFill>
            <a:prstDash val="solid"/>
          </a:ln>
        </p:spPr>
      </p:sp>
      <p:sp>
        <p:nvSpPr>
          <p:cNvPr id="29" name="Text 27"/>
          <p:cNvSpPr txBox="1"/>
          <p:nvPr/>
        </p:nvSpPr>
        <p:spPr>
          <a:xfrm>
            <a:off x="6199632" y="2926080"/>
            <a:ext cx="1115568" cy="320040"/>
          </a:xfrm>
          <a:prstGeom prst="rect">
            <a:avLst/>
          </a:prstGeom>
          <a:noFill/>
          <a:ln/>
        </p:spPr>
        <p:txBody>
          <a:bodyPr wrap="square" lIns="0" tIns="0" rIns="0" bIns="0" rtlCol="0" anchor="t"/>
          <a:lstStyle/>
          <a:p>
            <a:pPr algn="ctr" indent="0" marL="0">
              <a:buNone/>
            </a:pPr>
            <a:r>
              <a:rPr lang="en-US" sz="1800" b="1" dirty="0">
                <a:solidFill>
                  <a:schemeClr val="accent1"/>
                </a:solidFill>
              </a:rPr>
              <a:t>G5</a:t>
            </a:r>
            <a:endParaRPr lang="en-US" sz="1800" dirty="0"/>
          </a:p>
        </p:txBody>
      </p:sp>
      <p:sp>
        <p:nvSpPr>
          <p:cNvPr id="30" name="Text 28"/>
          <p:cNvSpPr txBox="1"/>
          <p:nvPr/>
        </p:nvSpPr>
        <p:spPr>
          <a:xfrm>
            <a:off x="6199632" y="3291840"/>
            <a:ext cx="1115568" cy="1005840"/>
          </a:xfrm>
          <a:prstGeom prst="rect">
            <a:avLst/>
          </a:prstGeom>
          <a:noFill/>
          <a:ln/>
        </p:spPr>
        <p:txBody>
          <a:bodyPr wrap="square" lIns="0" tIns="0" rIns="0" bIns="0" rtlCol="0" anchor="t"/>
          <a:lstStyle/>
          <a:p>
            <a:pPr algn="ctr" indent="0" marL="0">
              <a:buNone/>
            </a:pPr>
            <a:r>
              <a:rPr lang="en-US" sz="1400" dirty="0">
                <a:solidFill>
                  <a:schemeClr val="tx1"/>
                </a:solidFill>
              </a:rPr>
              <a:t>Coordinate authorities</a:t>
            </a:r>
            <a:endParaRPr lang="en-US" sz="1400" dirty="0"/>
          </a:p>
        </p:txBody>
      </p:sp>
      <p:sp>
        <p:nvSpPr>
          <p:cNvPr id="31" name="Text 29"/>
          <p:cNvSpPr txBox="1"/>
          <p:nvPr/>
        </p:nvSpPr>
        <p:spPr>
          <a:xfrm>
            <a:off x="6108192" y="4526280"/>
            <a:ext cx="1298448" cy="274320"/>
          </a:xfrm>
          <a:prstGeom prst="rect">
            <a:avLst/>
          </a:prstGeom>
          <a:noFill/>
          <a:ln/>
        </p:spPr>
        <p:txBody>
          <a:bodyPr wrap="square" lIns="0" tIns="0" rIns="0" bIns="0" rtlCol="0" anchor="t"/>
          <a:lstStyle/>
          <a:p>
            <a:pPr algn="ctr" indent="0" marL="0">
              <a:buNone/>
            </a:pPr>
            <a:r>
              <a:rPr lang="en-US" sz="1200" dirty="0">
                <a:solidFill>
                  <a:schemeClr val="accent6"/>
                </a:solidFill>
              </a:rPr>
              <a:t>FR-51–58</a:t>
            </a:r>
            <a:endParaRPr lang="en-US" sz="1200" dirty="0"/>
          </a:p>
        </p:txBody>
      </p:sp>
      <p:sp>
        <p:nvSpPr>
          <p:cNvPr id="32" name="Shape 30"/>
          <p:cNvSpPr/>
          <p:nvPr/>
        </p:nvSpPr>
        <p:spPr>
          <a:xfrm>
            <a:off x="8147304" y="2514600"/>
            <a:ext cx="0" cy="320040"/>
          </a:xfrm>
          <a:prstGeom prst="line">
            <a:avLst/>
          </a:prstGeom>
          <a:noFill/>
          <a:ln w="15875">
            <a:solidFill>
              <a:schemeClr val="accent6"/>
            </a:solidFill>
            <a:prstDash val="solid"/>
          </a:ln>
        </p:spPr>
      </p:sp>
      <p:sp>
        <p:nvSpPr>
          <p:cNvPr id="33" name="Shape 31"/>
          <p:cNvSpPr/>
          <p:nvPr/>
        </p:nvSpPr>
        <p:spPr>
          <a:xfrm>
            <a:off x="7498080" y="2834640"/>
            <a:ext cx="1298448" cy="1600200"/>
          </a:xfrm>
          <a:prstGeom prst="roundRect">
            <a:avLst>
              <a:gd name="adj" fmla="val 5634"/>
            </a:avLst>
          </a:prstGeom>
          <a:solidFill>
            <a:schemeClr val="bg2"/>
          </a:solidFill>
          <a:ln w="12700">
            <a:solidFill>
              <a:schemeClr val="bg2"/>
            </a:solidFill>
            <a:prstDash val="solid"/>
          </a:ln>
        </p:spPr>
      </p:sp>
      <p:sp>
        <p:nvSpPr>
          <p:cNvPr id="34" name="Text 32"/>
          <p:cNvSpPr txBox="1"/>
          <p:nvPr/>
        </p:nvSpPr>
        <p:spPr>
          <a:xfrm>
            <a:off x="7589520" y="2926080"/>
            <a:ext cx="1115568" cy="320040"/>
          </a:xfrm>
          <a:prstGeom prst="rect">
            <a:avLst/>
          </a:prstGeom>
          <a:noFill/>
          <a:ln/>
        </p:spPr>
        <p:txBody>
          <a:bodyPr wrap="square" lIns="0" tIns="0" rIns="0" bIns="0" rtlCol="0" anchor="t"/>
          <a:lstStyle/>
          <a:p>
            <a:pPr algn="ctr" indent="0" marL="0">
              <a:buNone/>
            </a:pPr>
            <a:r>
              <a:rPr lang="en-US" sz="1800" b="1" dirty="0">
                <a:solidFill>
                  <a:schemeClr val="accent1"/>
                </a:solidFill>
              </a:rPr>
              <a:t>G6</a:t>
            </a:r>
            <a:endParaRPr lang="en-US" sz="1800" dirty="0"/>
          </a:p>
        </p:txBody>
      </p:sp>
      <p:sp>
        <p:nvSpPr>
          <p:cNvPr id="35" name="Text 33"/>
          <p:cNvSpPr txBox="1"/>
          <p:nvPr/>
        </p:nvSpPr>
        <p:spPr>
          <a:xfrm>
            <a:off x="7589520" y="3291840"/>
            <a:ext cx="1115568" cy="1005840"/>
          </a:xfrm>
          <a:prstGeom prst="rect">
            <a:avLst/>
          </a:prstGeom>
          <a:noFill/>
          <a:ln/>
        </p:spPr>
        <p:txBody>
          <a:bodyPr wrap="square" lIns="0" tIns="0" rIns="0" bIns="0" rtlCol="0" anchor="t"/>
          <a:lstStyle/>
          <a:p>
            <a:pPr algn="ctr" indent="0" marL="0">
              <a:buNone/>
            </a:pPr>
            <a:r>
              <a:rPr lang="en-US" sz="1400" dirty="0">
                <a:solidFill>
                  <a:schemeClr val="tx1"/>
                </a:solidFill>
              </a:rPr>
              <a:t>Survive failures</a:t>
            </a:r>
            <a:endParaRPr lang="en-US" sz="1400" dirty="0"/>
          </a:p>
        </p:txBody>
      </p:sp>
      <p:sp>
        <p:nvSpPr>
          <p:cNvPr id="36" name="Text 34"/>
          <p:cNvSpPr txBox="1"/>
          <p:nvPr/>
        </p:nvSpPr>
        <p:spPr>
          <a:xfrm>
            <a:off x="7498080" y="4526280"/>
            <a:ext cx="1298448" cy="274320"/>
          </a:xfrm>
          <a:prstGeom prst="rect">
            <a:avLst/>
          </a:prstGeom>
          <a:noFill/>
          <a:ln/>
        </p:spPr>
        <p:txBody>
          <a:bodyPr wrap="square" lIns="0" tIns="0" rIns="0" bIns="0" rtlCol="0" anchor="t"/>
          <a:lstStyle/>
          <a:p>
            <a:pPr algn="ctr" indent="0" marL="0">
              <a:buNone/>
            </a:pPr>
            <a:r>
              <a:rPr lang="en-US" sz="1200" dirty="0">
                <a:solidFill>
                  <a:schemeClr val="accent6"/>
                </a:solidFill>
              </a:rPr>
              <a:t>FR-47–50</a:t>
            </a:r>
            <a:endParaRPr lang="en-US" sz="1200" dirty="0"/>
          </a:p>
        </p:txBody>
      </p:sp>
      <p:sp>
        <p:nvSpPr>
          <p:cNvPr id="37" name="Shape 35"/>
          <p:cNvSpPr/>
          <p:nvPr/>
        </p:nvSpPr>
        <p:spPr>
          <a:xfrm>
            <a:off x="9537192" y="2514600"/>
            <a:ext cx="0" cy="320040"/>
          </a:xfrm>
          <a:prstGeom prst="line">
            <a:avLst/>
          </a:prstGeom>
          <a:noFill/>
          <a:ln w="15875">
            <a:solidFill>
              <a:schemeClr val="accent6"/>
            </a:solidFill>
            <a:prstDash val="solid"/>
          </a:ln>
        </p:spPr>
      </p:sp>
      <p:sp>
        <p:nvSpPr>
          <p:cNvPr id="38" name="Shape 36"/>
          <p:cNvSpPr/>
          <p:nvPr/>
        </p:nvSpPr>
        <p:spPr>
          <a:xfrm>
            <a:off x="8887968" y="2834640"/>
            <a:ext cx="1298448" cy="1600200"/>
          </a:xfrm>
          <a:prstGeom prst="roundRect">
            <a:avLst>
              <a:gd name="adj" fmla="val 5634"/>
            </a:avLst>
          </a:prstGeom>
          <a:solidFill>
            <a:schemeClr val="bg2"/>
          </a:solidFill>
          <a:ln w="12700">
            <a:solidFill>
              <a:schemeClr val="bg2"/>
            </a:solidFill>
            <a:prstDash val="solid"/>
          </a:ln>
        </p:spPr>
      </p:sp>
      <p:sp>
        <p:nvSpPr>
          <p:cNvPr id="39" name="Text 37"/>
          <p:cNvSpPr txBox="1"/>
          <p:nvPr/>
        </p:nvSpPr>
        <p:spPr>
          <a:xfrm>
            <a:off x="8979408" y="2926080"/>
            <a:ext cx="1115568" cy="320040"/>
          </a:xfrm>
          <a:prstGeom prst="rect">
            <a:avLst/>
          </a:prstGeom>
          <a:noFill/>
          <a:ln/>
        </p:spPr>
        <p:txBody>
          <a:bodyPr wrap="square" lIns="0" tIns="0" rIns="0" bIns="0" rtlCol="0" anchor="t"/>
          <a:lstStyle/>
          <a:p>
            <a:pPr algn="ctr" indent="0" marL="0">
              <a:buNone/>
            </a:pPr>
            <a:r>
              <a:rPr lang="en-US" sz="1800" b="1" dirty="0">
                <a:solidFill>
                  <a:schemeClr val="accent1"/>
                </a:solidFill>
              </a:rPr>
              <a:t>G7</a:t>
            </a:r>
            <a:endParaRPr lang="en-US" sz="1800" dirty="0"/>
          </a:p>
        </p:txBody>
      </p:sp>
      <p:sp>
        <p:nvSpPr>
          <p:cNvPr id="40" name="Text 38"/>
          <p:cNvSpPr txBox="1"/>
          <p:nvPr/>
        </p:nvSpPr>
        <p:spPr>
          <a:xfrm>
            <a:off x="8979408" y="3291840"/>
            <a:ext cx="1115568" cy="1005840"/>
          </a:xfrm>
          <a:prstGeom prst="rect">
            <a:avLst/>
          </a:prstGeom>
          <a:noFill/>
          <a:ln/>
        </p:spPr>
        <p:txBody>
          <a:bodyPr wrap="square" lIns="0" tIns="0" rIns="0" bIns="0" rtlCol="0" anchor="t"/>
          <a:lstStyle/>
          <a:p>
            <a:pPr algn="ctr" indent="0" marL="0">
              <a:buNone/>
            </a:pPr>
            <a:r>
              <a:rPr lang="en-US" sz="1400" dirty="0">
                <a:solidFill>
                  <a:schemeClr val="tx1"/>
                </a:solidFill>
              </a:rPr>
              <a:t>Trust &amp; accountability</a:t>
            </a:r>
            <a:endParaRPr lang="en-US" sz="1400" dirty="0"/>
          </a:p>
        </p:txBody>
      </p:sp>
      <p:sp>
        <p:nvSpPr>
          <p:cNvPr id="41" name="Text 39"/>
          <p:cNvSpPr txBox="1"/>
          <p:nvPr/>
        </p:nvSpPr>
        <p:spPr>
          <a:xfrm>
            <a:off x="8887968" y="4526280"/>
            <a:ext cx="1298448" cy="274320"/>
          </a:xfrm>
          <a:prstGeom prst="rect">
            <a:avLst/>
          </a:prstGeom>
          <a:noFill/>
          <a:ln/>
        </p:spPr>
        <p:txBody>
          <a:bodyPr wrap="square" lIns="0" tIns="0" rIns="0" bIns="0" rtlCol="0" anchor="t"/>
          <a:lstStyle/>
          <a:p>
            <a:pPr algn="ctr" indent="0" marL="0">
              <a:buNone/>
            </a:pPr>
            <a:r>
              <a:rPr lang="en-US" sz="1200" dirty="0">
                <a:solidFill>
                  <a:schemeClr val="accent6"/>
                </a:solidFill>
              </a:rPr>
              <a:t>SEC, PRV, FR-59</a:t>
            </a:r>
            <a:endParaRPr lang="en-US" sz="1200" dirty="0"/>
          </a:p>
        </p:txBody>
      </p:sp>
      <p:sp>
        <p:nvSpPr>
          <p:cNvPr id="42" name="Shape 40"/>
          <p:cNvSpPr/>
          <p:nvPr/>
        </p:nvSpPr>
        <p:spPr>
          <a:xfrm>
            <a:off x="10927080" y="2514600"/>
            <a:ext cx="0" cy="320040"/>
          </a:xfrm>
          <a:prstGeom prst="line">
            <a:avLst/>
          </a:prstGeom>
          <a:noFill/>
          <a:ln w="15875">
            <a:solidFill>
              <a:schemeClr val="accent6"/>
            </a:solidFill>
            <a:prstDash val="solid"/>
          </a:ln>
        </p:spPr>
      </p:sp>
      <p:sp>
        <p:nvSpPr>
          <p:cNvPr id="43" name="Shape 41"/>
          <p:cNvSpPr/>
          <p:nvPr/>
        </p:nvSpPr>
        <p:spPr>
          <a:xfrm>
            <a:off x="10277856" y="2834640"/>
            <a:ext cx="1298448" cy="1600200"/>
          </a:xfrm>
          <a:prstGeom prst="roundRect">
            <a:avLst>
              <a:gd name="adj" fmla="val 5634"/>
            </a:avLst>
          </a:prstGeom>
          <a:solidFill>
            <a:schemeClr val="bg2"/>
          </a:solidFill>
          <a:ln w="12700">
            <a:solidFill>
              <a:schemeClr val="bg2"/>
            </a:solidFill>
            <a:prstDash val="solid"/>
          </a:ln>
        </p:spPr>
      </p:sp>
      <p:sp>
        <p:nvSpPr>
          <p:cNvPr id="44" name="Text 42"/>
          <p:cNvSpPr txBox="1"/>
          <p:nvPr/>
        </p:nvSpPr>
        <p:spPr>
          <a:xfrm>
            <a:off x="10369296" y="2926080"/>
            <a:ext cx="1115568" cy="320040"/>
          </a:xfrm>
          <a:prstGeom prst="rect">
            <a:avLst/>
          </a:prstGeom>
          <a:noFill/>
          <a:ln/>
        </p:spPr>
        <p:txBody>
          <a:bodyPr wrap="square" lIns="0" tIns="0" rIns="0" bIns="0" rtlCol="0" anchor="t"/>
          <a:lstStyle/>
          <a:p>
            <a:pPr algn="ctr" indent="0" marL="0">
              <a:buNone/>
            </a:pPr>
            <a:r>
              <a:rPr lang="en-US" sz="1800" b="1" dirty="0">
                <a:solidFill>
                  <a:schemeClr val="accent1"/>
                </a:solidFill>
              </a:rPr>
              <a:t>G8</a:t>
            </a:r>
            <a:endParaRPr lang="en-US" sz="1800" dirty="0"/>
          </a:p>
        </p:txBody>
      </p:sp>
      <p:sp>
        <p:nvSpPr>
          <p:cNvPr id="45" name="Text 43"/>
          <p:cNvSpPr txBox="1"/>
          <p:nvPr/>
        </p:nvSpPr>
        <p:spPr>
          <a:xfrm>
            <a:off x="10369296" y="3291840"/>
            <a:ext cx="1115568" cy="1005840"/>
          </a:xfrm>
          <a:prstGeom prst="rect">
            <a:avLst/>
          </a:prstGeom>
          <a:noFill/>
          <a:ln/>
        </p:spPr>
        <p:txBody>
          <a:bodyPr wrap="square" lIns="0" tIns="0" rIns="0" bIns="0" rtlCol="0" anchor="t"/>
          <a:lstStyle/>
          <a:p>
            <a:pPr algn="ctr" indent="0" marL="0">
              <a:buNone/>
            </a:pPr>
            <a:r>
              <a:rPr lang="en-US" sz="1400" dirty="0">
                <a:solidFill>
                  <a:schemeClr val="tx1"/>
                </a:solidFill>
              </a:rPr>
              <a:t>Adapt to new contexts</a:t>
            </a:r>
            <a:endParaRPr lang="en-US" sz="1400" dirty="0"/>
          </a:p>
        </p:txBody>
      </p:sp>
      <p:sp>
        <p:nvSpPr>
          <p:cNvPr id="46" name="Text 44"/>
          <p:cNvSpPr txBox="1"/>
          <p:nvPr/>
        </p:nvSpPr>
        <p:spPr>
          <a:xfrm>
            <a:off x="10277856" y="4526280"/>
            <a:ext cx="1298448" cy="274320"/>
          </a:xfrm>
          <a:prstGeom prst="rect">
            <a:avLst/>
          </a:prstGeom>
          <a:noFill/>
          <a:ln/>
        </p:spPr>
        <p:txBody>
          <a:bodyPr wrap="square" lIns="0" tIns="0" rIns="0" bIns="0" rtlCol="0" anchor="t"/>
          <a:lstStyle/>
          <a:p>
            <a:pPr algn="ctr" indent="0" marL="0">
              <a:buNone/>
            </a:pPr>
            <a:r>
              <a:rPr lang="en-US" sz="1200" dirty="0">
                <a:solidFill>
                  <a:schemeClr val="accent6"/>
                </a:solidFill>
              </a:rPr>
              <a:t>FR-63–67</a:t>
            </a:r>
            <a:endParaRPr lang="en-US" sz="1200" dirty="0"/>
          </a:p>
        </p:txBody>
      </p:sp>
      <p:sp>
        <p:nvSpPr>
          <p:cNvPr id="47" name="Shape 45"/>
          <p:cNvSpPr/>
          <p:nvPr/>
        </p:nvSpPr>
        <p:spPr>
          <a:xfrm>
            <a:off x="548640" y="5074920"/>
            <a:ext cx="11064240" cy="914400"/>
          </a:xfrm>
          <a:prstGeom prst="roundRect">
            <a:avLst>
              <a:gd name="adj" fmla="val 8000"/>
            </a:avLst>
          </a:prstGeom>
          <a:solidFill>
            <a:schemeClr val="bg2"/>
          </a:solidFill>
          <a:ln w="12700">
            <a:solidFill>
              <a:schemeClr val="bg2"/>
            </a:solidFill>
            <a:prstDash val="solid"/>
          </a:ln>
        </p:spPr>
      </p:sp>
      <p:sp>
        <p:nvSpPr>
          <p:cNvPr id="48" name="Shape 46"/>
          <p:cNvSpPr/>
          <p:nvPr/>
        </p:nvSpPr>
        <p:spPr>
          <a:xfrm>
            <a:off x="777240" y="5257800"/>
            <a:ext cx="548640" cy="548640"/>
          </a:xfrm>
          <a:prstGeom prst="ellipse">
            <a:avLst/>
          </a:prstGeom>
          <a:solidFill>
            <a:schemeClr val="accent3"/>
          </a:solidFill>
          <a:ln w="12700">
            <a:solidFill>
              <a:schemeClr val="accent3"/>
            </a:solidFill>
            <a:prstDash val="solid"/>
          </a:ln>
        </p:spPr>
      </p:sp>
      <p:pic>
        <p:nvPicPr>
          <p:cNvPr id="49" name="Image 0" descr="preencoded.png">    </p:cNvPr>
          <p:cNvPicPr>
            <a:picLocks noChangeAspect="1"/>
          </p:cNvPicPr>
          <p:nvPr/>
        </p:nvPicPr>
        <p:blipFill>
          <a:blip r:embed="rId1"/>
          <a:stretch>
            <a:fillRect/>
          </a:stretch>
        </p:blipFill>
        <p:spPr>
          <a:xfrm>
            <a:off x="908914" y="5389474"/>
            <a:ext cx="285293" cy="285293"/>
          </a:xfrm>
          <a:prstGeom prst="rect">
            <a:avLst/>
          </a:prstGeom>
        </p:spPr>
      </p:pic>
      <p:sp>
        <p:nvSpPr>
          <p:cNvPr id="50" name="Text 47"/>
          <p:cNvSpPr txBox="1"/>
          <p:nvPr/>
        </p:nvSpPr>
        <p:spPr>
          <a:xfrm>
            <a:off x="1508760" y="5166360"/>
            <a:ext cx="9921240" cy="731520"/>
          </a:xfrm>
          <a:prstGeom prst="rect">
            <a:avLst/>
          </a:prstGeom>
          <a:noFill/>
          <a:ln/>
        </p:spPr>
        <p:txBody>
          <a:bodyPr wrap="square" lIns="0" tIns="0" rIns="0" bIns="0" rtlCol="0" anchor="ctr"/>
          <a:lstStyle/>
          <a:p>
            <a:pPr indent="0" marL="0">
              <a:buNone/>
            </a:pPr>
            <a:r>
              <a:rPr lang="en-US" sz="1400" b="1" dirty="0">
                <a:solidFill>
                  <a:schemeClr val="tx1"/>
                </a:solidFill>
              </a:rPr>
              <a:t>Obstacles (anti-goals): </a:t>
            </a:r>
            <a:pPr indent="0" marL="0">
              <a:buNone/>
            </a:pPr>
            <a:r>
              <a:rPr lang="en-US" sz="1400" dirty="0">
                <a:solidFill>
                  <a:schemeClr val="tx1"/>
                </a:solidFill>
              </a:rPr>
              <a:t>missed warning, false warning, delayed warning, spoofed warning, unsafe route, full shelter, misunderstanding, fatigue — each analysed as a failure scenario and mitigated by a requirement or assigned to a human agent.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Pilot personas (Nepal) guide the requirements</a:t>
            </a:r>
            <a:endParaRPr lang="en-US" sz="3200" dirty="0"/>
          </a:p>
        </p:txBody>
      </p:sp>
      <p:sp>
        <p:nvSpPr>
          <p:cNvPr id="3" name="Shape 1"/>
          <p:cNvSpPr/>
          <p:nvPr/>
        </p:nvSpPr>
        <p:spPr>
          <a:xfrm>
            <a:off x="548640" y="1280160"/>
            <a:ext cx="2569464" cy="4572000"/>
          </a:xfrm>
          <a:prstGeom prst="roundRect">
            <a:avLst>
              <a:gd name="adj" fmla="val 2847"/>
            </a:avLst>
          </a:prstGeom>
          <a:solidFill>
            <a:schemeClr val="bg2"/>
          </a:solidFill>
          <a:ln w="12700">
            <a:solidFill>
              <a:schemeClr val="bg2"/>
            </a:solidFill>
            <a:prstDash val="solid"/>
          </a:ln>
        </p:spPr>
      </p:sp>
      <p:sp>
        <p:nvSpPr>
          <p:cNvPr id="4" name="Shape 2"/>
          <p:cNvSpPr/>
          <p:nvPr/>
        </p:nvSpPr>
        <p:spPr>
          <a:xfrm>
            <a:off x="777240" y="1463040"/>
            <a:ext cx="548640" cy="54864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08914" y="1594714"/>
            <a:ext cx="285293" cy="285293"/>
          </a:xfrm>
          <a:prstGeom prst="rect">
            <a:avLst/>
          </a:prstGeom>
        </p:spPr>
      </p:pic>
      <p:sp>
        <p:nvSpPr>
          <p:cNvPr id="6" name="Text 3"/>
          <p:cNvSpPr txBox="1"/>
          <p:nvPr/>
        </p:nvSpPr>
        <p:spPr>
          <a:xfrm>
            <a:off x="777240" y="2148840"/>
            <a:ext cx="2112264" cy="320040"/>
          </a:xfrm>
          <a:prstGeom prst="rect">
            <a:avLst/>
          </a:prstGeom>
          <a:noFill/>
          <a:ln/>
        </p:spPr>
        <p:txBody>
          <a:bodyPr wrap="square" lIns="0" tIns="0" rIns="0" bIns="0" rtlCol="0" anchor="t"/>
          <a:lstStyle/>
          <a:p>
            <a:pPr indent="0" marL="0">
              <a:buNone/>
            </a:pPr>
            <a:r>
              <a:rPr lang="en-US" sz="1600" b="1" dirty="0">
                <a:solidFill>
                  <a:schemeClr val="tx2"/>
                </a:solidFill>
              </a:rPr>
              <a:t>Sita Tharu, 38</a:t>
            </a:r>
            <a:endParaRPr lang="en-US" sz="1600" dirty="0"/>
          </a:p>
        </p:txBody>
      </p:sp>
      <p:sp>
        <p:nvSpPr>
          <p:cNvPr id="7" name="Text 4"/>
          <p:cNvSpPr txBox="1"/>
          <p:nvPr/>
        </p:nvSpPr>
        <p:spPr>
          <a:xfrm>
            <a:off x="777240" y="2468880"/>
            <a:ext cx="2112264" cy="502920"/>
          </a:xfrm>
          <a:prstGeom prst="rect">
            <a:avLst/>
          </a:prstGeom>
          <a:noFill/>
          <a:ln/>
        </p:spPr>
        <p:txBody>
          <a:bodyPr wrap="square" lIns="0" tIns="0" rIns="0" bIns="0" rtlCol="0" anchor="t"/>
          <a:lstStyle/>
          <a:p>
            <a:pPr indent="0" marL="0">
              <a:buNone/>
            </a:pPr>
            <a:r>
              <a:rPr lang="en-US" sz="1300" i="1" dirty="0">
                <a:solidFill>
                  <a:schemeClr val="accent6"/>
                </a:solidFill>
              </a:rPr>
              <a:t>Rice farmer, Bardiya (Terai)</a:t>
            </a:r>
            <a:endParaRPr lang="en-US" sz="1300" dirty="0"/>
          </a:p>
        </p:txBody>
      </p:sp>
      <p:sp>
        <p:nvSpPr>
          <p:cNvPr id="8" name="Text 5"/>
          <p:cNvSpPr txBox="1"/>
          <p:nvPr/>
        </p:nvSpPr>
        <p:spPr>
          <a:xfrm>
            <a:off x="777240" y="3017520"/>
            <a:ext cx="2112264" cy="1325880"/>
          </a:xfrm>
          <a:prstGeom prst="rect">
            <a:avLst/>
          </a:prstGeom>
          <a:noFill/>
          <a:ln/>
        </p:spPr>
        <p:txBody>
          <a:bodyPr wrap="square" lIns="0" tIns="0" rIns="0" bIns="0" rtlCol="0" anchor="t"/>
          <a:lstStyle/>
          <a:p>
            <a:pPr indent="0" marL="0">
              <a:buNone/>
            </a:pPr>
            <a:r>
              <a:rPr lang="en-US" sz="1400" dirty="0">
                <a:solidFill>
                  <a:schemeClr val="tx1"/>
                </a:solidFill>
              </a:rPr>
              <a:t>Shared Android phone, little data, reads Nepali slowly; mother-in-law with limited mobility, two buffaloes.</a:t>
            </a:r>
            <a:endParaRPr lang="en-US" sz="1400" dirty="0"/>
          </a:p>
        </p:txBody>
      </p:sp>
      <p:sp>
        <p:nvSpPr>
          <p:cNvPr id="9" name="Text 6"/>
          <p:cNvSpPr txBox="1"/>
          <p:nvPr/>
        </p:nvSpPr>
        <p:spPr>
          <a:xfrm>
            <a:off x="777240" y="4389120"/>
            <a:ext cx="2112264" cy="914400"/>
          </a:xfrm>
          <a:prstGeom prst="rect">
            <a:avLst/>
          </a:prstGeom>
          <a:noFill/>
          <a:ln/>
        </p:spPr>
        <p:txBody>
          <a:bodyPr wrap="square" lIns="0" tIns="0" rIns="0" bIns="0" rtlCol="0" anchor="t"/>
          <a:lstStyle/>
          <a:p>
            <a:pPr indent="0" marL="0">
              <a:buNone/>
            </a:pPr>
            <a:r>
              <a:rPr lang="en-US" sz="1400" b="1" dirty="0">
                <a:solidFill>
                  <a:schemeClr val="tx2"/>
                </a:solidFill>
              </a:rPr>
              <a:t>Needs early Nepali SMS, a shelter that takes livestock.</a:t>
            </a:r>
            <a:endParaRPr lang="en-US" sz="1400" dirty="0"/>
          </a:p>
        </p:txBody>
      </p:sp>
      <p:sp>
        <p:nvSpPr>
          <p:cNvPr id="10" name="Text 7"/>
          <p:cNvSpPr txBox="1"/>
          <p:nvPr/>
        </p:nvSpPr>
        <p:spPr>
          <a:xfrm>
            <a:off x="777240" y="5394960"/>
            <a:ext cx="2112264" cy="274320"/>
          </a:xfrm>
          <a:prstGeom prst="rect">
            <a:avLst/>
          </a:prstGeom>
          <a:noFill/>
          <a:ln/>
        </p:spPr>
        <p:txBody>
          <a:bodyPr wrap="square" lIns="0" tIns="0" rIns="0" bIns="0" rtlCol="0" anchor="t"/>
          <a:lstStyle/>
          <a:p>
            <a:pPr indent="0" marL="0">
              <a:buNone/>
            </a:pPr>
            <a:r>
              <a:rPr lang="en-US" sz="1200" dirty="0">
                <a:solidFill>
                  <a:schemeClr val="accent1"/>
                </a:solidFill>
              </a:rPr>
              <a:t>FR-35 · FR-39</a:t>
            </a:r>
            <a:endParaRPr lang="en-US" sz="1200" dirty="0"/>
          </a:p>
        </p:txBody>
      </p:sp>
      <p:sp>
        <p:nvSpPr>
          <p:cNvPr id="11" name="Shape 8"/>
          <p:cNvSpPr/>
          <p:nvPr/>
        </p:nvSpPr>
        <p:spPr>
          <a:xfrm>
            <a:off x="3392424" y="1280160"/>
            <a:ext cx="2569464" cy="4572000"/>
          </a:xfrm>
          <a:prstGeom prst="roundRect">
            <a:avLst>
              <a:gd name="adj" fmla="val 2847"/>
            </a:avLst>
          </a:prstGeom>
          <a:solidFill>
            <a:schemeClr val="bg2"/>
          </a:solidFill>
          <a:ln w="12700">
            <a:solidFill>
              <a:schemeClr val="bg2"/>
            </a:solidFill>
            <a:prstDash val="solid"/>
          </a:ln>
        </p:spPr>
      </p:sp>
      <p:sp>
        <p:nvSpPr>
          <p:cNvPr id="12" name="Shape 9"/>
          <p:cNvSpPr/>
          <p:nvPr/>
        </p:nvSpPr>
        <p:spPr>
          <a:xfrm>
            <a:off x="3621024" y="1463040"/>
            <a:ext cx="548640" cy="548640"/>
          </a:xfrm>
          <a:prstGeom prst="ellipse">
            <a:avLst/>
          </a:prstGeom>
          <a:solidFill>
            <a:schemeClr val="accent1"/>
          </a:solidFill>
          <a:ln w="12700">
            <a:solidFill>
              <a:schemeClr val="accent1"/>
            </a:solidFill>
            <a:prstDash val="solid"/>
          </a:ln>
        </p:spPr>
      </p:sp>
      <p:pic>
        <p:nvPicPr>
          <p:cNvPr id="13" name="Image 1" descr="preencoded.png">    </p:cNvPr>
          <p:cNvPicPr>
            <a:picLocks noChangeAspect="1"/>
          </p:cNvPicPr>
          <p:nvPr/>
        </p:nvPicPr>
        <p:blipFill>
          <a:blip r:embed="rId2"/>
          <a:stretch>
            <a:fillRect/>
          </a:stretch>
        </p:blipFill>
        <p:spPr>
          <a:xfrm>
            <a:off x="3752698" y="1594714"/>
            <a:ext cx="285293" cy="285293"/>
          </a:xfrm>
          <a:prstGeom prst="rect">
            <a:avLst/>
          </a:prstGeom>
        </p:spPr>
      </p:pic>
      <p:sp>
        <p:nvSpPr>
          <p:cNvPr id="14" name="Text 10"/>
          <p:cNvSpPr txBox="1"/>
          <p:nvPr/>
        </p:nvSpPr>
        <p:spPr>
          <a:xfrm>
            <a:off x="3621024" y="2148840"/>
            <a:ext cx="2112264" cy="320040"/>
          </a:xfrm>
          <a:prstGeom prst="rect">
            <a:avLst/>
          </a:prstGeom>
          <a:noFill/>
          <a:ln/>
        </p:spPr>
        <p:txBody>
          <a:bodyPr wrap="square" lIns="0" tIns="0" rIns="0" bIns="0" rtlCol="0" anchor="t"/>
          <a:lstStyle/>
          <a:p>
            <a:pPr indent="0" marL="0">
              <a:buNone/>
            </a:pPr>
            <a:r>
              <a:rPr lang="en-US" sz="1600" b="1" dirty="0">
                <a:solidFill>
                  <a:schemeClr val="tx2"/>
                </a:solidFill>
              </a:rPr>
              <a:t>Ram Bahadur Karki, 74</a:t>
            </a:r>
            <a:endParaRPr lang="en-US" sz="1600" dirty="0"/>
          </a:p>
        </p:txBody>
      </p:sp>
      <p:sp>
        <p:nvSpPr>
          <p:cNvPr id="15" name="Text 11"/>
          <p:cNvSpPr txBox="1"/>
          <p:nvPr/>
        </p:nvSpPr>
        <p:spPr>
          <a:xfrm>
            <a:off x="3621024" y="2468880"/>
            <a:ext cx="2112264" cy="502920"/>
          </a:xfrm>
          <a:prstGeom prst="rect">
            <a:avLst/>
          </a:prstGeom>
          <a:noFill/>
          <a:ln/>
        </p:spPr>
        <p:txBody>
          <a:bodyPr wrap="square" lIns="0" tIns="0" rIns="0" bIns="0" rtlCol="0" anchor="t"/>
          <a:lstStyle/>
          <a:p>
            <a:pPr indent="0" marL="0">
              <a:buNone/>
            </a:pPr>
            <a:r>
              <a:rPr lang="en-US" sz="1300" i="1" dirty="0">
                <a:solidFill>
                  <a:schemeClr val="accent6"/>
                </a:solidFill>
              </a:rPr>
              <a:t>Retired teacher, lives alone</a:t>
            </a:r>
            <a:endParaRPr lang="en-US" sz="1300" dirty="0"/>
          </a:p>
        </p:txBody>
      </p:sp>
      <p:sp>
        <p:nvSpPr>
          <p:cNvPr id="16" name="Text 12"/>
          <p:cNvSpPr txBox="1"/>
          <p:nvPr/>
        </p:nvSpPr>
        <p:spPr>
          <a:xfrm>
            <a:off x="3621024" y="3017520"/>
            <a:ext cx="2112264" cy="1325880"/>
          </a:xfrm>
          <a:prstGeom prst="rect">
            <a:avLst/>
          </a:prstGeom>
          <a:noFill/>
          <a:ln/>
        </p:spPr>
        <p:txBody>
          <a:bodyPr wrap="square" lIns="0" tIns="0" rIns="0" bIns="0" rtlCol="0" anchor="t"/>
          <a:lstStyle/>
          <a:p>
            <a:pPr indent="0" marL="0">
              <a:buNone/>
            </a:pPr>
            <a:r>
              <a:rPr lang="en-US" sz="1400" dirty="0">
                <a:solidFill>
                  <a:schemeClr val="tx1"/>
                </a:solidFill>
              </a:rPr>
              <a:t>Feature phone, hard of hearing; son works abroad.</a:t>
            </a:r>
            <a:endParaRPr lang="en-US" sz="1400" dirty="0"/>
          </a:p>
        </p:txBody>
      </p:sp>
      <p:sp>
        <p:nvSpPr>
          <p:cNvPr id="17" name="Text 13"/>
          <p:cNvSpPr txBox="1"/>
          <p:nvPr/>
        </p:nvSpPr>
        <p:spPr>
          <a:xfrm>
            <a:off x="3621024" y="4389120"/>
            <a:ext cx="2112264" cy="914400"/>
          </a:xfrm>
          <a:prstGeom prst="rect">
            <a:avLst/>
          </a:prstGeom>
          <a:noFill/>
          <a:ln/>
        </p:spPr>
        <p:txBody>
          <a:bodyPr wrap="square" lIns="0" tIns="0" rIns="0" bIns="0" rtlCol="0" anchor="t"/>
          <a:lstStyle/>
          <a:p>
            <a:pPr indent="0" marL="0">
              <a:buNone/>
            </a:pPr>
            <a:r>
              <a:rPr lang="en-US" sz="1400" b="1" dirty="0">
                <a:solidFill>
                  <a:schemeClr val="tx2"/>
                </a:solidFill>
              </a:rPr>
              <a:t>Needs simple SMS, son subscribes for him, help to leave.</a:t>
            </a:r>
            <a:endParaRPr lang="en-US" sz="1400" dirty="0"/>
          </a:p>
        </p:txBody>
      </p:sp>
      <p:sp>
        <p:nvSpPr>
          <p:cNvPr id="18" name="Text 14"/>
          <p:cNvSpPr txBox="1"/>
          <p:nvPr/>
        </p:nvSpPr>
        <p:spPr>
          <a:xfrm>
            <a:off x="3621024" y="5394960"/>
            <a:ext cx="2112264" cy="274320"/>
          </a:xfrm>
          <a:prstGeom prst="rect">
            <a:avLst/>
          </a:prstGeom>
          <a:noFill/>
          <a:ln/>
        </p:spPr>
        <p:txBody>
          <a:bodyPr wrap="square" lIns="0" tIns="0" rIns="0" bIns="0" rtlCol="0" anchor="t"/>
          <a:lstStyle/>
          <a:p>
            <a:pPr indent="0" marL="0">
              <a:buNone/>
            </a:pPr>
            <a:r>
              <a:rPr lang="en-US" sz="1200" dirty="0">
                <a:solidFill>
                  <a:schemeClr val="accent1"/>
                </a:solidFill>
              </a:rPr>
              <a:t>FR-32 · FR-36</a:t>
            </a:r>
            <a:endParaRPr lang="en-US" sz="1200" dirty="0"/>
          </a:p>
        </p:txBody>
      </p:sp>
      <p:sp>
        <p:nvSpPr>
          <p:cNvPr id="19" name="Shape 15"/>
          <p:cNvSpPr/>
          <p:nvPr/>
        </p:nvSpPr>
        <p:spPr>
          <a:xfrm>
            <a:off x="6236208" y="1280160"/>
            <a:ext cx="2569464" cy="4572000"/>
          </a:xfrm>
          <a:prstGeom prst="roundRect">
            <a:avLst>
              <a:gd name="adj" fmla="val 2847"/>
            </a:avLst>
          </a:prstGeom>
          <a:solidFill>
            <a:schemeClr val="bg2"/>
          </a:solidFill>
          <a:ln w="12700">
            <a:solidFill>
              <a:schemeClr val="bg2"/>
            </a:solidFill>
            <a:prstDash val="solid"/>
          </a:ln>
        </p:spPr>
      </p:sp>
      <p:sp>
        <p:nvSpPr>
          <p:cNvPr id="20" name="Shape 16"/>
          <p:cNvSpPr/>
          <p:nvPr/>
        </p:nvSpPr>
        <p:spPr>
          <a:xfrm>
            <a:off x="6464808" y="1463040"/>
            <a:ext cx="548640" cy="548640"/>
          </a:xfrm>
          <a:prstGeom prst="ellipse">
            <a:avLst/>
          </a:prstGeom>
          <a:solidFill>
            <a:schemeClr val="accent1"/>
          </a:solidFill>
          <a:ln w="12700">
            <a:solidFill>
              <a:schemeClr val="accent1"/>
            </a:solidFill>
            <a:prstDash val="solid"/>
          </a:ln>
        </p:spPr>
      </p:sp>
      <p:pic>
        <p:nvPicPr>
          <p:cNvPr id="21" name="Image 2" descr="preencoded.png">    </p:cNvPr>
          <p:cNvPicPr>
            <a:picLocks noChangeAspect="1"/>
          </p:cNvPicPr>
          <p:nvPr/>
        </p:nvPicPr>
        <p:blipFill>
          <a:blip r:embed="rId3"/>
          <a:stretch>
            <a:fillRect/>
          </a:stretch>
        </p:blipFill>
        <p:spPr>
          <a:xfrm>
            <a:off x="6596482" y="1594714"/>
            <a:ext cx="285293" cy="285293"/>
          </a:xfrm>
          <a:prstGeom prst="rect">
            <a:avLst/>
          </a:prstGeom>
        </p:spPr>
      </p:pic>
      <p:sp>
        <p:nvSpPr>
          <p:cNvPr id="22" name="Text 17"/>
          <p:cNvSpPr txBox="1"/>
          <p:nvPr/>
        </p:nvSpPr>
        <p:spPr>
          <a:xfrm>
            <a:off x="6464808" y="2148840"/>
            <a:ext cx="2112264" cy="320040"/>
          </a:xfrm>
          <a:prstGeom prst="rect">
            <a:avLst/>
          </a:prstGeom>
          <a:noFill/>
          <a:ln/>
        </p:spPr>
        <p:txBody>
          <a:bodyPr wrap="square" lIns="0" tIns="0" rIns="0" bIns="0" rtlCol="0" anchor="t"/>
          <a:lstStyle/>
          <a:p>
            <a:pPr indent="0" marL="0">
              <a:buNone/>
            </a:pPr>
            <a:r>
              <a:rPr lang="en-US" sz="1600" b="1" dirty="0">
                <a:solidFill>
                  <a:schemeClr val="tx2"/>
                </a:solidFill>
              </a:rPr>
              <a:t>Anjali Shrestha, 29</a:t>
            </a:r>
            <a:endParaRPr lang="en-US" sz="1600" dirty="0"/>
          </a:p>
        </p:txBody>
      </p:sp>
      <p:sp>
        <p:nvSpPr>
          <p:cNvPr id="23" name="Text 18"/>
          <p:cNvSpPr txBox="1"/>
          <p:nvPr/>
        </p:nvSpPr>
        <p:spPr>
          <a:xfrm>
            <a:off x="6464808" y="2468880"/>
            <a:ext cx="2112264" cy="502920"/>
          </a:xfrm>
          <a:prstGeom prst="rect">
            <a:avLst/>
          </a:prstGeom>
          <a:noFill/>
          <a:ln/>
        </p:spPr>
        <p:txBody>
          <a:bodyPr wrap="square" lIns="0" tIns="0" rIns="0" bIns="0" rtlCol="0" anchor="t"/>
          <a:lstStyle/>
          <a:p>
            <a:pPr indent="0" marL="0">
              <a:buNone/>
            </a:pPr>
            <a:r>
              <a:rPr lang="en-US" sz="1300" i="1" dirty="0">
                <a:solidFill>
                  <a:schemeClr val="accent6"/>
                </a:solidFill>
              </a:rPr>
              <a:t>Ward disaster focal person</a:t>
            </a:r>
            <a:endParaRPr lang="en-US" sz="1300" dirty="0"/>
          </a:p>
        </p:txBody>
      </p:sp>
      <p:sp>
        <p:nvSpPr>
          <p:cNvPr id="24" name="Text 19"/>
          <p:cNvSpPr txBox="1"/>
          <p:nvPr/>
        </p:nvSpPr>
        <p:spPr>
          <a:xfrm>
            <a:off x="6464808" y="3017520"/>
            <a:ext cx="2112264" cy="1325880"/>
          </a:xfrm>
          <a:prstGeom prst="rect">
            <a:avLst/>
          </a:prstGeom>
          <a:noFill/>
          <a:ln/>
        </p:spPr>
        <p:txBody>
          <a:bodyPr wrap="square" lIns="0" tIns="0" rIns="0" bIns="0" rtlCol="0" anchor="t"/>
          <a:lstStyle/>
          <a:p>
            <a:pPr indent="0" marL="0">
              <a:buNone/>
            </a:pPr>
            <a:r>
              <a:rPr lang="en-US" sz="1400" dirty="0">
                <a:solidFill>
                  <a:schemeClr val="tx1"/>
                </a:solidFill>
              </a:rPr>
              <a:t>Not an IT specialist; on call in monsoon; fears a wrong evacuation order.</a:t>
            </a:r>
            <a:endParaRPr lang="en-US" sz="1400" dirty="0"/>
          </a:p>
        </p:txBody>
      </p:sp>
      <p:sp>
        <p:nvSpPr>
          <p:cNvPr id="25" name="Text 20"/>
          <p:cNvSpPr txBox="1"/>
          <p:nvPr/>
        </p:nvSpPr>
        <p:spPr>
          <a:xfrm>
            <a:off x="6464808" y="4389120"/>
            <a:ext cx="2112264" cy="914400"/>
          </a:xfrm>
          <a:prstGeom prst="rect">
            <a:avLst/>
          </a:prstGeom>
          <a:noFill/>
          <a:ln/>
        </p:spPr>
        <p:txBody>
          <a:bodyPr wrap="square" lIns="0" tIns="0" rIns="0" bIns="0" rtlCol="0" anchor="t"/>
          <a:lstStyle/>
          <a:p>
            <a:pPr indent="0" marL="0">
              <a:buNone/>
            </a:pPr>
            <a:r>
              <a:rPr lang="en-US" sz="1400" b="1" dirty="0">
                <a:solidFill>
                  <a:schemeClr val="tx2"/>
                </a:solidFill>
              </a:rPr>
              <a:t>Needs evidence, recipient preview, safe cancel, audit trail.</a:t>
            </a:r>
            <a:endParaRPr lang="en-US" sz="1400" dirty="0"/>
          </a:p>
        </p:txBody>
      </p:sp>
      <p:sp>
        <p:nvSpPr>
          <p:cNvPr id="26" name="Text 21"/>
          <p:cNvSpPr txBox="1"/>
          <p:nvPr/>
        </p:nvSpPr>
        <p:spPr>
          <a:xfrm>
            <a:off x="6464808" y="5394960"/>
            <a:ext cx="2112264" cy="274320"/>
          </a:xfrm>
          <a:prstGeom prst="rect">
            <a:avLst/>
          </a:prstGeom>
          <a:noFill/>
          <a:ln/>
        </p:spPr>
        <p:txBody>
          <a:bodyPr wrap="square" lIns="0" tIns="0" rIns="0" bIns="0" rtlCol="0" anchor="t"/>
          <a:lstStyle/>
          <a:p>
            <a:pPr indent="0" marL="0">
              <a:buNone/>
            </a:pPr>
            <a:r>
              <a:rPr lang="en-US" sz="1200" dirty="0">
                <a:solidFill>
                  <a:schemeClr val="accent1"/>
                </a:solidFill>
              </a:rPr>
              <a:t>FR-20 · FR-53</a:t>
            </a:r>
            <a:endParaRPr lang="en-US" sz="1200" dirty="0"/>
          </a:p>
        </p:txBody>
      </p:sp>
      <p:sp>
        <p:nvSpPr>
          <p:cNvPr id="27" name="Shape 22"/>
          <p:cNvSpPr/>
          <p:nvPr/>
        </p:nvSpPr>
        <p:spPr>
          <a:xfrm>
            <a:off x="9079992" y="1280160"/>
            <a:ext cx="2569464" cy="4572000"/>
          </a:xfrm>
          <a:prstGeom prst="roundRect">
            <a:avLst>
              <a:gd name="adj" fmla="val 2847"/>
            </a:avLst>
          </a:prstGeom>
          <a:solidFill>
            <a:schemeClr val="bg2"/>
          </a:solidFill>
          <a:ln w="12700">
            <a:solidFill>
              <a:schemeClr val="bg2"/>
            </a:solidFill>
            <a:prstDash val="solid"/>
          </a:ln>
        </p:spPr>
      </p:sp>
      <p:sp>
        <p:nvSpPr>
          <p:cNvPr id="28" name="Shape 23"/>
          <p:cNvSpPr/>
          <p:nvPr/>
        </p:nvSpPr>
        <p:spPr>
          <a:xfrm>
            <a:off x="9308592" y="1463040"/>
            <a:ext cx="548640" cy="548640"/>
          </a:xfrm>
          <a:prstGeom prst="ellipse">
            <a:avLst/>
          </a:prstGeom>
          <a:solidFill>
            <a:schemeClr val="accent1"/>
          </a:solidFill>
          <a:ln w="12700">
            <a:solidFill>
              <a:schemeClr val="accent1"/>
            </a:solidFill>
            <a:prstDash val="solid"/>
          </a:ln>
        </p:spPr>
      </p:sp>
      <p:pic>
        <p:nvPicPr>
          <p:cNvPr id="29" name="Image 3" descr="preencoded.png">    </p:cNvPr>
          <p:cNvPicPr>
            <a:picLocks noChangeAspect="1"/>
          </p:cNvPicPr>
          <p:nvPr/>
        </p:nvPicPr>
        <p:blipFill>
          <a:blip r:embed="rId4"/>
          <a:stretch>
            <a:fillRect/>
          </a:stretch>
        </p:blipFill>
        <p:spPr>
          <a:xfrm>
            <a:off x="9440266" y="1594714"/>
            <a:ext cx="285293" cy="285293"/>
          </a:xfrm>
          <a:prstGeom prst="rect">
            <a:avLst/>
          </a:prstGeom>
        </p:spPr>
      </p:pic>
      <p:sp>
        <p:nvSpPr>
          <p:cNvPr id="30" name="Text 24"/>
          <p:cNvSpPr txBox="1"/>
          <p:nvPr/>
        </p:nvSpPr>
        <p:spPr>
          <a:xfrm>
            <a:off x="9308592" y="2148840"/>
            <a:ext cx="2112264" cy="320040"/>
          </a:xfrm>
          <a:prstGeom prst="rect">
            <a:avLst/>
          </a:prstGeom>
          <a:noFill/>
          <a:ln/>
        </p:spPr>
        <p:txBody>
          <a:bodyPr wrap="square" lIns="0" tIns="0" rIns="0" bIns="0" rtlCol="0" anchor="t"/>
          <a:lstStyle/>
          <a:p>
            <a:pPr indent="0" marL="0">
              <a:buNone/>
            </a:pPr>
            <a:r>
              <a:rPr lang="en-US" sz="1600" b="1" dirty="0">
                <a:solidFill>
                  <a:schemeClr val="tx2"/>
                </a:solidFill>
              </a:rPr>
              <a:t>Emma Müller, 31</a:t>
            </a:r>
            <a:endParaRPr lang="en-US" sz="1600" dirty="0"/>
          </a:p>
        </p:txBody>
      </p:sp>
      <p:sp>
        <p:nvSpPr>
          <p:cNvPr id="31" name="Text 25"/>
          <p:cNvSpPr txBox="1"/>
          <p:nvPr/>
        </p:nvSpPr>
        <p:spPr>
          <a:xfrm>
            <a:off x="9308592" y="2468880"/>
            <a:ext cx="2112264" cy="502920"/>
          </a:xfrm>
          <a:prstGeom prst="rect">
            <a:avLst/>
          </a:prstGeom>
          <a:noFill/>
          <a:ln/>
        </p:spPr>
        <p:txBody>
          <a:bodyPr wrap="square" lIns="0" tIns="0" rIns="0" bIns="0" rtlCol="0" anchor="t"/>
          <a:lstStyle/>
          <a:p>
            <a:pPr indent="0" marL="0">
              <a:buNone/>
            </a:pPr>
            <a:r>
              <a:rPr lang="en-US" sz="1300" i="1" dirty="0">
                <a:solidFill>
                  <a:schemeClr val="accent6"/>
                </a:solidFill>
              </a:rPr>
              <a:t>Foreign trekker, Western Nepal</a:t>
            </a:r>
            <a:endParaRPr lang="en-US" sz="1300" dirty="0"/>
          </a:p>
        </p:txBody>
      </p:sp>
      <p:sp>
        <p:nvSpPr>
          <p:cNvPr id="32" name="Text 26"/>
          <p:cNvSpPr txBox="1"/>
          <p:nvPr/>
        </p:nvSpPr>
        <p:spPr>
          <a:xfrm>
            <a:off x="9308592" y="3017520"/>
            <a:ext cx="2112264" cy="1325880"/>
          </a:xfrm>
          <a:prstGeom prst="rect">
            <a:avLst/>
          </a:prstGeom>
          <a:noFill/>
          <a:ln/>
        </p:spPr>
        <p:txBody>
          <a:bodyPr wrap="square" lIns="0" tIns="0" rIns="0" bIns="0" rtlCol="0" anchor="t"/>
          <a:lstStyle/>
          <a:p>
            <a:pPr indent="0" marL="0">
              <a:buNone/>
            </a:pPr>
            <a:r>
              <a:rPr lang="en-US" sz="1400" dirty="0">
                <a:solidFill>
                  <a:schemeClr val="tx1"/>
                </a:solidFill>
              </a:rPr>
              <a:t>No Nepali, no local SIM, Wi-Fi at guesthouses.</a:t>
            </a:r>
            <a:endParaRPr lang="en-US" sz="1400" dirty="0"/>
          </a:p>
        </p:txBody>
      </p:sp>
      <p:sp>
        <p:nvSpPr>
          <p:cNvPr id="33" name="Text 27"/>
          <p:cNvSpPr txBox="1"/>
          <p:nvPr/>
        </p:nvSpPr>
        <p:spPr>
          <a:xfrm>
            <a:off x="9308592" y="4389120"/>
            <a:ext cx="2112264" cy="914400"/>
          </a:xfrm>
          <a:prstGeom prst="rect">
            <a:avLst/>
          </a:prstGeom>
          <a:noFill/>
          <a:ln/>
        </p:spPr>
        <p:txBody>
          <a:bodyPr wrap="square" lIns="0" tIns="0" rIns="0" bIns="0" rtlCol="0" anchor="t"/>
          <a:lstStyle/>
          <a:p>
            <a:pPr indent="0" marL="0">
              <a:buNone/>
            </a:pPr>
            <a:r>
              <a:rPr lang="en-US" sz="1400" b="1" dirty="0">
                <a:solidFill>
                  <a:schemeClr val="tx2"/>
                </a:solidFill>
              </a:rPr>
              <a:t>Needs English alerts via QR area code and clear icons.</a:t>
            </a:r>
            <a:endParaRPr lang="en-US" sz="1400" dirty="0"/>
          </a:p>
        </p:txBody>
      </p:sp>
      <p:sp>
        <p:nvSpPr>
          <p:cNvPr id="34" name="Text 28"/>
          <p:cNvSpPr txBox="1"/>
          <p:nvPr/>
        </p:nvSpPr>
        <p:spPr>
          <a:xfrm>
            <a:off x="9308592" y="5394960"/>
            <a:ext cx="2112264" cy="274320"/>
          </a:xfrm>
          <a:prstGeom prst="rect">
            <a:avLst/>
          </a:prstGeom>
          <a:noFill/>
          <a:ln/>
        </p:spPr>
        <p:txBody>
          <a:bodyPr wrap="square" lIns="0" tIns="0" rIns="0" bIns="0" rtlCol="0" anchor="t"/>
          <a:lstStyle/>
          <a:p>
            <a:pPr indent="0" marL="0">
              <a:buNone/>
            </a:pPr>
            <a:r>
              <a:rPr lang="en-US" sz="1200" dirty="0">
                <a:solidFill>
                  <a:schemeClr val="accent1"/>
                </a:solidFill>
              </a:rPr>
              <a:t>FR-34 · NFR-U4</a:t>
            </a:r>
            <a:endParaRPr lang="en-US" sz="1200" dirty="0"/>
          </a:p>
        </p:txBody>
      </p:sp>
      <p:sp>
        <p:nvSpPr>
          <p:cNvPr id="35" name="Text 29"/>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Composite, fictional personas [A] — four more (volunteer, police officer, admin, wheelchair user) in docs/02; all to be validated in interviews.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System context and boundary</a:t>
            </a:r>
            <a:endParaRPr lang="en-US" sz="3200" dirty="0"/>
          </a:p>
        </p:txBody>
      </p:sp>
      <p:sp>
        <p:nvSpPr>
          <p:cNvPr id="3" name="Shape 1"/>
          <p:cNvSpPr/>
          <p:nvPr/>
        </p:nvSpPr>
        <p:spPr>
          <a:xfrm>
            <a:off x="3108960" y="1234440"/>
            <a:ext cx="5943600" cy="777240"/>
          </a:xfrm>
          <a:prstGeom prst="roundRect">
            <a:avLst>
              <a:gd name="adj" fmla="val 9412"/>
            </a:avLst>
          </a:prstGeom>
          <a:solidFill>
            <a:schemeClr val="bg2"/>
          </a:solidFill>
          <a:ln w="12700">
            <a:solidFill>
              <a:schemeClr val="bg2"/>
            </a:solidFill>
            <a:prstDash val="solid"/>
          </a:ln>
        </p:spPr>
      </p:sp>
      <p:sp>
        <p:nvSpPr>
          <p:cNvPr id="4" name="Text 2"/>
          <p:cNvSpPr txBox="1"/>
          <p:nvPr/>
        </p:nvSpPr>
        <p:spPr>
          <a:xfrm>
            <a:off x="3291840" y="1280160"/>
            <a:ext cx="5577840" cy="685800"/>
          </a:xfrm>
          <a:prstGeom prst="rect">
            <a:avLst/>
          </a:prstGeom>
          <a:noFill/>
          <a:ln/>
        </p:spPr>
        <p:txBody>
          <a:bodyPr wrap="square" lIns="0" tIns="0" rIns="0" bIns="0" rtlCol="0" anchor="ctr"/>
          <a:lstStyle/>
          <a:p>
            <a:pPr indent="0" marL="0">
              <a:buNone/>
            </a:pPr>
            <a:r>
              <a:rPr lang="en-US" sz="1400" b="1" dirty="0">
                <a:solidFill>
                  <a:schemeClr val="tx1"/>
                </a:solidFill>
              </a:rPr>
              <a:t>Data:  </a:t>
            </a:r>
            <a:pPr indent="0" marL="0">
              <a:buNone/>
            </a:pPr>
            <a:r>
              <a:rPr lang="en-US" sz="1400" dirty="0">
                <a:solidFill>
                  <a:schemeClr val="tx1"/>
                </a:solidFill>
              </a:rPr>
              <a:t>satellites (GPM, Sentinel-1, GloFAS) · DHM stations · own IoT gauges · weather · OSM · population · reports</a:t>
            </a:r>
            <a:endParaRPr lang="en-US" sz="1400" dirty="0"/>
          </a:p>
        </p:txBody>
      </p:sp>
      <p:sp>
        <p:nvSpPr>
          <p:cNvPr id="5" name="Shape 3"/>
          <p:cNvSpPr/>
          <p:nvPr/>
        </p:nvSpPr>
        <p:spPr>
          <a:xfrm>
            <a:off x="4023360" y="2423160"/>
            <a:ext cx="4114800" cy="2011680"/>
          </a:xfrm>
          <a:prstGeom prst="roundRect">
            <a:avLst>
              <a:gd name="adj" fmla="val 3636"/>
            </a:avLst>
          </a:prstGeom>
          <a:solidFill>
            <a:schemeClr val="tx2"/>
          </a:solidFill>
          <a:ln w="12700">
            <a:solidFill>
              <a:schemeClr val="tx2"/>
            </a:solidFill>
            <a:prstDash val="solid"/>
          </a:ln>
        </p:spPr>
      </p:sp>
      <p:sp>
        <p:nvSpPr>
          <p:cNvPr id="6" name="Text 4"/>
          <p:cNvSpPr txBox="1"/>
          <p:nvPr/>
        </p:nvSpPr>
        <p:spPr>
          <a:xfrm>
            <a:off x="4206240" y="2560320"/>
            <a:ext cx="3749040" cy="411480"/>
          </a:xfrm>
          <a:prstGeom prst="rect">
            <a:avLst/>
          </a:prstGeom>
          <a:noFill/>
          <a:ln/>
        </p:spPr>
        <p:txBody>
          <a:bodyPr wrap="square" lIns="0" tIns="0" rIns="0" bIns="0" rtlCol="0" anchor="t"/>
          <a:lstStyle/>
          <a:p>
            <a:pPr algn="ctr" indent="0" marL="0">
              <a:buNone/>
            </a:pPr>
            <a:r>
              <a:rPr lang="en-US" sz="2200" b="1" dirty="0">
                <a:solidFill>
                  <a:schemeClr val="bg1"/>
                </a:solidFill>
                <a:latin typeface="Cambria" pitchFamily="34" charset="0"/>
                <a:ea typeface="Cambria" pitchFamily="34" charset="-122"/>
                <a:cs typeface="Cambria" pitchFamily="34" charset="-120"/>
              </a:rPr>
              <a:t>AMHEWS</a:t>
            </a:r>
            <a:endParaRPr lang="en-US" sz="2200" dirty="0"/>
          </a:p>
        </p:txBody>
      </p:sp>
      <p:sp>
        <p:nvSpPr>
          <p:cNvPr id="7" name="Text 5"/>
          <p:cNvSpPr txBox="1"/>
          <p:nvPr/>
        </p:nvSpPr>
        <p:spPr>
          <a:xfrm>
            <a:off x="4206240" y="3063240"/>
            <a:ext cx="3749040" cy="1234440"/>
          </a:xfrm>
          <a:prstGeom prst="rect">
            <a:avLst/>
          </a:prstGeom>
          <a:noFill/>
          <a:ln/>
        </p:spPr>
        <p:txBody>
          <a:bodyPr wrap="square" lIns="0" tIns="0" rIns="0" bIns="0" rtlCol="0" anchor="t"/>
          <a:lstStyle/>
          <a:p>
            <a:pPr algn="ctr" indent="0" marL="0">
              <a:buNone/>
            </a:pPr>
            <a:r>
              <a:rPr lang="en-US" sz="1400" dirty="0">
                <a:solidFill>
                  <a:schemeClr val="bg2"/>
                </a:solidFill>
              </a:rPr>
              <a:t>ingest → validate → assess → propose → approve → disseminate → log</a:t>
            </a:r>
            <a:endParaRPr lang="en-US" sz="1400" dirty="0"/>
          </a:p>
          <a:p>
            <a:pPr algn="ctr" indent="0" marL="0">
              <a:buNone/>
            </a:pPr>
            <a:r>
              <a:rPr lang="en-US" sz="1400" dirty="0">
                <a:solidFill>
                  <a:schemeClr val="bg2"/>
                </a:solidFill>
              </a:rPr>
              <a:t>+ shelters and safe routing</a:t>
            </a:r>
            <a:endParaRPr lang="en-US" sz="1400" dirty="0"/>
          </a:p>
        </p:txBody>
      </p:sp>
      <p:sp>
        <p:nvSpPr>
          <p:cNvPr id="8" name="Shape 6"/>
          <p:cNvSpPr/>
          <p:nvPr/>
        </p:nvSpPr>
        <p:spPr>
          <a:xfrm>
            <a:off x="548640" y="2331720"/>
            <a:ext cx="2697480" cy="1097280"/>
          </a:xfrm>
          <a:prstGeom prst="roundRect">
            <a:avLst>
              <a:gd name="adj" fmla="val 6667"/>
            </a:avLst>
          </a:prstGeom>
          <a:solidFill>
            <a:schemeClr val="bg2"/>
          </a:solidFill>
          <a:ln w="12700">
            <a:solidFill>
              <a:schemeClr val="bg2"/>
            </a:solidFill>
            <a:prstDash val="solid"/>
          </a:ln>
        </p:spPr>
      </p:sp>
      <p:sp>
        <p:nvSpPr>
          <p:cNvPr id="9" name="Text 7"/>
          <p:cNvSpPr txBox="1"/>
          <p:nvPr/>
        </p:nvSpPr>
        <p:spPr>
          <a:xfrm>
            <a:off x="731520" y="2441448"/>
            <a:ext cx="2331720" cy="320040"/>
          </a:xfrm>
          <a:prstGeom prst="rect">
            <a:avLst/>
          </a:prstGeom>
          <a:noFill/>
          <a:ln/>
        </p:spPr>
        <p:txBody>
          <a:bodyPr wrap="square" lIns="0" tIns="0" rIns="0" bIns="0" rtlCol="0" anchor="t"/>
          <a:lstStyle/>
          <a:p>
            <a:pPr indent="0" marL="0">
              <a:buNone/>
            </a:pPr>
            <a:r>
              <a:rPr lang="en-US" sz="1500" b="1" dirty="0">
                <a:solidFill>
                  <a:schemeClr val="tx2"/>
                </a:solidFill>
              </a:rPr>
              <a:t>Citizens, volunteers, tourists</a:t>
            </a:r>
            <a:endParaRPr lang="en-US" sz="1500" dirty="0"/>
          </a:p>
        </p:txBody>
      </p:sp>
      <p:sp>
        <p:nvSpPr>
          <p:cNvPr id="10" name="Text 8"/>
          <p:cNvSpPr txBox="1"/>
          <p:nvPr/>
        </p:nvSpPr>
        <p:spPr>
          <a:xfrm>
            <a:off x="731520" y="2788920"/>
            <a:ext cx="2331720" cy="548640"/>
          </a:xfrm>
          <a:prstGeom prst="rect">
            <a:avLst/>
          </a:prstGeom>
          <a:noFill/>
          <a:ln/>
        </p:spPr>
        <p:txBody>
          <a:bodyPr wrap="square" lIns="0" tIns="0" rIns="0" bIns="0" rtlCol="0" anchor="t"/>
          <a:lstStyle/>
          <a:p>
            <a:pPr indent="0" marL="0">
              <a:buNone/>
            </a:pPr>
            <a:r>
              <a:rPr lang="en-US" sz="1300" dirty="0">
                <a:solidFill>
                  <a:schemeClr val="tx1"/>
                </a:solidFill>
              </a:rPr>
              <a:t>risk, guidance ↔ reports</a:t>
            </a:r>
            <a:endParaRPr lang="en-US" sz="1300" dirty="0"/>
          </a:p>
        </p:txBody>
      </p:sp>
      <p:sp>
        <p:nvSpPr>
          <p:cNvPr id="11" name="Shape 9"/>
          <p:cNvSpPr/>
          <p:nvPr/>
        </p:nvSpPr>
        <p:spPr>
          <a:xfrm>
            <a:off x="548640" y="3703320"/>
            <a:ext cx="2697480" cy="1097280"/>
          </a:xfrm>
          <a:prstGeom prst="roundRect">
            <a:avLst>
              <a:gd name="adj" fmla="val 6667"/>
            </a:avLst>
          </a:prstGeom>
          <a:solidFill>
            <a:schemeClr val="bg2"/>
          </a:solidFill>
          <a:ln w="12700">
            <a:solidFill>
              <a:schemeClr val="bg2"/>
            </a:solidFill>
            <a:prstDash val="solid"/>
          </a:ln>
        </p:spPr>
      </p:sp>
      <p:sp>
        <p:nvSpPr>
          <p:cNvPr id="12" name="Text 10"/>
          <p:cNvSpPr txBox="1"/>
          <p:nvPr/>
        </p:nvSpPr>
        <p:spPr>
          <a:xfrm>
            <a:off x="731520" y="3813048"/>
            <a:ext cx="2331720" cy="320040"/>
          </a:xfrm>
          <a:prstGeom prst="rect">
            <a:avLst/>
          </a:prstGeom>
          <a:noFill/>
          <a:ln/>
        </p:spPr>
        <p:txBody>
          <a:bodyPr wrap="square" lIns="0" tIns="0" rIns="0" bIns="0" rtlCol="0" anchor="t"/>
          <a:lstStyle/>
          <a:p>
            <a:pPr indent="0" marL="0">
              <a:buNone/>
            </a:pPr>
            <a:r>
              <a:rPr lang="en-US" sz="1500" b="1" dirty="0">
                <a:solidFill>
                  <a:schemeClr val="tx2"/>
                </a:solidFill>
              </a:rPr>
              <a:t>Authorities &amp; responders</a:t>
            </a:r>
            <a:endParaRPr lang="en-US" sz="1500" dirty="0"/>
          </a:p>
        </p:txBody>
      </p:sp>
      <p:sp>
        <p:nvSpPr>
          <p:cNvPr id="13" name="Text 11"/>
          <p:cNvSpPr txBox="1"/>
          <p:nvPr/>
        </p:nvSpPr>
        <p:spPr>
          <a:xfrm>
            <a:off x="731520" y="4160520"/>
            <a:ext cx="2331720" cy="548640"/>
          </a:xfrm>
          <a:prstGeom prst="rect">
            <a:avLst/>
          </a:prstGeom>
          <a:noFill/>
          <a:ln/>
        </p:spPr>
        <p:txBody>
          <a:bodyPr wrap="square" lIns="0" tIns="0" rIns="0" bIns="0" rtlCol="0" anchor="t"/>
          <a:lstStyle/>
          <a:p>
            <a:pPr indent="0" marL="0">
              <a:buNone/>
            </a:pPr>
            <a:r>
              <a:rPr lang="en-US" sz="1300" dirty="0">
                <a:solidFill>
                  <a:schemeClr val="tx1"/>
                </a:solidFill>
              </a:rPr>
              <a:t>approve, issue ↔ situation</a:t>
            </a:r>
            <a:endParaRPr lang="en-US" sz="1300" dirty="0"/>
          </a:p>
        </p:txBody>
      </p:sp>
      <p:sp>
        <p:nvSpPr>
          <p:cNvPr id="14" name="Shape 12"/>
          <p:cNvSpPr/>
          <p:nvPr/>
        </p:nvSpPr>
        <p:spPr>
          <a:xfrm>
            <a:off x="8915400" y="2331720"/>
            <a:ext cx="2697480" cy="1097280"/>
          </a:xfrm>
          <a:prstGeom prst="roundRect">
            <a:avLst>
              <a:gd name="adj" fmla="val 6667"/>
            </a:avLst>
          </a:prstGeom>
          <a:solidFill>
            <a:schemeClr val="bg2"/>
          </a:solidFill>
          <a:ln w="12700">
            <a:solidFill>
              <a:schemeClr val="bg2"/>
            </a:solidFill>
            <a:prstDash val="solid"/>
          </a:ln>
        </p:spPr>
      </p:sp>
      <p:sp>
        <p:nvSpPr>
          <p:cNvPr id="15" name="Text 13"/>
          <p:cNvSpPr txBox="1"/>
          <p:nvPr/>
        </p:nvSpPr>
        <p:spPr>
          <a:xfrm>
            <a:off x="9098280" y="2441448"/>
            <a:ext cx="2331720" cy="320040"/>
          </a:xfrm>
          <a:prstGeom prst="rect">
            <a:avLst/>
          </a:prstGeom>
          <a:noFill/>
          <a:ln/>
        </p:spPr>
        <p:txBody>
          <a:bodyPr wrap="square" lIns="0" tIns="0" rIns="0" bIns="0" rtlCol="0" anchor="t"/>
          <a:lstStyle/>
          <a:p>
            <a:pPr indent="0" marL="0">
              <a:buNone/>
            </a:pPr>
            <a:r>
              <a:rPr lang="en-US" sz="1500" b="1" dirty="0">
                <a:solidFill>
                  <a:schemeClr val="tx2"/>
                </a:solidFill>
              </a:rPr>
              <a:t>Channels</a:t>
            </a:r>
            <a:endParaRPr lang="en-US" sz="1500" dirty="0"/>
          </a:p>
        </p:txBody>
      </p:sp>
      <p:sp>
        <p:nvSpPr>
          <p:cNvPr id="16" name="Text 14"/>
          <p:cNvSpPr txBox="1"/>
          <p:nvPr/>
        </p:nvSpPr>
        <p:spPr>
          <a:xfrm>
            <a:off x="9098280" y="2788920"/>
            <a:ext cx="2331720" cy="548640"/>
          </a:xfrm>
          <a:prstGeom prst="rect">
            <a:avLst/>
          </a:prstGeom>
          <a:noFill/>
          <a:ln/>
        </p:spPr>
        <p:txBody>
          <a:bodyPr wrap="square" lIns="0" tIns="0" rIns="0" bIns="0" rtlCol="0" anchor="t"/>
          <a:lstStyle/>
          <a:p>
            <a:pPr indent="0" marL="0">
              <a:buNone/>
            </a:pPr>
            <a:r>
              <a:rPr lang="en-US" sz="1300" dirty="0">
                <a:solidFill>
                  <a:schemeClr val="tx1"/>
                </a:solidFill>
              </a:rPr>
              <a:t>web push · SMS · email · sirens (authorized only)</a:t>
            </a:r>
            <a:endParaRPr lang="en-US" sz="1300" dirty="0"/>
          </a:p>
        </p:txBody>
      </p:sp>
      <p:sp>
        <p:nvSpPr>
          <p:cNvPr id="17" name="Shape 15"/>
          <p:cNvSpPr/>
          <p:nvPr/>
        </p:nvSpPr>
        <p:spPr>
          <a:xfrm>
            <a:off x="8915400" y="3703320"/>
            <a:ext cx="2697480" cy="1097280"/>
          </a:xfrm>
          <a:prstGeom prst="roundRect">
            <a:avLst>
              <a:gd name="adj" fmla="val 6667"/>
            </a:avLst>
          </a:prstGeom>
          <a:solidFill>
            <a:schemeClr val="bg2"/>
          </a:solidFill>
          <a:ln w="12700">
            <a:solidFill>
              <a:schemeClr val="bg2"/>
            </a:solidFill>
            <a:prstDash val="solid"/>
          </a:ln>
        </p:spPr>
      </p:sp>
      <p:sp>
        <p:nvSpPr>
          <p:cNvPr id="18" name="Text 16"/>
          <p:cNvSpPr txBox="1"/>
          <p:nvPr/>
        </p:nvSpPr>
        <p:spPr>
          <a:xfrm>
            <a:off x="9098280" y="3813048"/>
            <a:ext cx="2331720" cy="320040"/>
          </a:xfrm>
          <a:prstGeom prst="rect">
            <a:avLst/>
          </a:prstGeom>
          <a:noFill/>
          <a:ln/>
        </p:spPr>
        <p:txBody>
          <a:bodyPr wrap="square" lIns="0" tIns="0" rIns="0" bIns="0" rtlCol="0" anchor="t"/>
          <a:lstStyle/>
          <a:p>
            <a:pPr indent="0" marL="0">
              <a:buNone/>
            </a:pPr>
            <a:r>
              <a:rPr lang="en-US" sz="1500" b="1" dirty="0">
                <a:solidFill>
                  <a:schemeClr val="tx2"/>
                </a:solidFill>
              </a:rPr>
              <a:t>Other systems</a:t>
            </a:r>
            <a:endParaRPr lang="en-US" sz="1500" dirty="0"/>
          </a:p>
        </p:txBody>
      </p:sp>
      <p:sp>
        <p:nvSpPr>
          <p:cNvPr id="19" name="Text 17"/>
          <p:cNvSpPr txBox="1"/>
          <p:nvPr/>
        </p:nvSpPr>
        <p:spPr>
          <a:xfrm>
            <a:off x="9098280" y="4160520"/>
            <a:ext cx="2331720" cy="548640"/>
          </a:xfrm>
          <a:prstGeom prst="rect">
            <a:avLst/>
          </a:prstGeom>
          <a:noFill/>
          <a:ln/>
        </p:spPr>
        <p:txBody>
          <a:bodyPr wrap="square" lIns="0" tIns="0" rIns="0" bIns="0" rtlCol="0" anchor="t"/>
          <a:lstStyle/>
          <a:p>
            <a:pPr indent="0" marL="0">
              <a:buNone/>
            </a:pPr>
            <a:r>
              <a:rPr lang="en-US" sz="1300" dirty="0">
                <a:solidFill>
                  <a:schemeClr val="tx1"/>
                </a:solidFill>
              </a:rPr>
              <a:t>National alert systems via CAP (pilot: BIPAD)</a:t>
            </a:r>
            <a:endParaRPr lang="en-US" sz="1300" dirty="0"/>
          </a:p>
        </p:txBody>
      </p:sp>
      <p:sp>
        <p:nvSpPr>
          <p:cNvPr id="20" name="Shape 18"/>
          <p:cNvSpPr/>
          <p:nvPr/>
        </p:nvSpPr>
        <p:spPr>
          <a:xfrm>
            <a:off x="6080760" y="2011680"/>
            <a:ext cx="0" cy="411480"/>
          </a:xfrm>
          <a:prstGeom prst="line">
            <a:avLst/>
          </a:prstGeom>
          <a:noFill/>
          <a:ln w="25400">
            <a:solidFill>
              <a:schemeClr val="accent1"/>
            </a:solidFill>
            <a:prstDash val="solid"/>
            <a:tailEnd type="triangle"/>
          </a:ln>
        </p:spPr>
      </p:sp>
      <p:sp>
        <p:nvSpPr>
          <p:cNvPr id="21" name="Shape 19"/>
          <p:cNvSpPr/>
          <p:nvPr/>
        </p:nvSpPr>
        <p:spPr>
          <a:xfrm>
            <a:off x="3246120" y="2880360"/>
            <a:ext cx="777240" cy="0"/>
          </a:xfrm>
          <a:prstGeom prst="line">
            <a:avLst/>
          </a:prstGeom>
          <a:noFill/>
          <a:ln w="25400">
            <a:solidFill>
              <a:schemeClr val="accent1"/>
            </a:solidFill>
            <a:prstDash val="solid"/>
            <a:headEnd type="triangle"/>
            <a:tailEnd type="triangle"/>
          </a:ln>
        </p:spPr>
      </p:sp>
      <p:sp>
        <p:nvSpPr>
          <p:cNvPr id="22" name="Shape 20"/>
          <p:cNvSpPr/>
          <p:nvPr/>
        </p:nvSpPr>
        <p:spPr>
          <a:xfrm>
            <a:off x="3246120" y="4251960"/>
            <a:ext cx="777240" cy="0"/>
          </a:xfrm>
          <a:prstGeom prst="line">
            <a:avLst/>
          </a:prstGeom>
          <a:noFill/>
          <a:ln w="25400">
            <a:solidFill>
              <a:schemeClr val="accent1"/>
            </a:solidFill>
            <a:prstDash val="solid"/>
            <a:headEnd type="triangle"/>
            <a:tailEnd type="triangle"/>
          </a:ln>
        </p:spPr>
      </p:sp>
      <p:sp>
        <p:nvSpPr>
          <p:cNvPr id="23" name="Shape 21"/>
          <p:cNvSpPr/>
          <p:nvPr/>
        </p:nvSpPr>
        <p:spPr>
          <a:xfrm>
            <a:off x="8138160" y="2880360"/>
            <a:ext cx="777240" cy="0"/>
          </a:xfrm>
          <a:prstGeom prst="line">
            <a:avLst/>
          </a:prstGeom>
          <a:noFill/>
          <a:ln w="25400">
            <a:solidFill>
              <a:schemeClr val="accent1"/>
            </a:solidFill>
            <a:prstDash val="solid"/>
            <a:tailEnd type="triangle"/>
          </a:ln>
        </p:spPr>
      </p:sp>
      <p:sp>
        <p:nvSpPr>
          <p:cNvPr id="24" name="Shape 22"/>
          <p:cNvSpPr/>
          <p:nvPr/>
        </p:nvSpPr>
        <p:spPr>
          <a:xfrm>
            <a:off x="8138160" y="4251960"/>
            <a:ext cx="777240" cy="0"/>
          </a:xfrm>
          <a:prstGeom prst="line">
            <a:avLst/>
          </a:prstGeom>
          <a:noFill/>
          <a:ln w="25400">
            <a:solidFill>
              <a:schemeClr val="accent1"/>
            </a:solidFill>
            <a:prstDash val="solid"/>
            <a:tailEnd type="triangle"/>
          </a:ln>
        </p:spPr>
      </p:sp>
      <p:sp>
        <p:nvSpPr>
          <p:cNvPr id="25" name="Shape 23"/>
          <p:cNvSpPr/>
          <p:nvPr/>
        </p:nvSpPr>
        <p:spPr>
          <a:xfrm>
            <a:off x="4480560" y="4892040"/>
            <a:ext cx="3200400" cy="685800"/>
          </a:xfrm>
          <a:prstGeom prst="roundRect">
            <a:avLst>
              <a:gd name="adj" fmla="val 10667"/>
            </a:avLst>
          </a:prstGeom>
          <a:solidFill>
            <a:schemeClr val="bg2"/>
          </a:solidFill>
          <a:ln w="12700">
            <a:solidFill>
              <a:schemeClr val="bg2"/>
            </a:solidFill>
            <a:prstDash val="solid"/>
          </a:ln>
        </p:spPr>
      </p:sp>
      <p:sp>
        <p:nvSpPr>
          <p:cNvPr id="26" name="Text 24"/>
          <p:cNvSpPr txBox="1"/>
          <p:nvPr/>
        </p:nvSpPr>
        <p:spPr>
          <a:xfrm>
            <a:off x="4572000" y="4937760"/>
            <a:ext cx="3017520" cy="594360"/>
          </a:xfrm>
          <a:prstGeom prst="rect">
            <a:avLst/>
          </a:prstGeom>
          <a:noFill/>
          <a:ln/>
        </p:spPr>
        <p:txBody>
          <a:bodyPr wrap="square" lIns="0" tIns="0" rIns="0" bIns="0" rtlCol="0" anchor="ctr"/>
          <a:lstStyle/>
          <a:p>
            <a:pPr algn="ctr" indent="0" marL="0">
              <a:buNone/>
            </a:pPr>
            <a:r>
              <a:rPr lang="en-US" sz="1400" b="1" dirty="0">
                <a:solidFill>
                  <a:schemeClr val="tx2"/>
                </a:solidFill>
              </a:rPr>
              <a:t>Administrators — configure &amp; monitor</a:t>
            </a:r>
            <a:endParaRPr lang="en-US" sz="1400" dirty="0"/>
          </a:p>
        </p:txBody>
      </p:sp>
      <p:sp>
        <p:nvSpPr>
          <p:cNvPr id="27" name="Shape 25"/>
          <p:cNvSpPr/>
          <p:nvPr/>
        </p:nvSpPr>
        <p:spPr>
          <a:xfrm>
            <a:off x="6080760" y="4434840"/>
            <a:ext cx="0" cy="457200"/>
          </a:xfrm>
          <a:prstGeom prst="line">
            <a:avLst/>
          </a:prstGeom>
          <a:noFill/>
          <a:ln w="25400">
            <a:solidFill>
              <a:schemeClr val="accent1"/>
            </a:solidFill>
            <a:prstDash val="solid"/>
            <a:headEnd type="triangle"/>
          </a:ln>
        </p:spPr>
      </p:sp>
      <p:sp>
        <p:nvSpPr>
          <p:cNvPr id="28" name="Text 26"/>
          <p:cNvSpPr txBox="1"/>
          <p:nvPr/>
        </p:nvSpPr>
        <p:spPr>
          <a:xfrm>
            <a:off x="548640" y="5760720"/>
            <a:ext cx="11064240" cy="502920"/>
          </a:xfrm>
          <a:prstGeom prst="rect">
            <a:avLst/>
          </a:prstGeom>
          <a:noFill/>
          <a:ln/>
        </p:spPr>
        <p:txBody>
          <a:bodyPr wrap="square" lIns="0" tIns="0" rIns="0" bIns="0" rtlCol="0" anchor="t"/>
          <a:lstStyle/>
          <a:p>
            <a:pPr indent="0" marL="0">
              <a:buNone/>
            </a:pPr>
            <a:r>
              <a:rPr lang="en-US" sz="1300" i="1" dirty="0">
                <a:solidFill>
                  <a:schemeClr val="accent6"/>
                </a:solidFill>
              </a:rPr>
              <a:t>Inside the boundary: validation, risk, warning workflow, messages, dissemination, guidance, logs.  Outside: sensors, networks, legal authority to order evacuation.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High-level architecture: a modular monolith</a:t>
            </a:r>
            <a:endParaRPr lang="en-US" sz="3200" dirty="0"/>
          </a:p>
        </p:txBody>
      </p:sp>
      <p:sp>
        <p:nvSpPr>
          <p:cNvPr id="3" name="Shape 1"/>
          <p:cNvSpPr/>
          <p:nvPr/>
        </p:nvSpPr>
        <p:spPr>
          <a:xfrm>
            <a:off x="548640" y="1280160"/>
            <a:ext cx="11064240" cy="960120"/>
          </a:xfrm>
          <a:prstGeom prst="roundRect">
            <a:avLst>
              <a:gd name="adj" fmla="val 7619"/>
            </a:avLst>
          </a:prstGeom>
          <a:solidFill>
            <a:schemeClr val="bg2"/>
          </a:solidFill>
          <a:ln w="12700">
            <a:solidFill>
              <a:schemeClr val="bg2"/>
            </a:solidFill>
            <a:prstDash val="solid"/>
          </a:ln>
        </p:spPr>
      </p:sp>
      <p:sp>
        <p:nvSpPr>
          <p:cNvPr id="4" name="Shape 2"/>
          <p:cNvSpPr/>
          <p:nvPr/>
        </p:nvSpPr>
        <p:spPr>
          <a:xfrm>
            <a:off x="548640" y="1280160"/>
            <a:ext cx="1828800" cy="960120"/>
          </a:xfrm>
          <a:prstGeom prst="roundRect">
            <a:avLst>
              <a:gd name="adj" fmla="val 7619"/>
            </a:avLst>
          </a:prstGeom>
          <a:solidFill>
            <a:schemeClr val="tx2"/>
          </a:solidFill>
          <a:ln w="12700">
            <a:solidFill>
              <a:schemeClr val="tx2"/>
            </a:solidFill>
            <a:prstDash val="solid"/>
          </a:ln>
        </p:spPr>
      </p:sp>
      <p:sp>
        <p:nvSpPr>
          <p:cNvPr id="5" name="Text 3"/>
          <p:cNvSpPr txBox="1"/>
          <p:nvPr/>
        </p:nvSpPr>
        <p:spPr>
          <a:xfrm>
            <a:off x="685800" y="1389888"/>
            <a:ext cx="1600200" cy="320040"/>
          </a:xfrm>
          <a:prstGeom prst="rect">
            <a:avLst/>
          </a:prstGeom>
          <a:noFill/>
          <a:ln/>
        </p:spPr>
        <p:txBody>
          <a:bodyPr wrap="square" lIns="0" tIns="0" rIns="0" bIns="0" rtlCol="0" anchor="t"/>
          <a:lstStyle/>
          <a:p>
            <a:pPr indent="0" marL="0">
              <a:buNone/>
            </a:pPr>
            <a:r>
              <a:rPr lang="en-US" sz="1600" b="1" dirty="0">
                <a:solidFill>
                  <a:schemeClr val="bg1"/>
                </a:solidFill>
              </a:rPr>
              <a:t>Presentation</a:t>
            </a:r>
            <a:endParaRPr lang="en-US" sz="1600" dirty="0"/>
          </a:p>
        </p:txBody>
      </p:sp>
      <p:sp>
        <p:nvSpPr>
          <p:cNvPr id="6" name="Text 4"/>
          <p:cNvSpPr txBox="1"/>
          <p:nvPr/>
        </p:nvSpPr>
        <p:spPr>
          <a:xfrm>
            <a:off x="685800" y="1737360"/>
            <a:ext cx="1600200" cy="320040"/>
          </a:xfrm>
          <a:prstGeom prst="rect">
            <a:avLst/>
          </a:prstGeom>
          <a:noFill/>
          <a:ln/>
        </p:spPr>
        <p:txBody>
          <a:bodyPr wrap="square" lIns="0" tIns="0" rIns="0" bIns="0" rtlCol="0" anchor="t"/>
          <a:lstStyle/>
          <a:p>
            <a:pPr indent="0" marL="0">
              <a:buNone/>
            </a:pPr>
            <a:r>
              <a:rPr lang="en-US" sz="1300" dirty="0">
                <a:solidFill>
                  <a:schemeClr val="accent4"/>
                </a:solidFill>
              </a:rPr>
              <a:t>Next.js PWA</a:t>
            </a:r>
            <a:endParaRPr lang="en-US" sz="1300" dirty="0"/>
          </a:p>
        </p:txBody>
      </p:sp>
      <p:sp>
        <p:nvSpPr>
          <p:cNvPr id="7" name="Shape 5"/>
          <p:cNvSpPr/>
          <p:nvPr/>
        </p:nvSpPr>
        <p:spPr>
          <a:xfrm>
            <a:off x="2560320" y="1417320"/>
            <a:ext cx="2865120" cy="685800"/>
          </a:xfrm>
          <a:prstGeom prst="roundRect">
            <a:avLst>
              <a:gd name="adj" fmla="val 10667"/>
            </a:avLst>
          </a:prstGeom>
          <a:solidFill>
            <a:schemeClr val="bg1"/>
          </a:solidFill>
          <a:ln w="12700">
            <a:solidFill>
              <a:schemeClr val="bg1"/>
            </a:solidFill>
            <a:prstDash val="solid"/>
          </a:ln>
        </p:spPr>
      </p:sp>
      <p:sp>
        <p:nvSpPr>
          <p:cNvPr id="8" name="Text 6"/>
          <p:cNvSpPr txBox="1"/>
          <p:nvPr/>
        </p:nvSpPr>
        <p:spPr>
          <a:xfrm>
            <a:off x="2651760" y="1417320"/>
            <a:ext cx="2682240" cy="685800"/>
          </a:xfrm>
          <a:prstGeom prst="rect">
            <a:avLst/>
          </a:prstGeom>
          <a:noFill/>
          <a:ln/>
        </p:spPr>
        <p:txBody>
          <a:bodyPr wrap="square" lIns="0" tIns="0" rIns="0" bIns="0" rtlCol="0" anchor="ctr"/>
          <a:lstStyle/>
          <a:p>
            <a:pPr algn="ctr" indent="0" marL="0">
              <a:buNone/>
            </a:pPr>
            <a:r>
              <a:rPr lang="en-US" sz="1400" b="1" dirty="0">
                <a:solidFill>
                  <a:schemeClr val="tx2"/>
                </a:solidFill>
              </a:rPr>
              <a:t>Citizen PWA</a:t>
            </a:r>
            <a:endParaRPr lang="en-US" sz="1400" dirty="0"/>
          </a:p>
        </p:txBody>
      </p:sp>
      <p:sp>
        <p:nvSpPr>
          <p:cNvPr id="9" name="Shape 7"/>
          <p:cNvSpPr/>
          <p:nvPr/>
        </p:nvSpPr>
        <p:spPr>
          <a:xfrm>
            <a:off x="5562600" y="1417320"/>
            <a:ext cx="2865120" cy="685800"/>
          </a:xfrm>
          <a:prstGeom prst="roundRect">
            <a:avLst>
              <a:gd name="adj" fmla="val 10667"/>
            </a:avLst>
          </a:prstGeom>
          <a:solidFill>
            <a:schemeClr val="bg1"/>
          </a:solidFill>
          <a:ln w="12700">
            <a:solidFill>
              <a:schemeClr val="bg1"/>
            </a:solidFill>
            <a:prstDash val="solid"/>
          </a:ln>
        </p:spPr>
      </p:sp>
      <p:sp>
        <p:nvSpPr>
          <p:cNvPr id="10" name="Text 8"/>
          <p:cNvSpPr txBox="1"/>
          <p:nvPr/>
        </p:nvSpPr>
        <p:spPr>
          <a:xfrm>
            <a:off x="5654040" y="1417320"/>
            <a:ext cx="2682240" cy="685800"/>
          </a:xfrm>
          <a:prstGeom prst="rect">
            <a:avLst/>
          </a:prstGeom>
          <a:noFill/>
          <a:ln/>
        </p:spPr>
        <p:txBody>
          <a:bodyPr wrap="square" lIns="0" tIns="0" rIns="0" bIns="0" rtlCol="0" anchor="ctr"/>
          <a:lstStyle/>
          <a:p>
            <a:pPr algn="ctr" indent="0" marL="0">
              <a:buNone/>
            </a:pPr>
            <a:r>
              <a:rPr lang="en-US" sz="1400" b="1" dirty="0">
                <a:solidFill>
                  <a:schemeClr val="tx2"/>
                </a:solidFill>
              </a:rPr>
              <a:t>Authority dashboard</a:t>
            </a:r>
            <a:endParaRPr lang="en-US" sz="1400" dirty="0"/>
          </a:p>
        </p:txBody>
      </p:sp>
      <p:sp>
        <p:nvSpPr>
          <p:cNvPr id="11" name="Shape 9"/>
          <p:cNvSpPr/>
          <p:nvPr/>
        </p:nvSpPr>
        <p:spPr>
          <a:xfrm>
            <a:off x="8564880" y="1417320"/>
            <a:ext cx="2865120" cy="685800"/>
          </a:xfrm>
          <a:prstGeom prst="roundRect">
            <a:avLst>
              <a:gd name="adj" fmla="val 10667"/>
            </a:avLst>
          </a:prstGeom>
          <a:solidFill>
            <a:schemeClr val="bg1"/>
          </a:solidFill>
          <a:ln w="12700">
            <a:solidFill>
              <a:schemeClr val="bg1"/>
            </a:solidFill>
            <a:prstDash val="solid"/>
          </a:ln>
        </p:spPr>
      </p:sp>
      <p:sp>
        <p:nvSpPr>
          <p:cNvPr id="12" name="Text 10"/>
          <p:cNvSpPr txBox="1"/>
          <p:nvPr/>
        </p:nvSpPr>
        <p:spPr>
          <a:xfrm>
            <a:off x="8656320" y="1417320"/>
            <a:ext cx="2682240" cy="685800"/>
          </a:xfrm>
          <a:prstGeom prst="rect">
            <a:avLst/>
          </a:prstGeom>
          <a:noFill/>
          <a:ln/>
        </p:spPr>
        <p:txBody>
          <a:bodyPr wrap="square" lIns="0" tIns="0" rIns="0" bIns="0" rtlCol="0" anchor="ctr"/>
          <a:lstStyle/>
          <a:p>
            <a:pPr algn="ctr" indent="0" marL="0">
              <a:buNone/>
            </a:pPr>
            <a:r>
              <a:rPr lang="en-US" sz="1400" b="1" dirty="0">
                <a:solidFill>
                  <a:schemeClr val="tx2"/>
                </a:solidFill>
              </a:rPr>
              <a:t>Admin console</a:t>
            </a:r>
            <a:endParaRPr lang="en-US" sz="1400" dirty="0"/>
          </a:p>
        </p:txBody>
      </p:sp>
      <p:sp>
        <p:nvSpPr>
          <p:cNvPr id="13" name="Shape 11"/>
          <p:cNvSpPr/>
          <p:nvPr/>
        </p:nvSpPr>
        <p:spPr>
          <a:xfrm>
            <a:off x="548640" y="2423160"/>
            <a:ext cx="11064240" cy="2331720"/>
          </a:xfrm>
          <a:prstGeom prst="roundRect">
            <a:avLst>
              <a:gd name="adj" fmla="val 3137"/>
            </a:avLst>
          </a:prstGeom>
          <a:solidFill>
            <a:schemeClr val="bg2"/>
          </a:solidFill>
          <a:ln w="12700">
            <a:solidFill>
              <a:schemeClr val="bg2"/>
            </a:solidFill>
            <a:prstDash val="solid"/>
          </a:ln>
        </p:spPr>
      </p:sp>
      <p:sp>
        <p:nvSpPr>
          <p:cNvPr id="14" name="Shape 12"/>
          <p:cNvSpPr/>
          <p:nvPr/>
        </p:nvSpPr>
        <p:spPr>
          <a:xfrm>
            <a:off x="548640" y="2423160"/>
            <a:ext cx="1828800" cy="2331720"/>
          </a:xfrm>
          <a:prstGeom prst="roundRect">
            <a:avLst>
              <a:gd name="adj" fmla="val 4000"/>
            </a:avLst>
          </a:prstGeom>
          <a:solidFill>
            <a:schemeClr val="tx2"/>
          </a:solidFill>
          <a:ln w="12700">
            <a:solidFill>
              <a:schemeClr val="tx2"/>
            </a:solidFill>
            <a:prstDash val="solid"/>
          </a:ln>
        </p:spPr>
      </p:sp>
      <p:sp>
        <p:nvSpPr>
          <p:cNvPr id="15" name="Text 13"/>
          <p:cNvSpPr txBox="1"/>
          <p:nvPr/>
        </p:nvSpPr>
        <p:spPr>
          <a:xfrm>
            <a:off x="685800" y="2532888"/>
            <a:ext cx="1600200" cy="320040"/>
          </a:xfrm>
          <a:prstGeom prst="rect">
            <a:avLst/>
          </a:prstGeom>
          <a:noFill/>
          <a:ln/>
        </p:spPr>
        <p:txBody>
          <a:bodyPr wrap="square" lIns="0" tIns="0" rIns="0" bIns="0" rtlCol="0" anchor="t"/>
          <a:lstStyle/>
          <a:p>
            <a:pPr indent="0" marL="0">
              <a:buNone/>
            </a:pPr>
            <a:r>
              <a:rPr lang="en-US" sz="1600" b="1" dirty="0">
                <a:solidFill>
                  <a:schemeClr val="bg1"/>
                </a:solidFill>
              </a:rPr>
              <a:t>Application</a:t>
            </a:r>
            <a:endParaRPr lang="en-US" sz="1600" dirty="0"/>
          </a:p>
        </p:txBody>
      </p:sp>
      <p:sp>
        <p:nvSpPr>
          <p:cNvPr id="16" name="Text 14"/>
          <p:cNvSpPr txBox="1"/>
          <p:nvPr/>
        </p:nvSpPr>
        <p:spPr>
          <a:xfrm>
            <a:off x="685800" y="2880360"/>
            <a:ext cx="1600200" cy="320040"/>
          </a:xfrm>
          <a:prstGeom prst="rect">
            <a:avLst/>
          </a:prstGeom>
          <a:noFill/>
          <a:ln/>
        </p:spPr>
        <p:txBody>
          <a:bodyPr wrap="square" lIns="0" tIns="0" rIns="0" bIns="0" rtlCol="0" anchor="t"/>
          <a:lstStyle/>
          <a:p>
            <a:pPr indent="0" marL="0">
              <a:buNone/>
            </a:pPr>
            <a:r>
              <a:rPr lang="en-US" sz="1300" dirty="0">
                <a:solidFill>
                  <a:schemeClr val="accent4"/>
                </a:solidFill>
              </a:rPr>
              <a:t>FastAPI</a:t>
            </a:r>
            <a:endParaRPr lang="en-US" sz="1300" dirty="0"/>
          </a:p>
        </p:txBody>
      </p:sp>
      <p:sp>
        <p:nvSpPr>
          <p:cNvPr id="17" name="Shape 15"/>
          <p:cNvSpPr/>
          <p:nvPr/>
        </p:nvSpPr>
        <p:spPr>
          <a:xfrm>
            <a:off x="2560320" y="2560320"/>
            <a:ext cx="1664208" cy="914400"/>
          </a:xfrm>
          <a:prstGeom prst="roundRect">
            <a:avLst>
              <a:gd name="adj" fmla="val 8000"/>
            </a:avLst>
          </a:prstGeom>
          <a:solidFill>
            <a:schemeClr val="bg1"/>
          </a:solidFill>
          <a:ln w="12700">
            <a:solidFill>
              <a:schemeClr val="bg1"/>
            </a:solidFill>
            <a:prstDash val="solid"/>
          </a:ln>
        </p:spPr>
      </p:sp>
      <p:sp>
        <p:nvSpPr>
          <p:cNvPr id="18" name="Text 16"/>
          <p:cNvSpPr txBox="1"/>
          <p:nvPr/>
        </p:nvSpPr>
        <p:spPr>
          <a:xfrm>
            <a:off x="2651760" y="2560320"/>
            <a:ext cx="1481328" cy="914400"/>
          </a:xfrm>
          <a:prstGeom prst="rect">
            <a:avLst/>
          </a:prstGeom>
          <a:noFill/>
          <a:ln/>
        </p:spPr>
        <p:txBody>
          <a:bodyPr wrap="square" lIns="0" tIns="0" rIns="0" bIns="0" rtlCol="0" anchor="ctr"/>
          <a:lstStyle/>
          <a:p>
            <a:pPr algn="ctr" indent="0" marL="0">
              <a:buNone/>
            </a:pPr>
            <a:r>
              <a:rPr lang="en-US" sz="1400" b="1" dirty="0">
                <a:solidFill>
                  <a:schemeClr val="tx2"/>
                </a:solidFill>
              </a:rPr>
              <a:t>Ingestion: API, MQTT, satellite</a:t>
            </a:r>
            <a:endParaRPr lang="en-US" sz="1400" dirty="0"/>
          </a:p>
        </p:txBody>
      </p:sp>
      <p:sp>
        <p:nvSpPr>
          <p:cNvPr id="19" name="Shape 17"/>
          <p:cNvSpPr/>
          <p:nvPr/>
        </p:nvSpPr>
        <p:spPr>
          <a:xfrm>
            <a:off x="4361688" y="2560320"/>
            <a:ext cx="1664208" cy="914400"/>
          </a:xfrm>
          <a:prstGeom prst="roundRect">
            <a:avLst>
              <a:gd name="adj" fmla="val 8000"/>
            </a:avLst>
          </a:prstGeom>
          <a:solidFill>
            <a:schemeClr val="bg1"/>
          </a:solidFill>
          <a:ln w="12700">
            <a:solidFill>
              <a:schemeClr val="bg1"/>
            </a:solidFill>
            <a:prstDash val="solid"/>
          </a:ln>
        </p:spPr>
      </p:sp>
      <p:sp>
        <p:nvSpPr>
          <p:cNvPr id="20" name="Text 18"/>
          <p:cNvSpPr txBox="1"/>
          <p:nvPr/>
        </p:nvSpPr>
        <p:spPr>
          <a:xfrm>
            <a:off x="4453128" y="2560320"/>
            <a:ext cx="1481328" cy="914400"/>
          </a:xfrm>
          <a:prstGeom prst="rect">
            <a:avLst/>
          </a:prstGeom>
          <a:noFill/>
          <a:ln/>
        </p:spPr>
        <p:txBody>
          <a:bodyPr wrap="square" lIns="0" tIns="0" rIns="0" bIns="0" rtlCol="0" anchor="ctr"/>
          <a:lstStyle/>
          <a:p>
            <a:pPr algn="ctr" indent="0" marL="0">
              <a:buNone/>
            </a:pPr>
            <a:r>
              <a:rPr lang="en-US" sz="1400" b="1" dirty="0">
                <a:solidFill>
                  <a:schemeClr val="tx2"/>
                </a:solidFill>
              </a:rPr>
              <a:t>Validation &amp; quality</a:t>
            </a:r>
            <a:endParaRPr lang="en-US" sz="1400" dirty="0"/>
          </a:p>
        </p:txBody>
      </p:sp>
      <p:sp>
        <p:nvSpPr>
          <p:cNvPr id="21" name="Shape 19"/>
          <p:cNvSpPr/>
          <p:nvPr/>
        </p:nvSpPr>
        <p:spPr>
          <a:xfrm>
            <a:off x="6163056" y="2560320"/>
            <a:ext cx="1664208" cy="914400"/>
          </a:xfrm>
          <a:prstGeom prst="roundRect">
            <a:avLst>
              <a:gd name="adj" fmla="val 8000"/>
            </a:avLst>
          </a:prstGeom>
          <a:solidFill>
            <a:schemeClr val="bg1"/>
          </a:solidFill>
          <a:ln w="12700">
            <a:solidFill>
              <a:schemeClr val="bg1"/>
            </a:solidFill>
            <a:prstDash val="solid"/>
          </a:ln>
        </p:spPr>
      </p:sp>
      <p:sp>
        <p:nvSpPr>
          <p:cNvPr id="22" name="Text 20"/>
          <p:cNvSpPr txBox="1"/>
          <p:nvPr/>
        </p:nvSpPr>
        <p:spPr>
          <a:xfrm>
            <a:off x="6254496" y="2560320"/>
            <a:ext cx="1481328" cy="914400"/>
          </a:xfrm>
          <a:prstGeom prst="rect">
            <a:avLst/>
          </a:prstGeom>
          <a:noFill/>
          <a:ln/>
        </p:spPr>
        <p:txBody>
          <a:bodyPr wrap="square" lIns="0" tIns="0" rIns="0" bIns="0" rtlCol="0" anchor="ctr"/>
          <a:lstStyle/>
          <a:p>
            <a:pPr algn="ctr" indent="0" marL="0">
              <a:buNone/>
            </a:pPr>
            <a:r>
              <a:rPr lang="en-US" sz="1400" b="1" dirty="0">
                <a:solidFill>
                  <a:schemeClr val="tx2"/>
                </a:solidFill>
              </a:rPr>
              <a:t>Risk engine</a:t>
            </a:r>
            <a:endParaRPr lang="en-US" sz="1400" dirty="0"/>
          </a:p>
        </p:txBody>
      </p:sp>
      <p:sp>
        <p:nvSpPr>
          <p:cNvPr id="23" name="Shape 21"/>
          <p:cNvSpPr/>
          <p:nvPr/>
        </p:nvSpPr>
        <p:spPr>
          <a:xfrm>
            <a:off x="7964424" y="2560320"/>
            <a:ext cx="1664208" cy="914400"/>
          </a:xfrm>
          <a:prstGeom prst="roundRect">
            <a:avLst>
              <a:gd name="adj" fmla="val 8000"/>
            </a:avLst>
          </a:prstGeom>
          <a:solidFill>
            <a:schemeClr val="bg1"/>
          </a:solidFill>
          <a:ln w="12700">
            <a:solidFill>
              <a:schemeClr val="bg1"/>
            </a:solidFill>
            <a:prstDash val="solid"/>
          </a:ln>
        </p:spPr>
      </p:sp>
      <p:sp>
        <p:nvSpPr>
          <p:cNvPr id="24" name="Text 22"/>
          <p:cNvSpPr txBox="1"/>
          <p:nvPr/>
        </p:nvSpPr>
        <p:spPr>
          <a:xfrm>
            <a:off x="8055864" y="2560320"/>
            <a:ext cx="1481328" cy="914400"/>
          </a:xfrm>
          <a:prstGeom prst="rect">
            <a:avLst/>
          </a:prstGeom>
          <a:noFill/>
          <a:ln/>
        </p:spPr>
        <p:txBody>
          <a:bodyPr wrap="square" lIns="0" tIns="0" rIns="0" bIns="0" rtlCol="0" anchor="ctr"/>
          <a:lstStyle/>
          <a:p>
            <a:pPr algn="ctr" indent="0" marL="0">
              <a:buNone/>
            </a:pPr>
            <a:r>
              <a:rPr lang="en-US" sz="1400" b="1" dirty="0">
                <a:solidFill>
                  <a:schemeClr val="tx2"/>
                </a:solidFill>
              </a:rPr>
              <a:t>Flood plug-in</a:t>
            </a:r>
            <a:endParaRPr lang="en-US" sz="1400" dirty="0"/>
          </a:p>
        </p:txBody>
      </p:sp>
      <p:sp>
        <p:nvSpPr>
          <p:cNvPr id="25" name="Shape 23"/>
          <p:cNvSpPr/>
          <p:nvPr/>
        </p:nvSpPr>
        <p:spPr>
          <a:xfrm>
            <a:off x="9765792" y="2560320"/>
            <a:ext cx="1664208" cy="914400"/>
          </a:xfrm>
          <a:prstGeom prst="roundRect">
            <a:avLst>
              <a:gd name="adj" fmla="val 8000"/>
            </a:avLst>
          </a:prstGeom>
          <a:solidFill>
            <a:schemeClr val="bg1"/>
          </a:solidFill>
          <a:ln w="12700">
            <a:solidFill>
              <a:schemeClr val="bg1"/>
            </a:solidFill>
            <a:prstDash val="solid"/>
          </a:ln>
        </p:spPr>
      </p:sp>
      <p:sp>
        <p:nvSpPr>
          <p:cNvPr id="26" name="Text 24"/>
          <p:cNvSpPr txBox="1"/>
          <p:nvPr/>
        </p:nvSpPr>
        <p:spPr>
          <a:xfrm>
            <a:off x="9857232" y="2560320"/>
            <a:ext cx="1481328" cy="914400"/>
          </a:xfrm>
          <a:prstGeom prst="rect">
            <a:avLst/>
          </a:prstGeom>
          <a:noFill/>
          <a:ln/>
        </p:spPr>
        <p:txBody>
          <a:bodyPr wrap="square" lIns="0" tIns="0" rIns="0" bIns="0" rtlCol="0" anchor="ctr"/>
          <a:lstStyle/>
          <a:p>
            <a:pPr algn="ctr" indent="0" marL="0">
              <a:buNone/>
            </a:pPr>
            <a:r>
              <a:rPr lang="en-US" sz="1400" b="1" dirty="0">
                <a:solidFill>
                  <a:schemeClr val="tx2"/>
                </a:solidFill>
              </a:rPr>
              <a:t>Warning manager</a:t>
            </a:r>
            <a:endParaRPr lang="en-US" sz="1400" dirty="0"/>
          </a:p>
        </p:txBody>
      </p:sp>
      <p:sp>
        <p:nvSpPr>
          <p:cNvPr id="27" name="Shape 25"/>
          <p:cNvSpPr/>
          <p:nvPr/>
        </p:nvSpPr>
        <p:spPr>
          <a:xfrm>
            <a:off x="2560320" y="3611880"/>
            <a:ext cx="1664208" cy="914400"/>
          </a:xfrm>
          <a:prstGeom prst="roundRect">
            <a:avLst>
              <a:gd name="adj" fmla="val 8000"/>
            </a:avLst>
          </a:prstGeom>
          <a:solidFill>
            <a:schemeClr val="bg1"/>
          </a:solidFill>
          <a:ln w="12700">
            <a:solidFill>
              <a:schemeClr val="bg1"/>
            </a:solidFill>
            <a:prstDash val="solid"/>
          </a:ln>
        </p:spPr>
      </p:sp>
      <p:sp>
        <p:nvSpPr>
          <p:cNvPr id="28" name="Text 26"/>
          <p:cNvSpPr txBox="1"/>
          <p:nvPr/>
        </p:nvSpPr>
        <p:spPr>
          <a:xfrm>
            <a:off x="2651760" y="3611880"/>
            <a:ext cx="1481328" cy="914400"/>
          </a:xfrm>
          <a:prstGeom prst="rect">
            <a:avLst/>
          </a:prstGeom>
          <a:noFill/>
          <a:ln/>
        </p:spPr>
        <p:txBody>
          <a:bodyPr wrap="square" lIns="0" tIns="0" rIns="0" bIns="0" rtlCol="0" anchor="ctr"/>
          <a:lstStyle/>
          <a:p>
            <a:pPr algn="ctr" indent="0" marL="0">
              <a:buNone/>
            </a:pPr>
            <a:r>
              <a:rPr lang="en-US" sz="1400" b="1" dirty="0">
                <a:solidFill>
                  <a:schemeClr val="tx2"/>
                </a:solidFill>
              </a:rPr>
              <a:t>Notification dispatcher</a:t>
            </a:r>
            <a:endParaRPr lang="en-US" sz="1400" dirty="0"/>
          </a:p>
        </p:txBody>
      </p:sp>
      <p:sp>
        <p:nvSpPr>
          <p:cNvPr id="29" name="Shape 27"/>
          <p:cNvSpPr/>
          <p:nvPr/>
        </p:nvSpPr>
        <p:spPr>
          <a:xfrm>
            <a:off x="4361688" y="3611880"/>
            <a:ext cx="1664208" cy="914400"/>
          </a:xfrm>
          <a:prstGeom prst="roundRect">
            <a:avLst>
              <a:gd name="adj" fmla="val 8000"/>
            </a:avLst>
          </a:prstGeom>
          <a:solidFill>
            <a:schemeClr val="bg1"/>
          </a:solidFill>
          <a:ln w="12700">
            <a:solidFill>
              <a:schemeClr val="bg1"/>
            </a:solidFill>
            <a:prstDash val="solid"/>
          </a:ln>
        </p:spPr>
      </p:sp>
      <p:sp>
        <p:nvSpPr>
          <p:cNvPr id="30" name="Text 28"/>
          <p:cNvSpPr txBox="1"/>
          <p:nvPr/>
        </p:nvSpPr>
        <p:spPr>
          <a:xfrm>
            <a:off x="4453128" y="3611880"/>
            <a:ext cx="1481328" cy="914400"/>
          </a:xfrm>
          <a:prstGeom prst="rect">
            <a:avLst/>
          </a:prstGeom>
          <a:noFill/>
          <a:ln/>
        </p:spPr>
        <p:txBody>
          <a:bodyPr wrap="square" lIns="0" tIns="0" rIns="0" bIns="0" rtlCol="0" anchor="ctr"/>
          <a:lstStyle/>
          <a:p>
            <a:pPr algn="ctr" indent="0" marL="0">
              <a:buNone/>
            </a:pPr>
            <a:r>
              <a:rPr lang="en-US" sz="1400" b="1" dirty="0">
                <a:solidFill>
                  <a:schemeClr val="tx2"/>
                </a:solidFill>
              </a:rPr>
              <a:t>Evacuation routing</a:t>
            </a:r>
            <a:endParaRPr lang="en-US" sz="1400" dirty="0"/>
          </a:p>
        </p:txBody>
      </p:sp>
      <p:sp>
        <p:nvSpPr>
          <p:cNvPr id="31" name="Shape 29"/>
          <p:cNvSpPr/>
          <p:nvPr/>
        </p:nvSpPr>
        <p:spPr>
          <a:xfrm>
            <a:off x="6163056" y="3611880"/>
            <a:ext cx="1664208" cy="914400"/>
          </a:xfrm>
          <a:prstGeom prst="roundRect">
            <a:avLst>
              <a:gd name="adj" fmla="val 8000"/>
            </a:avLst>
          </a:prstGeom>
          <a:solidFill>
            <a:schemeClr val="bg1"/>
          </a:solidFill>
          <a:ln w="12700">
            <a:solidFill>
              <a:schemeClr val="bg1"/>
            </a:solidFill>
            <a:prstDash val="solid"/>
          </a:ln>
        </p:spPr>
      </p:sp>
      <p:sp>
        <p:nvSpPr>
          <p:cNvPr id="32" name="Text 30"/>
          <p:cNvSpPr txBox="1"/>
          <p:nvPr/>
        </p:nvSpPr>
        <p:spPr>
          <a:xfrm>
            <a:off x="6254496" y="3611880"/>
            <a:ext cx="1481328" cy="914400"/>
          </a:xfrm>
          <a:prstGeom prst="rect">
            <a:avLst/>
          </a:prstGeom>
          <a:noFill/>
          <a:ln/>
        </p:spPr>
        <p:txBody>
          <a:bodyPr wrap="square" lIns="0" tIns="0" rIns="0" bIns="0" rtlCol="0" anchor="ctr"/>
          <a:lstStyle/>
          <a:p>
            <a:pPr algn="ctr" indent="0" marL="0">
              <a:buNone/>
            </a:pPr>
            <a:r>
              <a:rPr lang="en-US" sz="1400" b="1" dirty="0">
                <a:solidFill>
                  <a:schemeClr val="tx2"/>
                </a:solidFill>
              </a:rPr>
              <a:t>Shelter management</a:t>
            </a:r>
            <a:endParaRPr lang="en-US" sz="1400" dirty="0"/>
          </a:p>
        </p:txBody>
      </p:sp>
      <p:sp>
        <p:nvSpPr>
          <p:cNvPr id="33" name="Shape 31"/>
          <p:cNvSpPr/>
          <p:nvPr/>
        </p:nvSpPr>
        <p:spPr>
          <a:xfrm>
            <a:off x="7964424" y="3611880"/>
            <a:ext cx="1664208" cy="914400"/>
          </a:xfrm>
          <a:prstGeom prst="roundRect">
            <a:avLst>
              <a:gd name="adj" fmla="val 8000"/>
            </a:avLst>
          </a:prstGeom>
          <a:solidFill>
            <a:schemeClr val="bg1"/>
          </a:solidFill>
          <a:ln w="12700">
            <a:solidFill>
              <a:schemeClr val="bg1"/>
            </a:solidFill>
            <a:prstDash val="solid"/>
          </a:ln>
        </p:spPr>
      </p:sp>
      <p:sp>
        <p:nvSpPr>
          <p:cNvPr id="34" name="Text 32"/>
          <p:cNvSpPr txBox="1"/>
          <p:nvPr/>
        </p:nvSpPr>
        <p:spPr>
          <a:xfrm>
            <a:off x="8055864" y="3611880"/>
            <a:ext cx="1481328" cy="914400"/>
          </a:xfrm>
          <a:prstGeom prst="rect">
            <a:avLst/>
          </a:prstGeom>
          <a:noFill/>
          <a:ln/>
        </p:spPr>
        <p:txBody>
          <a:bodyPr wrap="square" lIns="0" tIns="0" rIns="0" bIns="0" rtlCol="0" anchor="ctr"/>
          <a:lstStyle/>
          <a:p>
            <a:pPr algn="ctr" indent="0" marL="0">
              <a:buNone/>
            </a:pPr>
            <a:r>
              <a:rPr lang="en-US" sz="1400" b="1" dirty="0">
                <a:solidFill>
                  <a:schemeClr val="tx2"/>
                </a:solidFill>
              </a:rPr>
              <a:t>Audit logger</a:t>
            </a:r>
            <a:endParaRPr lang="en-US" sz="1400" dirty="0"/>
          </a:p>
        </p:txBody>
      </p:sp>
      <p:sp>
        <p:nvSpPr>
          <p:cNvPr id="35" name="Shape 33"/>
          <p:cNvSpPr/>
          <p:nvPr/>
        </p:nvSpPr>
        <p:spPr>
          <a:xfrm>
            <a:off x="9765792" y="3611880"/>
            <a:ext cx="1664208" cy="914400"/>
          </a:xfrm>
          <a:prstGeom prst="roundRect">
            <a:avLst>
              <a:gd name="adj" fmla="val 8000"/>
            </a:avLst>
          </a:prstGeom>
          <a:solidFill>
            <a:schemeClr val="bg1"/>
          </a:solidFill>
          <a:ln w="12700">
            <a:solidFill>
              <a:schemeClr val="bg1"/>
            </a:solidFill>
            <a:prstDash val="solid"/>
          </a:ln>
        </p:spPr>
      </p:sp>
      <p:sp>
        <p:nvSpPr>
          <p:cNvPr id="36" name="Text 34"/>
          <p:cNvSpPr txBox="1"/>
          <p:nvPr/>
        </p:nvSpPr>
        <p:spPr>
          <a:xfrm>
            <a:off x="9857232" y="3611880"/>
            <a:ext cx="1481328" cy="914400"/>
          </a:xfrm>
          <a:prstGeom prst="rect">
            <a:avLst/>
          </a:prstGeom>
          <a:noFill/>
          <a:ln/>
        </p:spPr>
        <p:txBody>
          <a:bodyPr wrap="square" lIns="0" tIns="0" rIns="0" bIns="0" rtlCol="0" anchor="ctr"/>
          <a:lstStyle/>
          <a:p>
            <a:pPr algn="ctr" indent="0" marL="0">
              <a:buNone/>
            </a:pPr>
            <a:r>
              <a:rPr lang="en-US" sz="1400" b="1" dirty="0">
                <a:solidFill>
                  <a:schemeClr val="tx2"/>
                </a:solidFill>
              </a:rPr>
              <a:t>Device &amp; health monitor</a:t>
            </a:r>
            <a:endParaRPr lang="en-US" sz="1400" dirty="0"/>
          </a:p>
        </p:txBody>
      </p:sp>
      <p:sp>
        <p:nvSpPr>
          <p:cNvPr id="37" name="Shape 35"/>
          <p:cNvSpPr/>
          <p:nvPr/>
        </p:nvSpPr>
        <p:spPr>
          <a:xfrm>
            <a:off x="548640" y="4937760"/>
            <a:ext cx="11064240" cy="1005840"/>
          </a:xfrm>
          <a:prstGeom prst="roundRect">
            <a:avLst>
              <a:gd name="adj" fmla="val 7273"/>
            </a:avLst>
          </a:prstGeom>
          <a:solidFill>
            <a:schemeClr val="bg2"/>
          </a:solidFill>
          <a:ln w="12700">
            <a:solidFill>
              <a:schemeClr val="bg2"/>
            </a:solidFill>
            <a:prstDash val="solid"/>
          </a:ln>
        </p:spPr>
      </p:sp>
      <p:sp>
        <p:nvSpPr>
          <p:cNvPr id="38" name="Shape 36"/>
          <p:cNvSpPr/>
          <p:nvPr/>
        </p:nvSpPr>
        <p:spPr>
          <a:xfrm>
            <a:off x="548640" y="4937760"/>
            <a:ext cx="1828800" cy="1005840"/>
          </a:xfrm>
          <a:prstGeom prst="roundRect">
            <a:avLst>
              <a:gd name="adj" fmla="val 7273"/>
            </a:avLst>
          </a:prstGeom>
          <a:solidFill>
            <a:schemeClr val="tx2"/>
          </a:solidFill>
          <a:ln w="12700">
            <a:solidFill>
              <a:schemeClr val="tx2"/>
            </a:solidFill>
            <a:prstDash val="solid"/>
          </a:ln>
        </p:spPr>
      </p:sp>
      <p:sp>
        <p:nvSpPr>
          <p:cNvPr id="39" name="Text 37"/>
          <p:cNvSpPr txBox="1"/>
          <p:nvPr/>
        </p:nvSpPr>
        <p:spPr>
          <a:xfrm>
            <a:off x="685800" y="5047488"/>
            <a:ext cx="1600200" cy="320040"/>
          </a:xfrm>
          <a:prstGeom prst="rect">
            <a:avLst/>
          </a:prstGeom>
          <a:noFill/>
          <a:ln/>
        </p:spPr>
        <p:txBody>
          <a:bodyPr wrap="square" lIns="0" tIns="0" rIns="0" bIns="0" rtlCol="0" anchor="t"/>
          <a:lstStyle/>
          <a:p>
            <a:pPr indent="0" marL="0">
              <a:buNone/>
            </a:pPr>
            <a:r>
              <a:rPr lang="en-US" sz="1600" b="1" dirty="0">
                <a:solidFill>
                  <a:schemeClr val="bg1"/>
                </a:solidFill>
              </a:rPr>
              <a:t>Data</a:t>
            </a:r>
            <a:endParaRPr lang="en-US" sz="1600" dirty="0"/>
          </a:p>
        </p:txBody>
      </p:sp>
      <p:sp>
        <p:nvSpPr>
          <p:cNvPr id="40" name="Text 38"/>
          <p:cNvSpPr txBox="1"/>
          <p:nvPr/>
        </p:nvSpPr>
        <p:spPr>
          <a:xfrm>
            <a:off x="685800" y="5394960"/>
            <a:ext cx="1600200" cy="320040"/>
          </a:xfrm>
          <a:prstGeom prst="rect">
            <a:avLst/>
          </a:prstGeom>
          <a:noFill/>
          <a:ln/>
        </p:spPr>
        <p:txBody>
          <a:bodyPr wrap="square" lIns="0" tIns="0" rIns="0" bIns="0" rtlCol="0" anchor="t"/>
          <a:lstStyle/>
          <a:p>
            <a:pPr indent="0" marL="0">
              <a:buNone/>
            </a:pPr>
            <a:r>
              <a:rPr lang="en-US" sz="1300" dirty="0">
                <a:solidFill>
                  <a:schemeClr val="accent4"/>
                </a:solidFill>
              </a:rPr>
              <a:t>Supabase</a:t>
            </a:r>
            <a:endParaRPr lang="en-US" sz="1300" dirty="0"/>
          </a:p>
        </p:txBody>
      </p:sp>
      <p:sp>
        <p:nvSpPr>
          <p:cNvPr id="41" name="Shape 39"/>
          <p:cNvSpPr/>
          <p:nvPr/>
        </p:nvSpPr>
        <p:spPr>
          <a:xfrm>
            <a:off x="2560320" y="5074920"/>
            <a:ext cx="2114550" cy="731520"/>
          </a:xfrm>
          <a:prstGeom prst="roundRect">
            <a:avLst>
              <a:gd name="adj" fmla="val 10000"/>
            </a:avLst>
          </a:prstGeom>
          <a:solidFill>
            <a:schemeClr val="bg1"/>
          </a:solidFill>
          <a:ln w="12700">
            <a:solidFill>
              <a:schemeClr val="bg1"/>
            </a:solidFill>
            <a:prstDash val="solid"/>
          </a:ln>
        </p:spPr>
      </p:sp>
      <p:sp>
        <p:nvSpPr>
          <p:cNvPr id="42" name="Text 40"/>
          <p:cNvSpPr txBox="1"/>
          <p:nvPr/>
        </p:nvSpPr>
        <p:spPr>
          <a:xfrm>
            <a:off x="2651760" y="5074920"/>
            <a:ext cx="1931670" cy="731520"/>
          </a:xfrm>
          <a:prstGeom prst="rect">
            <a:avLst/>
          </a:prstGeom>
          <a:noFill/>
          <a:ln/>
        </p:spPr>
        <p:txBody>
          <a:bodyPr wrap="square" lIns="0" tIns="0" rIns="0" bIns="0" rtlCol="0" anchor="ctr"/>
          <a:lstStyle/>
          <a:p>
            <a:pPr algn="ctr" indent="0" marL="0">
              <a:buNone/>
            </a:pPr>
            <a:r>
              <a:rPr lang="en-US" sz="1400" b="1" dirty="0">
                <a:solidFill>
                  <a:schemeClr val="tx2"/>
                </a:solidFill>
              </a:rPr>
              <a:t>PostgreSQL + PostGIS</a:t>
            </a:r>
            <a:endParaRPr lang="en-US" sz="1400" dirty="0"/>
          </a:p>
        </p:txBody>
      </p:sp>
      <p:sp>
        <p:nvSpPr>
          <p:cNvPr id="43" name="Shape 41"/>
          <p:cNvSpPr/>
          <p:nvPr/>
        </p:nvSpPr>
        <p:spPr>
          <a:xfrm>
            <a:off x="4812030" y="5074920"/>
            <a:ext cx="2114550" cy="731520"/>
          </a:xfrm>
          <a:prstGeom prst="roundRect">
            <a:avLst>
              <a:gd name="adj" fmla="val 10000"/>
            </a:avLst>
          </a:prstGeom>
          <a:solidFill>
            <a:schemeClr val="bg1"/>
          </a:solidFill>
          <a:ln w="12700">
            <a:solidFill>
              <a:schemeClr val="bg1"/>
            </a:solidFill>
            <a:prstDash val="solid"/>
          </a:ln>
        </p:spPr>
      </p:sp>
      <p:sp>
        <p:nvSpPr>
          <p:cNvPr id="44" name="Text 42"/>
          <p:cNvSpPr txBox="1"/>
          <p:nvPr/>
        </p:nvSpPr>
        <p:spPr>
          <a:xfrm>
            <a:off x="4903470" y="5074920"/>
            <a:ext cx="1931670" cy="731520"/>
          </a:xfrm>
          <a:prstGeom prst="rect">
            <a:avLst/>
          </a:prstGeom>
          <a:noFill/>
          <a:ln/>
        </p:spPr>
        <p:txBody>
          <a:bodyPr wrap="square" lIns="0" tIns="0" rIns="0" bIns="0" rtlCol="0" anchor="ctr"/>
          <a:lstStyle/>
          <a:p>
            <a:pPr algn="ctr" indent="0" marL="0">
              <a:buNone/>
            </a:pPr>
            <a:r>
              <a:rPr lang="en-US" sz="1400" b="1" dirty="0">
                <a:solidFill>
                  <a:schemeClr val="tx2"/>
                </a:solidFill>
              </a:rPr>
              <a:t>Auth + RLS</a:t>
            </a:r>
            <a:endParaRPr lang="en-US" sz="1400" dirty="0"/>
          </a:p>
        </p:txBody>
      </p:sp>
      <p:sp>
        <p:nvSpPr>
          <p:cNvPr id="45" name="Shape 43"/>
          <p:cNvSpPr/>
          <p:nvPr/>
        </p:nvSpPr>
        <p:spPr>
          <a:xfrm>
            <a:off x="7063740" y="5074920"/>
            <a:ext cx="2114550" cy="731520"/>
          </a:xfrm>
          <a:prstGeom prst="roundRect">
            <a:avLst>
              <a:gd name="adj" fmla="val 10000"/>
            </a:avLst>
          </a:prstGeom>
          <a:solidFill>
            <a:schemeClr val="bg1"/>
          </a:solidFill>
          <a:ln w="12700">
            <a:solidFill>
              <a:schemeClr val="bg1"/>
            </a:solidFill>
            <a:prstDash val="solid"/>
          </a:ln>
        </p:spPr>
      </p:sp>
      <p:sp>
        <p:nvSpPr>
          <p:cNvPr id="46" name="Text 44"/>
          <p:cNvSpPr txBox="1"/>
          <p:nvPr/>
        </p:nvSpPr>
        <p:spPr>
          <a:xfrm>
            <a:off x="7155180" y="5074920"/>
            <a:ext cx="1931670" cy="731520"/>
          </a:xfrm>
          <a:prstGeom prst="rect">
            <a:avLst/>
          </a:prstGeom>
          <a:noFill/>
          <a:ln/>
        </p:spPr>
        <p:txBody>
          <a:bodyPr wrap="square" lIns="0" tIns="0" rIns="0" bIns="0" rtlCol="0" anchor="ctr"/>
          <a:lstStyle/>
          <a:p>
            <a:pPr algn="ctr" indent="0" marL="0">
              <a:buNone/>
            </a:pPr>
            <a:r>
              <a:rPr lang="en-US" sz="1400" b="1" dirty="0">
                <a:solidFill>
                  <a:schemeClr val="tx2"/>
                </a:solidFill>
              </a:rPr>
              <a:t>Realtime</a:t>
            </a:r>
            <a:endParaRPr lang="en-US" sz="1400" dirty="0"/>
          </a:p>
        </p:txBody>
      </p:sp>
      <p:sp>
        <p:nvSpPr>
          <p:cNvPr id="47" name="Shape 45"/>
          <p:cNvSpPr/>
          <p:nvPr/>
        </p:nvSpPr>
        <p:spPr>
          <a:xfrm>
            <a:off x="9315450" y="5074920"/>
            <a:ext cx="2114550" cy="731520"/>
          </a:xfrm>
          <a:prstGeom prst="roundRect">
            <a:avLst>
              <a:gd name="adj" fmla="val 10000"/>
            </a:avLst>
          </a:prstGeom>
          <a:solidFill>
            <a:schemeClr val="bg1"/>
          </a:solidFill>
          <a:ln w="12700">
            <a:solidFill>
              <a:schemeClr val="bg1"/>
            </a:solidFill>
            <a:prstDash val="solid"/>
          </a:ln>
        </p:spPr>
      </p:sp>
      <p:sp>
        <p:nvSpPr>
          <p:cNvPr id="48" name="Text 46"/>
          <p:cNvSpPr txBox="1"/>
          <p:nvPr/>
        </p:nvSpPr>
        <p:spPr>
          <a:xfrm>
            <a:off x="9406890" y="5074920"/>
            <a:ext cx="1931670" cy="731520"/>
          </a:xfrm>
          <a:prstGeom prst="rect">
            <a:avLst/>
          </a:prstGeom>
          <a:noFill/>
          <a:ln/>
        </p:spPr>
        <p:txBody>
          <a:bodyPr wrap="square" lIns="0" tIns="0" rIns="0" bIns="0" rtlCol="0" anchor="ctr"/>
          <a:lstStyle/>
          <a:p>
            <a:pPr algn="ctr" indent="0" marL="0">
              <a:buNone/>
            </a:pPr>
            <a:r>
              <a:rPr lang="en-US" sz="1400" b="1" dirty="0">
                <a:solidFill>
                  <a:schemeClr val="tx2"/>
                </a:solidFill>
              </a:rPr>
              <a:t>Storage</a:t>
            </a:r>
            <a:endParaRPr lang="en-US" sz="1400" dirty="0"/>
          </a:p>
        </p:txBody>
      </p:sp>
      <p:sp>
        <p:nvSpPr>
          <p:cNvPr id="49" name="Text 47"/>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200" dirty="0">
                <a:solidFill>
                  <a:schemeClr val="accent6"/>
                </a:solidFill>
              </a:rPr>
              <a:t>REST + Supabase Realtime between layers · one deployable backend with clean module interfaces (can be split later) · hazards added as plug-ins (HazardModel)</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Technology stack</a:t>
            </a:r>
            <a:endParaRPr lang="en-US" sz="3200" dirty="0"/>
          </a:p>
        </p:txBody>
      </p:sp>
      <p:sp>
        <p:nvSpPr>
          <p:cNvPr id="3" name="Shape 1"/>
          <p:cNvSpPr/>
          <p:nvPr/>
        </p:nvSpPr>
        <p:spPr>
          <a:xfrm>
            <a:off x="548640" y="1280160"/>
            <a:ext cx="3483864" cy="1874520"/>
          </a:xfrm>
          <a:prstGeom prst="roundRect">
            <a:avLst>
              <a:gd name="adj" fmla="val 3902"/>
            </a:avLst>
          </a:prstGeom>
          <a:solidFill>
            <a:schemeClr val="bg2"/>
          </a:solidFill>
          <a:ln w="12700">
            <a:solidFill>
              <a:schemeClr val="bg2"/>
            </a:solidFill>
            <a:prstDash val="solid"/>
          </a:ln>
        </p:spPr>
      </p:sp>
      <p:sp>
        <p:nvSpPr>
          <p:cNvPr id="4" name="Shape 2"/>
          <p:cNvSpPr/>
          <p:nvPr/>
        </p:nvSpPr>
        <p:spPr>
          <a:xfrm>
            <a:off x="777240" y="1508760"/>
            <a:ext cx="548640" cy="54864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08914" y="1640434"/>
            <a:ext cx="285293" cy="285293"/>
          </a:xfrm>
          <a:prstGeom prst="rect">
            <a:avLst/>
          </a:prstGeom>
        </p:spPr>
      </p:pic>
      <p:sp>
        <p:nvSpPr>
          <p:cNvPr id="6" name="Text 3"/>
          <p:cNvSpPr txBox="1"/>
          <p:nvPr/>
        </p:nvSpPr>
        <p:spPr>
          <a:xfrm>
            <a:off x="1463040" y="1554480"/>
            <a:ext cx="2386584" cy="365760"/>
          </a:xfrm>
          <a:prstGeom prst="rect">
            <a:avLst/>
          </a:prstGeom>
          <a:noFill/>
          <a:ln/>
        </p:spPr>
        <p:txBody>
          <a:bodyPr wrap="square" lIns="0" tIns="0" rIns="0" bIns="0" rtlCol="0" anchor="t"/>
          <a:lstStyle/>
          <a:p>
            <a:pPr indent="0" marL="0">
              <a:buNone/>
            </a:pPr>
            <a:r>
              <a:rPr lang="en-US" sz="1800" b="1" dirty="0">
                <a:solidFill>
                  <a:schemeClr val="tx2"/>
                </a:solidFill>
              </a:rPr>
              <a:t>Database</a:t>
            </a:r>
            <a:endParaRPr lang="en-US" sz="1800" dirty="0"/>
          </a:p>
        </p:txBody>
      </p:sp>
      <p:sp>
        <p:nvSpPr>
          <p:cNvPr id="7" name="Text 4"/>
          <p:cNvSpPr txBox="1"/>
          <p:nvPr/>
        </p:nvSpPr>
        <p:spPr>
          <a:xfrm>
            <a:off x="777240" y="2148840"/>
            <a:ext cx="3026664" cy="502920"/>
          </a:xfrm>
          <a:prstGeom prst="rect">
            <a:avLst/>
          </a:prstGeom>
          <a:noFill/>
          <a:ln/>
        </p:spPr>
        <p:txBody>
          <a:bodyPr wrap="square" lIns="0" tIns="0" rIns="0" bIns="0" rtlCol="0" anchor="t"/>
          <a:lstStyle/>
          <a:p>
            <a:pPr indent="0" marL="0">
              <a:buNone/>
            </a:pPr>
            <a:r>
              <a:rPr lang="en-US" sz="1400" b="1" dirty="0">
                <a:solidFill>
                  <a:schemeClr val="tx1"/>
                </a:solidFill>
              </a:rPr>
              <a:t>Supabase Postgres + PostGIS</a:t>
            </a:r>
            <a:endParaRPr lang="en-US" sz="1400" dirty="0"/>
          </a:p>
        </p:txBody>
      </p:sp>
      <p:sp>
        <p:nvSpPr>
          <p:cNvPr id="8" name="Text 5"/>
          <p:cNvSpPr txBox="1"/>
          <p:nvPr/>
        </p:nvSpPr>
        <p:spPr>
          <a:xfrm>
            <a:off x="777240" y="2651760"/>
            <a:ext cx="3026664" cy="365760"/>
          </a:xfrm>
          <a:prstGeom prst="rect">
            <a:avLst/>
          </a:prstGeom>
          <a:noFill/>
          <a:ln/>
        </p:spPr>
        <p:txBody>
          <a:bodyPr wrap="square" lIns="0" tIns="0" rIns="0" bIns="0" rtlCol="0" anchor="t"/>
          <a:lstStyle/>
          <a:p>
            <a:pPr indent="0" marL="0">
              <a:buNone/>
            </a:pPr>
            <a:r>
              <a:rPr lang="en-US" sz="1400" dirty="0">
                <a:solidFill>
                  <a:schemeClr val="accent6"/>
                </a:solidFill>
              </a:rPr>
              <a:t>Spatial queries, RLS, realtime, auth</a:t>
            </a:r>
            <a:endParaRPr lang="en-US" sz="1400" dirty="0"/>
          </a:p>
        </p:txBody>
      </p:sp>
      <p:sp>
        <p:nvSpPr>
          <p:cNvPr id="9" name="Shape 6"/>
          <p:cNvSpPr/>
          <p:nvPr/>
        </p:nvSpPr>
        <p:spPr>
          <a:xfrm>
            <a:off x="4352544" y="1280160"/>
            <a:ext cx="3483864" cy="1874520"/>
          </a:xfrm>
          <a:prstGeom prst="roundRect">
            <a:avLst>
              <a:gd name="adj" fmla="val 3902"/>
            </a:avLst>
          </a:prstGeom>
          <a:solidFill>
            <a:schemeClr val="bg2"/>
          </a:solidFill>
          <a:ln w="12700">
            <a:solidFill>
              <a:schemeClr val="bg2"/>
            </a:solidFill>
            <a:prstDash val="solid"/>
          </a:ln>
        </p:spPr>
      </p:sp>
      <p:sp>
        <p:nvSpPr>
          <p:cNvPr id="10" name="Shape 7"/>
          <p:cNvSpPr/>
          <p:nvPr/>
        </p:nvSpPr>
        <p:spPr>
          <a:xfrm>
            <a:off x="4581144" y="1508760"/>
            <a:ext cx="548640" cy="54864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712818" y="1640434"/>
            <a:ext cx="285293" cy="285293"/>
          </a:xfrm>
          <a:prstGeom prst="rect">
            <a:avLst/>
          </a:prstGeom>
        </p:spPr>
      </p:pic>
      <p:sp>
        <p:nvSpPr>
          <p:cNvPr id="12" name="Text 8"/>
          <p:cNvSpPr txBox="1"/>
          <p:nvPr/>
        </p:nvSpPr>
        <p:spPr>
          <a:xfrm>
            <a:off x="5266944" y="1554480"/>
            <a:ext cx="2386584" cy="365760"/>
          </a:xfrm>
          <a:prstGeom prst="rect">
            <a:avLst/>
          </a:prstGeom>
          <a:noFill/>
          <a:ln/>
        </p:spPr>
        <p:txBody>
          <a:bodyPr wrap="square" lIns="0" tIns="0" rIns="0" bIns="0" rtlCol="0" anchor="t"/>
          <a:lstStyle/>
          <a:p>
            <a:pPr indent="0" marL="0">
              <a:buNone/>
            </a:pPr>
            <a:r>
              <a:rPr lang="en-US" sz="1800" b="1" dirty="0">
                <a:solidFill>
                  <a:schemeClr val="tx2"/>
                </a:solidFill>
              </a:rPr>
              <a:t>Backend</a:t>
            </a:r>
            <a:endParaRPr lang="en-US" sz="1800" dirty="0"/>
          </a:p>
        </p:txBody>
      </p:sp>
      <p:sp>
        <p:nvSpPr>
          <p:cNvPr id="13" name="Text 9"/>
          <p:cNvSpPr txBox="1"/>
          <p:nvPr/>
        </p:nvSpPr>
        <p:spPr>
          <a:xfrm>
            <a:off x="4581144" y="2148840"/>
            <a:ext cx="3026664" cy="502920"/>
          </a:xfrm>
          <a:prstGeom prst="rect">
            <a:avLst/>
          </a:prstGeom>
          <a:noFill/>
          <a:ln/>
        </p:spPr>
        <p:txBody>
          <a:bodyPr wrap="square" lIns="0" tIns="0" rIns="0" bIns="0" rtlCol="0" anchor="t"/>
          <a:lstStyle/>
          <a:p>
            <a:pPr indent="0" marL="0">
              <a:buNone/>
            </a:pPr>
            <a:r>
              <a:rPr lang="en-US" sz="1400" b="1" dirty="0">
                <a:solidFill>
                  <a:schemeClr val="tx1"/>
                </a:solidFill>
              </a:rPr>
              <a:t>FastAPI · Pydantic · APScheduler</a:t>
            </a:r>
            <a:endParaRPr lang="en-US" sz="1400" dirty="0"/>
          </a:p>
        </p:txBody>
      </p:sp>
      <p:sp>
        <p:nvSpPr>
          <p:cNvPr id="14" name="Text 10"/>
          <p:cNvSpPr txBox="1"/>
          <p:nvPr/>
        </p:nvSpPr>
        <p:spPr>
          <a:xfrm>
            <a:off x="4581144" y="2651760"/>
            <a:ext cx="3026664" cy="365760"/>
          </a:xfrm>
          <a:prstGeom prst="rect">
            <a:avLst/>
          </a:prstGeom>
          <a:noFill/>
          <a:ln/>
        </p:spPr>
        <p:txBody>
          <a:bodyPr wrap="square" lIns="0" tIns="0" rIns="0" bIns="0" rtlCol="0" anchor="t"/>
          <a:lstStyle/>
          <a:p>
            <a:pPr indent="0" marL="0">
              <a:buNone/>
            </a:pPr>
            <a:r>
              <a:rPr lang="en-US" sz="1400" dirty="0">
                <a:solidFill>
                  <a:schemeClr val="accent6"/>
                </a:solidFill>
              </a:rPr>
              <a:t>Typed API, scheduled data checks</a:t>
            </a:r>
            <a:endParaRPr lang="en-US" sz="1400" dirty="0"/>
          </a:p>
        </p:txBody>
      </p:sp>
      <p:sp>
        <p:nvSpPr>
          <p:cNvPr id="15" name="Shape 11"/>
          <p:cNvSpPr/>
          <p:nvPr/>
        </p:nvSpPr>
        <p:spPr>
          <a:xfrm>
            <a:off x="8156448" y="1280160"/>
            <a:ext cx="3483864" cy="1874520"/>
          </a:xfrm>
          <a:prstGeom prst="roundRect">
            <a:avLst>
              <a:gd name="adj" fmla="val 3902"/>
            </a:avLst>
          </a:prstGeom>
          <a:solidFill>
            <a:schemeClr val="bg2"/>
          </a:solidFill>
          <a:ln w="12700">
            <a:solidFill>
              <a:schemeClr val="bg2"/>
            </a:solidFill>
            <a:prstDash val="solid"/>
          </a:ln>
        </p:spPr>
      </p:sp>
      <p:sp>
        <p:nvSpPr>
          <p:cNvPr id="16" name="Shape 12"/>
          <p:cNvSpPr/>
          <p:nvPr/>
        </p:nvSpPr>
        <p:spPr>
          <a:xfrm>
            <a:off x="8385048" y="1508760"/>
            <a:ext cx="548640" cy="548640"/>
          </a:xfrm>
          <a:prstGeom prst="ellipse">
            <a:avLst/>
          </a:prstGeom>
          <a:solidFill>
            <a:schemeClr val="accent1"/>
          </a:solidFill>
          <a:ln w="12700">
            <a:solidFill>
              <a:schemeClr val="accent1"/>
            </a:solidFill>
            <a:prstDash val="solid"/>
          </a:ln>
        </p:spPr>
      </p:sp>
      <p:pic>
        <p:nvPicPr>
          <p:cNvPr id="17" name="Image 2" descr="preencoded.png">    </p:cNvPr>
          <p:cNvPicPr>
            <a:picLocks noChangeAspect="1"/>
          </p:cNvPicPr>
          <p:nvPr/>
        </p:nvPicPr>
        <p:blipFill>
          <a:blip r:embed="rId3"/>
          <a:stretch>
            <a:fillRect/>
          </a:stretch>
        </p:blipFill>
        <p:spPr>
          <a:xfrm>
            <a:off x="8516722" y="1640434"/>
            <a:ext cx="285293" cy="285293"/>
          </a:xfrm>
          <a:prstGeom prst="rect">
            <a:avLst/>
          </a:prstGeom>
        </p:spPr>
      </p:pic>
      <p:sp>
        <p:nvSpPr>
          <p:cNvPr id="18" name="Text 13"/>
          <p:cNvSpPr txBox="1"/>
          <p:nvPr/>
        </p:nvSpPr>
        <p:spPr>
          <a:xfrm>
            <a:off x="9070848" y="1554480"/>
            <a:ext cx="2386584" cy="365760"/>
          </a:xfrm>
          <a:prstGeom prst="rect">
            <a:avLst/>
          </a:prstGeom>
          <a:noFill/>
          <a:ln/>
        </p:spPr>
        <p:txBody>
          <a:bodyPr wrap="square" lIns="0" tIns="0" rIns="0" bIns="0" rtlCol="0" anchor="t"/>
          <a:lstStyle/>
          <a:p>
            <a:pPr indent="0" marL="0">
              <a:buNone/>
            </a:pPr>
            <a:r>
              <a:rPr lang="en-US" sz="1800" b="1" dirty="0">
                <a:solidFill>
                  <a:schemeClr val="tx2"/>
                </a:solidFill>
              </a:rPr>
              <a:t>Routing</a:t>
            </a:r>
            <a:endParaRPr lang="en-US" sz="1800" dirty="0"/>
          </a:p>
        </p:txBody>
      </p:sp>
      <p:sp>
        <p:nvSpPr>
          <p:cNvPr id="19" name="Text 14"/>
          <p:cNvSpPr txBox="1"/>
          <p:nvPr/>
        </p:nvSpPr>
        <p:spPr>
          <a:xfrm>
            <a:off x="8385048" y="2148840"/>
            <a:ext cx="3026664" cy="502920"/>
          </a:xfrm>
          <a:prstGeom prst="rect">
            <a:avLst/>
          </a:prstGeom>
          <a:noFill/>
          <a:ln/>
        </p:spPr>
        <p:txBody>
          <a:bodyPr wrap="square" lIns="0" tIns="0" rIns="0" bIns="0" rtlCol="0" anchor="t"/>
          <a:lstStyle/>
          <a:p>
            <a:pPr indent="0" marL="0">
              <a:buNone/>
            </a:pPr>
            <a:r>
              <a:rPr lang="en-US" sz="1400" b="1" dirty="0">
                <a:solidFill>
                  <a:schemeClr val="tx1"/>
                </a:solidFill>
              </a:rPr>
              <a:t>OSMnx + NetworkX</a:t>
            </a:r>
            <a:endParaRPr lang="en-US" sz="1400" dirty="0"/>
          </a:p>
        </p:txBody>
      </p:sp>
      <p:sp>
        <p:nvSpPr>
          <p:cNvPr id="20" name="Text 15"/>
          <p:cNvSpPr txBox="1"/>
          <p:nvPr/>
        </p:nvSpPr>
        <p:spPr>
          <a:xfrm>
            <a:off x="8385048" y="2651760"/>
            <a:ext cx="3026664" cy="365760"/>
          </a:xfrm>
          <a:prstGeom prst="rect">
            <a:avLst/>
          </a:prstGeom>
          <a:noFill/>
          <a:ln/>
        </p:spPr>
        <p:txBody>
          <a:bodyPr wrap="square" lIns="0" tIns="0" rIns="0" bIns="0" rtlCol="0" anchor="t"/>
          <a:lstStyle/>
          <a:p>
            <a:pPr indent="0" marL="0">
              <a:buNone/>
            </a:pPr>
            <a:r>
              <a:rPr lang="en-US" sz="1400" dirty="0">
                <a:solidFill>
                  <a:schemeClr val="accent6"/>
                </a:solidFill>
              </a:rPr>
              <a:t>Remove flooded roads before path search</a:t>
            </a:r>
            <a:endParaRPr lang="en-US" sz="1400" dirty="0"/>
          </a:p>
        </p:txBody>
      </p:sp>
      <p:sp>
        <p:nvSpPr>
          <p:cNvPr id="21" name="Shape 16"/>
          <p:cNvSpPr/>
          <p:nvPr/>
        </p:nvSpPr>
        <p:spPr>
          <a:xfrm>
            <a:off x="548640" y="3429000"/>
            <a:ext cx="3483864" cy="1874520"/>
          </a:xfrm>
          <a:prstGeom prst="roundRect">
            <a:avLst>
              <a:gd name="adj" fmla="val 3902"/>
            </a:avLst>
          </a:prstGeom>
          <a:solidFill>
            <a:schemeClr val="bg2"/>
          </a:solidFill>
          <a:ln w="12700">
            <a:solidFill>
              <a:schemeClr val="bg2"/>
            </a:solidFill>
            <a:prstDash val="solid"/>
          </a:ln>
        </p:spPr>
      </p:sp>
      <p:sp>
        <p:nvSpPr>
          <p:cNvPr id="22" name="Shape 17"/>
          <p:cNvSpPr/>
          <p:nvPr/>
        </p:nvSpPr>
        <p:spPr>
          <a:xfrm>
            <a:off x="777240" y="3657600"/>
            <a:ext cx="548640" cy="548640"/>
          </a:xfrm>
          <a:prstGeom prst="ellipse">
            <a:avLst/>
          </a:prstGeom>
          <a:solidFill>
            <a:schemeClr val="accent1"/>
          </a:solidFill>
          <a:ln w="12700">
            <a:solidFill>
              <a:schemeClr val="accent1"/>
            </a:solidFill>
            <a:prstDash val="solid"/>
          </a:ln>
        </p:spPr>
      </p:sp>
      <p:pic>
        <p:nvPicPr>
          <p:cNvPr id="23" name="Image 3" descr="preencoded.png">    </p:cNvPr>
          <p:cNvPicPr>
            <a:picLocks noChangeAspect="1"/>
          </p:cNvPicPr>
          <p:nvPr/>
        </p:nvPicPr>
        <p:blipFill>
          <a:blip r:embed="rId4"/>
          <a:stretch>
            <a:fillRect/>
          </a:stretch>
        </p:blipFill>
        <p:spPr>
          <a:xfrm>
            <a:off x="908914" y="3789274"/>
            <a:ext cx="285293" cy="285293"/>
          </a:xfrm>
          <a:prstGeom prst="rect">
            <a:avLst/>
          </a:prstGeom>
        </p:spPr>
      </p:pic>
      <p:sp>
        <p:nvSpPr>
          <p:cNvPr id="24" name="Text 18"/>
          <p:cNvSpPr txBox="1"/>
          <p:nvPr/>
        </p:nvSpPr>
        <p:spPr>
          <a:xfrm>
            <a:off x="1463040" y="3703320"/>
            <a:ext cx="2386584" cy="365760"/>
          </a:xfrm>
          <a:prstGeom prst="rect">
            <a:avLst/>
          </a:prstGeom>
          <a:noFill/>
          <a:ln/>
        </p:spPr>
        <p:txBody>
          <a:bodyPr wrap="square" lIns="0" tIns="0" rIns="0" bIns="0" rtlCol="0" anchor="t"/>
          <a:lstStyle/>
          <a:p>
            <a:pPr indent="0" marL="0">
              <a:buNone/>
            </a:pPr>
            <a:r>
              <a:rPr lang="en-US" sz="1800" b="1" dirty="0">
                <a:solidFill>
                  <a:schemeClr val="tx2"/>
                </a:solidFill>
              </a:rPr>
              <a:t>Frontend</a:t>
            </a:r>
            <a:endParaRPr lang="en-US" sz="1800" dirty="0"/>
          </a:p>
        </p:txBody>
      </p:sp>
      <p:sp>
        <p:nvSpPr>
          <p:cNvPr id="25" name="Text 19"/>
          <p:cNvSpPr txBox="1"/>
          <p:nvPr/>
        </p:nvSpPr>
        <p:spPr>
          <a:xfrm>
            <a:off x="777240" y="4297680"/>
            <a:ext cx="3026664" cy="502920"/>
          </a:xfrm>
          <a:prstGeom prst="rect">
            <a:avLst/>
          </a:prstGeom>
          <a:noFill/>
          <a:ln/>
        </p:spPr>
        <p:txBody>
          <a:bodyPr wrap="square" lIns="0" tIns="0" rIns="0" bIns="0" rtlCol="0" anchor="t"/>
          <a:lstStyle/>
          <a:p>
            <a:pPr indent="0" marL="0">
              <a:buNone/>
            </a:pPr>
            <a:r>
              <a:rPr lang="en-US" sz="1400" b="1" dirty="0">
                <a:solidFill>
                  <a:schemeClr val="tx1"/>
                </a:solidFill>
              </a:rPr>
              <a:t>Next.js 15 · TypeScript · Tailwind · shadcn/ui</a:t>
            </a:r>
            <a:endParaRPr lang="en-US" sz="1400" dirty="0"/>
          </a:p>
        </p:txBody>
      </p:sp>
      <p:sp>
        <p:nvSpPr>
          <p:cNvPr id="26" name="Text 20"/>
          <p:cNvSpPr txBox="1"/>
          <p:nvPr/>
        </p:nvSpPr>
        <p:spPr>
          <a:xfrm>
            <a:off x="777240" y="4800600"/>
            <a:ext cx="3026664" cy="365760"/>
          </a:xfrm>
          <a:prstGeom prst="rect">
            <a:avLst/>
          </a:prstGeom>
          <a:noFill/>
          <a:ln/>
        </p:spPr>
        <p:txBody>
          <a:bodyPr wrap="square" lIns="0" tIns="0" rIns="0" bIns="0" rtlCol="0" anchor="t"/>
          <a:lstStyle/>
          <a:p>
            <a:pPr indent="0" marL="0">
              <a:buNone/>
            </a:pPr>
            <a:r>
              <a:rPr lang="en-US" sz="1400" dirty="0">
                <a:solidFill>
                  <a:schemeClr val="accent6"/>
                </a:solidFill>
              </a:rPr>
              <a:t>Fast, accessible UI</a:t>
            </a:r>
            <a:endParaRPr lang="en-US" sz="1400" dirty="0"/>
          </a:p>
        </p:txBody>
      </p:sp>
      <p:sp>
        <p:nvSpPr>
          <p:cNvPr id="27" name="Shape 21"/>
          <p:cNvSpPr/>
          <p:nvPr/>
        </p:nvSpPr>
        <p:spPr>
          <a:xfrm>
            <a:off x="4352544" y="3429000"/>
            <a:ext cx="3483864" cy="1874520"/>
          </a:xfrm>
          <a:prstGeom prst="roundRect">
            <a:avLst>
              <a:gd name="adj" fmla="val 3902"/>
            </a:avLst>
          </a:prstGeom>
          <a:solidFill>
            <a:schemeClr val="bg2"/>
          </a:solidFill>
          <a:ln w="12700">
            <a:solidFill>
              <a:schemeClr val="bg2"/>
            </a:solidFill>
            <a:prstDash val="solid"/>
          </a:ln>
        </p:spPr>
      </p:sp>
      <p:sp>
        <p:nvSpPr>
          <p:cNvPr id="28" name="Shape 22"/>
          <p:cNvSpPr/>
          <p:nvPr/>
        </p:nvSpPr>
        <p:spPr>
          <a:xfrm>
            <a:off x="4581144" y="3657600"/>
            <a:ext cx="548640" cy="548640"/>
          </a:xfrm>
          <a:prstGeom prst="ellipse">
            <a:avLst/>
          </a:prstGeom>
          <a:solidFill>
            <a:schemeClr val="accent1"/>
          </a:solidFill>
          <a:ln w="12700">
            <a:solidFill>
              <a:schemeClr val="accent1"/>
            </a:solidFill>
            <a:prstDash val="solid"/>
          </a:ln>
        </p:spPr>
      </p:sp>
      <p:pic>
        <p:nvPicPr>
          <p:cNvPr id="29" name="Image 4" descr="preencoded.png">    </p:cNvPr>
          <p:cNvPicPr>
            <a:picLocks noChangeAspect="1"/>
          </p:cNvPicPr>
          <p:nvPr/>
        </p:nvPicPr>
        <p:blipFill>
          <a:blip r:embed="rId5"/>
          <a:stretch>
            <a:fillRect/>
          </a:stretch>
        </p:blipFill>
        <p:spPr>
          <a:xfrm>
            <a:off x="4712818" y="3789274"/>
            <a:ext cx="285293" cy="285293"/>
          </a:xfrm>
          <a:prstGeom prst="rect">
            <a:avLst/>
          </a:prstGeom>
        </p:spPr>
      </p:pic>
      <p:sp>
        <p:nvSpPr>
          <p:cNvPr id="30" name="Text 23"/>
          <p:cNvSpPr txBox="1"/>
          <p:nvPr/>
        </p:nvSpPr>
        <p:spPr>
          <a:xfrm>
            <a:off x="5266944" y="3703320"/>
            <a:ext cx="2386584" cy="365760"/>
          </a:xfrm>
          <a:prstGeom prst="rect">
            <a:avLst/>
          </a:prstGeom>
          <a:noFill/>
          <a:ln/>
        </p:spPr>
        <p:txBody>
          <a:bodyPr wrap="square" lIns="0" tIns="0" rIns="0" bIns="0" rtlCol="0" anchor="t"/>
          <a:lstStyle/>
          <a:p>
            <a:pPr indent="0" marL="0">
              <a:buNone/>
            </a:pPr>
            <a:r>
              <a:rPr lang="en-US" sz="1800" b="1" dirty="0">
                <a:solidFill>
                  <a:schemeClr val="tx2"/>
                </a:solidFill>
              </a:rPr>
              <a:t>Maps &amp; language</a:t>
            </a:r>
            <a:endParaRPr lang="en-US" sz="1800" dirty="0"/>
          </a:p>
        </p:txBody>
      </p:sp>
      <p:sp>
        <p:nvSpPr>
          <p:cNvPr id="31" name="Text 24"/>
          <p:cNvSpPr txBox="1"/>
          <p:nvPr/>
        </p:nvSpPr>
        <p:spPr>
          <a:xfrm>
            <a:off x="4581144" y="4297680"/>
            <a:ext cx="3026664" cy="502920"/>
          </a:xfrm>
          <a:prstGeom prst="rect">
            <a:avLst/>
          </a:prstGeom>
          <a:noFill/>
          <a:ln/>
        </p:spPr>
        <p:txBody>
          <a:bodyPr wrap="square" lIns="0" tIns="0" rIns="0" bIns="0" rtlCol="0" anchor="t"/>
          <a:lstStyle/>
          <a:p>
            <a:pPr indent="0" marL="0">
              <a:buNone/>
            </a:pPr>
            <a:r>
              <a:rPr lang="en-US" sz="1400" b="1" dirty="0">
                <a:solidFill>
                  <a:schemeClr val="tx1"/>
                </a:solidFill>
              </a:rPr>
              <a:t>MapLibre GL · OSM tiles · next-intl</a:t>
            </a:r>
            <a:endParaRPr lang="en-US" sz="1400" dirty="0"/>
          </a:p>
        </p:txBody>
      </p:sp>
      <p:sp>
        <p:nvSpPr>
          <p:cNvPr id="32" name="Text 25"/>
          <p:cNvSpPr txBox="1"/>
          <p:nvPr/>
        </p:nvSpPr>
        <p:spPr>
          <a:xfrm>
            <a:off x="4581144" y="4800600"/>
            <a:ext cx="3026664" cy="365760"/>
          </a:xfrm>
          <a:prstGeom prst="rect">
            <a:avLst/>
          </a:prstGeom>
          <a:noFill/>
          <a:ln/>
        </p:spPr>
        <p:txBody>
          <a:bodyPr wrap="square" lIns="0" tIns="0" rIns="0" bIns="0" rtlCol="0" anchor="t"/>
          <a:lstStyle/>
          <a:p>
            <a:pPr indent="0" marL="0">
              <a:buNone/>
            </a:pPr>
            <a:r>
              <a:rPr lang="en-US" sz="1400" dirty="0">
                <a:solidFill>
                  <a:schemeClr val="accent6"/>
                </a:solidFill>
              </a:rPr>
              <a:t>Risk layers; any language</a:t>
            </a:r>
            <a:endParaRPr lang="en-US" sz="1400" dirty="0"/>
          </a:p>
        </p:txBody>
      </p:sp>
      <p:sp>
        <p:nvSpPr>
          <p:cNvPr id="33" name="Shape 26"/>
          <p:cNvSpPr/>
          <p:nvPr/>
        </p:nvSpPr>
        <p:spPr>
          <a:xfrm>
            <a:off x="8156448" y="3429000"/>
            <a:ext cx="3483864" cy="1874520"/>
          </a:xfrm>
          <a:prstGeom prst="roundRect">
            <a:avLst>
              <a:gd name="adj" fmla="val 3902"/>
            </a:avLst>
          </a:prstGeom>
          <a:solidFill>
            <a:schemeClr val="bg2"/>
          </a:solidFill>
          <a:ln w="12700">
            <a:solidFill>
              <a:schemeClr val="bg2"/>
            </a:solidFill>
            <a:prstDash val="solid"/>
          </a:ln>
        </p:spPr>
      </p:sp>
      <p:sp>
        <p:nvSpPr>
          <p:cNvPr id="34" name="Shape 27"/>
          <p:cNvSpPr/>
          <p:nvPr/>
        </p:nvSpPr>
        <p:spPr>
          <a:xfrm>
            <a:off x="8385048" y="3657600"/>
            <a:ext cx="548640" cy="548640"/>
          </a:xfrm>
          <a:prstGeom prst="ellipse">
            <a:avLst/>
          </a:prstGeom>
          <a:solidFill>
            <a:schemeClr val="accent1"/>
          </a:solidFill>
          <a:ln w="12700">
            <a:solidFill>
              <a:schemeClr val="accent1"/>
            </a:solidFill>
            <a:prstDash val="solid"/>
          </a:ln>
        </p:spPr>
      </p:sp>
      <p:pic>
        <p:nvPicPr>
          <p:cNvPr id="35" name="Image 5" descr="preencoded.png">    </p:cNvPr>
          <p:cNvPicPr>
            <a:picLocks noChangeAspect="1"/>
          </p:cNvPicPr>
          <p:nvPr/>
        </p:nvPicPr>
        <p:blipFill>
          <a:blip r:embed="rId6"/>
          <a:stretch>
            <a:fillRect/>
          </a:stretch>
        </p:blipFill>
        <p:spPr>
          <a:xfrm>
            <a:off x="8516722" y="3789274"/>
            <a:ext cx="285293" cy="285293"/>
          </a:xfrm>
          <a:prstGeom prst="rect">
            <a:avLst/>
          </a:prstGeom>
        </p:spPr>
      </p:pic>
      <p:sp>
        <p:nvSpPr>
          <p:cNvPr id="36" name="Text 28"/>
          <p:cNvSpPr txBox="1"/>
          <p:nvPr/>
        </p:nvSpPr>
        <p:spPr>
          <a:xfrm>
            <a:off x="9070848" y="3703320"/>
            <a:ext cx="2386584" cy="365760"/>
          </a:xfrm>
          <a:prstGeom prst="rect">
            <a:avLst/>
          </a:prstGeom>
          <a:noFill/>
          <a:ln/>
        </p:spPr>
        <p:txBody>
          <a:bodyPr wrap="square" lIns="0" tIns="0" rIns="0" bIns="0" rtlCol="0" anchor="t"/>
          <a:lstStyle/>
          <a:p>
            <a:pPr indent="0" marL="0">
              <a:buNone/>
            </a:pPr>
            <a:r>
              <a:rPr lang="en-US" sz="1800" b="1" dirty="0">
                <a:solidFill>
                  <a:schemeClr val="tx2"/>
                </a:solidFill>
              </a:rPr>
              <a:t>Offline &amp; alerts</a:t>
            </a:r>
            <a:endParaRPr lang="en-US" sz="1800" dirty="0"/>
          </a:p>
        </p:txBody>
      </p:sp>
      <p:sp>
        <p:nvSpPr>
          <p:cNvPr id="37" name="Text 29"/>
          <p:cNvSpPr txBox="1"/>
          <p:nvPr/>
        </p:nvSpPr>
        <p:spPr>
          <a:xfrm>
            <a:off x="8385048" y="4297680"/>
            <a:ext cx="3026664" cy="502920"/>
          </a:xfrm>
          <a:prstGeom prst="rect">
            <a:avLst/>
          </a:prstGeom>
          <a:noFill/>
          <a:ln/>
        </p:spPr>
        <p:txBody>
          <a:bodyPr wrap="square" lIns="0" tIns="0" rIns="0" bIns="0" rtlCol="0" anchor="t"/>
          <a:lstStyle/>
          <a:p>
            <a:pPr indent="0" marL="0">
              <a:buNone/>
            </a:pPr>
            <a:r>
              <a:rPr lang="en-US" sz="1400" b="1" dirty="0">
                <a:solidFill>
                  <a:schemeClr val="tx1"/>
                </a:solidFill>
              </a:rPr>
              <a:t>Serwist PWA · Web Push · SMS simulator</a:t>
            </a:r>
            <a:endParaRPr lang="en-US" sz="1400" dirty="0"/>
          </a:p>
        </p:txBody>
      </p:sp>
      <p:sp>
        <p:nvSpPr>
          <p:cNvPr id="38" name="Text 30"/>
          <p:cNvSpPr txBox="1"/>
          <p:nvPr/>
        </p:nvSpPr>
        <p:spPr>
          <a:xfrm>
            <a:off x="8385048" y="4800600"/>
            <a:ext cx="3026664" cy="365760"/>
          </a:xfrm>
          <a:prstGeom prst="rect">
            <a:avLst/>
          </a:prstGeom>
          <a:noFill/>
          <a:ln/>
        </p:spPr>
        <p:txBody>
          <a:bodyPr wrap="square" lIns="0" tIns="0" rIns="0" bIns="0" rtlCol="0" anchor="t"/>
          <a:lstStyle/>
          <a:p>
            <a:pPr indent="0" marL="0">
              <a:buNone/>
            </a:pPr>
            <a:r>
              <a:rPr lang="en-US" sz="1400" dirty="0">
                <a:solidFill>
                  <a:schemeClr val="accent6"/>
                </a:solidFill>
              </a:rPr>
              <a:t>Works offline; channel-swappable</a:t>
            </a:r>
            <a:endParaRPr lang="en-US" sz="1400" dirty="0"/>
          </a:p>
        </p:txBody>
      </p:sp>
      <p:sp>
        <p:nvSpPr>
          <p:cNvPr id="39" name="Shape 31"/>
          <p:cNvSpPr/>
          <p:nvPr/>
        </p:nvSpPr>
        <p:spPr>
          <a:xfrm>
            <a:off x="548640" y="5486400"/>
            <a:ext cx="11064240" cy="594360"/>
          </a:xfrm>
          <a:prstGeom prst="roundRect">
            <a:avLst>
              <a:gd name="adj" fmla="val 12308"/>
            </a:avLst>
          </a:prstGeom>
          <a:solidFill>
            <a:schemeClr val="tx2"/>
          </a:solidFill>
          <a:ln w="12700">
            <a:solidFill>
              <a:schemeClr val="tx2"/>
            </a:solidFill>
            <a:prstDash val="solid"/>
          </a:ln>
        </p:spPr>
      </p:sp>
      <p:sp>
        <p:nvSpPr>
          <p:cNvPr id="40" name="Text 32"/>
          <p:cNvSpPr txBox="1"/>
          <p:nvPr/>
        </p:nvSpPr>
        <p:spPr>
          <a:xfrm>
            <a:off x="777240" y="5486400"/>
            <a:ext cx="10607040" cy="594360"/>
          </a:xfrm>
          <a:prstGeom prst="rect">
            <a:avLst/>
          </a:prstGeom>
          <a:noFill/>
          <a:ln/>
        </p:spPr>
        <p:txBody>
          <a:bodyPr wrap="square" lIns="0" tIns="0" rIns="0" bIns="0" rtlCol="0" anchor="ctr"/>
          <a:lstStyle/>
          <a:p>
            <a:pPr indent="0" marL="0">
              <a:buNone/>
            </a:pPr>
            <a:r>
              <a:rPr lang="en-US" sz="1400" dirty="0">
                <a:solidFill>
                  <a:schemeClr val="bg1"/>
                </a:solidFill>
              </a:rPr>
              <a:t>IoT: ESP32, MQTT (Mosquitto / EMQX)   ·   Testing: pytest, Playwright, k6   ·   Hosting: Vercel, Render / Fly.io, Supabase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Live data sources and field hardware</a:t>
            </a:r>
            <a:endParaRPr lang="en-US" sz="3200" dirty="0"/>
          </a:p>
        </p:txBody>
      </p:sp>
      <p:sp>
        <p:nvSpPr>
          <p:cNvPr id="3" name="Shape 1"/>
          <p:cNvSpPr/>
          <p:nvPr/>
        </p:nvSpPr>
        <p:spPr>
          <a:xfrm>
            <a:off x="548640" y="1280160"/>
            <a:ext cx="5394960" cy="1920240"/>
          </a:xfrm>
          <a:prstGeom prst="roundRect">
            <a:avLst>
              <a:gd name="adj" fmla="val 3810"/>
            </a:avLst>
          </a:prstGeom>
          <a:solidFill>
            <a:schemeClr val="bg2"/>
          </a:solidFill>
          <a:ln w="12700">
            <a:solidFill>
              <a:schemeClr val="bg2"/>
            </a:solidFill>
            <a:prstDash val="solid"/>
          </a:ln>
        </p:spPr>
      </p:sp>
      <p:sp>
        <p:nvSpPr>
          <p:cNvPr id="4" name="Shape 2"/>
          <p:cNvSpPr/>
          <p:nvPr/>
        </p:nvSpPr>
        <p:spPr>
          <a:xfrm>
            <a:off x="777240" y="1508760"/>
            <a:ext cx="594360" cy="59436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19886" y="1651406"/>
            <a:ext cx="309067" cy="309067"/>
          </a:xfrm>
          <a:prstGeom prst="rect">
            <a:avLst/>
          </a:prstGeom>
        </p:spPr>
      </p:pic>
      <p:sp>
        <p:nvSpPr>
          <p:cNvPr id="6" name="Text 3"/>
          <p:cNvSpPr txBox="1"/>
          <p:nvPr/>
        </p:nvSpPr>
        <p:spPr>
          <a:xfrm>
            <a:off x="1554480" y="1600200"/>
            <a:ext cx="4206240" cy="411480"/>
          </a:xfrm>
          <a:prstGeom prst="rect">
            <a:avLst/>
          </a:prstGeom>
          <a:noFill/>
          <a:ln/>
        </p:spPr>
        <p:txBody>
          <a:bodyPr wrap="square" lIns="0" tIns="0" rIns="0" bIns="0" rtlCol="0" anchor="t"/>
          <a:lstStyle/>
          <a:p>
            <a:pPr indent="0" marL="0">
              <a:buNone/>
            </a:pPr>
            <a:r>
              <a:rPr lang="en-US" sz="1800" b="1" dirty="0">
                <a:solidFill>
                  <a:schemeClr val="tx2"/>
                </a:solidFill>
              </a:rPr>
              <a:t>Satellite (country-wide, free)</a:t>
            </a:r>
            <a:endParaRPr lang="en-US" sz="1800" dirty="0"/>
          </a:p>
        </p:txBody>
      </p:sp>
      <p:sp>
        <p:nvSpPr>
          <p:cNvPr id="7" name="Text 4"/>
          <p:cNvSpPr txBox="1"/>
          <p:nvPr/>
        </p:nvSpPr>
        <p:spPr>
          <a:xfrm>
            <a:off x="777240" y="2240280"/>
            <a:ext cx="4937760" cy="960120"/>
          </a:xfrm>
          <a:prstGeom prst="rect">
            <a:avLst/>
          </a:prstGeom>
          <a:noFill/>
          <a:ln/>
        </p:spPr>
        <p:txBody>
          <a:bodyPr wrap="square" lIns="0" tIns="0" rIns="0" bIns="0" rtlCol="0" anchor="t"/>
          <a:lstStyle/>
          <a:p>
            <a:pPr indent="0" marL="0">
              <a:buNone/>
            </a:pPr>
            <a:r>
              <a:rPr lang="en-US" sz="1400" dirty="0">
                <a:solidFill>
                  <a:schemeClr val="tx1"/>
                </a:solidFill>
              </a:rPr>
              <a:t>NASA GPM IMERG rainfall every 30 min (a few hours' delay) · Copernicus Sentinel-1 radar flood extent, every few days, sees through cloud · GloFAS river forecasts</a:t>
            </a:r>
            <a:endParaRPr lang="en-US" sz="1400" dirty="0"/>
          </a:p>
        </p:txBody>
      </p:sp>
      <p:sp>
        <p:nvSpPr>
          <p:cNvPr id="8" name="Shape 5"/>
          <p:cNvSpPr/>
          <p:nvPr/>
        </p:nvSpPr>
        <p:spPr>
          <a:xfrm>
            <a:off x="6217920" y="1280160"/>
            <a:ext cx="5394960" cy="1920240"/>
          </a:xfrm>
          <a:prstGeom prst="roundRect">
            <a:avLst>
              <a:gd name="adj" fmla="val 3810"/>
            </a:avLst>
          </a:prstGeom>
          <a:solidFill>
            <a:schemeClr val="bg2"/>
          </a:solidFill>
          <a:ln w="12700">
            <a:solidFill>
              <a:schemeClr val="bg2"/>
            </a:solidFill>
            <a:prstDash val="solid"/>
          </a:ln>
        </p:spPr>
      </p:sp>
      <p:sp>
        <p:nvSpPr>
          <p:cNvPr id="9" name="Shape 6"/>
          <p:cNvSpPr/>
          <p:nvPr/>
        </p:nvSpPr>
        <p:spPr>
          <a:xfrm>
            <a:off x="6446520" y="1508760"/>
            <a:ext cx="594360" cy="59436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6589166" y="1651406"/>
            <a:ext cx="309067" cy="309067"/>
          </a:xfrm>
          <a:prstGeom prst="rect">
            <a:avLst/>
          </a:prstGeom>
        </p:spPr>
      </p:pic>
      <p:sp>
        <p:nvSpPr>
          <p:cNvPr id="11" name="Text 7"/>
          <p:cNvSpPr txBox="1"/>
          <p:nvPr/>
        </p:nvSpPr>
        <p:spPr>
          <a:xfrm>
            <a:off x="7223760" y="1600200"/>
            <a:ext cx="4206240" cy="411480"/>
          </a:xfrm>
          <a:prstGeom prst="rect">
            <a:avLst/>
          </a:prstGeom>
          <a:noFill/>
          <a:ln/>
        </p:spPr>
        <p:txBody>
          <a:bodyPr wrap="square" lIns="0" tIns="0" rIns="0" bIns="0" rtlCol="0" anchor="t"/>
          <a:lstStyle/>
          <a:p>
            <a:pPr indent="0" marL="0">
              <a:buNone/>
            </a:pPr>
            <a:r>
              <a:rPr lang="en-US" sz="1800" b="1" dirty="0">
                <a:solidFill>
                  <a:schemeClr val="tx2"/>
                </a:solidFill>
              </a:rPr>
              <a:t>Government station network</a:t>
            </a:r>
            <a:endParaRPr lang="en-US" sz="1800" dirty="0"/>
          </a:p>
        </p:txBody>
      </p:sp>
      <p:sp>
        <p:nvSpPr>
          <p:cNvPr id="12" name="Text 8"/>
          <p:cNvSpPr txBox="1"/>
          <p:nvPr/>
        </p:nvSpPr>
        <p:spPr>
          <a:xfrm>
            <a:off x="6446520" y="2240280"/>
            <a:ext cx="4937760" cy="960120"/>
          </a:xfrm>
          <a:prstGeom prst="rect">
            <a:avLst/>
          </a:prstGeom>
          <a:noFill/>
          <a:ln/>
        </p:spPr>
        <p:txBody>
          <a:bodyPr wrap="square" lIns="0" tIns="0" rIns="0" bIns="0" rtlCol="0" anchor="t"/>
          <a:lstStyle/>
          <a:p>
            <a:pPr indent="0" marL="0">
              <a:buNone/>
            </a:pPr>
            <a:r>
              <a:rPr lang="en-US" sz="1400" dirty="0">
                <a:solidFill>
                  <a:schemeClr val="tx1"/>
                </a:solidFill>
              </a:rPr>
              <a:t>DHM hydrological and rainfall stations across Nepal · adapter built this semester; live after a data-sharing agreement [A]</a:t>
            </a:r>
            <a:endParaRPr lang="en-US" sz="1400" dirty="0"/>
          </a:p>
        </p:txBody>
      </p:sp>
      <p:sp>
        <p:nvSpPr>
          <p:cNvPr id="13" name="Shape 9"/>
          <p:cNvSpPr/>
          <p:nvPr/>
        </p:nvSpPr>
        <p:spPr>
          <a:xfrm>
            <a:off x="548640" y="3429000"/>
            <a:ext cx="5394960" cy="1920240"/>
          </a:xfrm>
          <a:prstGeom prst="roundRect">
            <a:avLst>
              <a:gd name="adj" fmla="val 3810"/>
            </a:avLst>
          </a:prstGeom>
          <a:solidFill>
            <a:schemeClr val="bg2"/>
          </a:solidFill>
          <a:ln w="12700">
            <a:solidFill>
              <a:schemeClr val="bg2"/>
            </a:solidFill>
            <a:prstDash val="solid"/>
          </a:ln>
        </p:spPr>
      </p:sp>
      <p:sp>
        <p:nvSpPr>
          <p:cNvPr id="14" name="Shape 10"/>
          <p:cNvSpPr/>
          <p:nvPr/>
        </p:nvSpPr>
        <p:spPr>
          <a:xfrm>
            <a:off x="777240" y="3657600"/>
            <a:ext cx="594360" cy="59436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919886" y="3800246"/>
            <a:ext cx="309067" cy="309067"/>
          </a:xfrm>
          <a:prstGeom prst="rect">
            <a:avLst/>
          </a:prstGeom>
        </p:spPr>
      </p:pic>
      <p:sp>
        <p:nvSpPr>
          <p:cNvPr id="16" name="Text 11"/>
          <p:cNvSpPr txBox="1"/>
          <p:nvPr/>
        </p:nvSpPr>
        <p:spPr>
          <a:xfrm>
            <a:off x="1554480" y="3749040"/>
            <a:ext cx="4206240" cy="411480"/>
          </a:xfrm>
          <a:prstGeom prst="rect">
            <a:avLst/>
          </a:prstGeom>
          <a:noFill/>
          <a:ln/>
        </p:spPr>
        <p:txBody>
          <a:bodyPr wrap="square" lIns="0" tIns="0" rIns="0" bIns="0" rtlCol="0" anchor="t"/>
          <a:lstStyle/>
          <a:p>
            <a:pPr indent="0" marL="0">
              <a:buNone/>
            </a:pPr>
            <a:r>
              <a:rPr lang="en-US" sz="1800" b="1" dirty="0">
                <a:solidFill>
                  <a:schemeClr val="tx2"/>
                </a:solidFill>
              </a:rPr>
              <a:t>Own river-gauge node (1–3)</a:t>
            </a:r>
            <a:endParaRPr lang="en-US" sz="1800" dirty="0"/>
          </a:p>
        </p:txBody>
      </p:sp>
      <p:sp>
        <p:nvSpPr>
          <p:cNvPr id="17" name="Text 12"/>
          <p:cNvSpPr txBox="1"/>
          <p:nvPr/>
        </p:nvSpPr>
        <p:spPr>
          <a:xfrm>
            <a:off x="777240" y="4389120"/>
            <a:ext cx="4937760" cy="960120"/>
          </a:xfrm>
          <a:prstGeom prst="rect">
            <a:avLst/>
          </a:prstGeom>
          <a:noFill/>
          <a:ln/>
        </p:spPr>
        <p:txBody>
          <a:bodyPr wrap="square" lIns="0" tIns="0" rIns="0" bIns="0" rtlCol="0" anchor="t"/>
          <a:lstStyle/>
          <a:p>
            <a:pPr indent="0" marL="0">
              <a:buNone/>
            </a:pPr>
            <a:r>
              <a:rPr lang="en-US" sz="1400" dirty="0">
                <a:solidFill>
                  <a:schemeClr val="tx1"/>
                </a:solidFill>
              </a:rPr>
              <a:t>ESP32 + ultrasonic or radar level sensor + rain gauge · solar + battery · GSM / LTE or LoRa · MQTT over TLS · 24 h offline buffer</a:t>
            </a:r>
            <a:endParaRPr lang="en-US" sz="1400" dirty="0"/>
          </a:p>
        </p:txBody>
      </p:sp>
      <p:sp>
        <p:nvSpPr>
          <p:cNvPr id="18" name="Shape 13"/>
          <p:cNvSpPr/>
          <p:nvPr/>
        </p:nvSpPr>
        <p:spPr>
          <a:xfrm>
            <a:off x="6217920" y="3429000"/>
            <a:ext cx="5394960" cy="1920240"/>
          </a:xfrm>
          <a:prstGeom prst="roundRect">
            <a:avLst>
              <a:gd name="adj" fmla="val 3810"/>
            </a:avLst>
          </a:prstGeom>
          <a:solidFill>
            <a:schemeClr val="bg2"/>
          </a:solidFill>
          <a:ln w="12700">
            <a:solidFill>
              <a:schemeClr val="bg2"/>
            </a:solidFill>
            <a:prstDash val="solid"/>
          </a:ln>
        </p:spPr>
      </p:sp>
      <p:sp>
        <p:nvSpPr>
          <p:cNvPr id="19" name="Shape 14"/>
          <p:cNvSpPr/>
          <p:nvPr/>
        </p:nvSpPr>
        <p:spPr>
          <a:xfrm>
            <a:off x="6446520" y="3657600"/>
            <a:ext cx="594360" cy="59436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6589166" y="3800246"/>
            <a:ext cx="309067" cy="309067"/>
          </a:xfrm>
          <a:prstGeom prst="rect">
            <a:avLst/>
          </a:prstGeom>
        </p:spPr>
      </p:pic>
      <p:sp>
        <p:nvSpPr>
          <p:cNvPr id="21" name="Text 15"/>
          <p:cNvSpPr txBox="1"/>
          <p:nvPr/>
        </p:nvSpPr>
        <p:spPr>
          <a:xfrm>
            <a:off x="7223760" y="3749040"/>
            <a:ext cx="4206240" cy="411480"/>
          </a:xfrm>
          <a:prstGeom prst="rect">
            <a:avLst/>
          </a:prstGeom>
          <a:noFill/>
          <a:ln/>
        </p:spPr>
        <p:txBody>
          <a:bodyPr wrap="square" lIns="0" tIns="0" rIns="0" bIns="0" rtlCol="0" anchor="t"/>
          <a:lstStyle/>
          <a:p>
            <a:pPr indent="0" marL="0">
              <a:buNone/>
            </a:pPr>
            <a:r>
              <a:rPr lang="en-US" sz="1800" b="1" dirty="0">
                <a:solidFill>
                  <a:schemeClr val="tx2"/>
                </a:solidFill>
              </a:rPr>
              <a:t>Siren node (1 pilot)</a:t>
            </a:r>
            <a:endParaRPr lang="en-US" sz="1800" dirty="0"/>
          </a:p>
        </p:txBody>
      </p:sp>
      <p:sp>
        <p:nvSpPr>
          <p:cNvPr id="22" name="Text 16"/>
          <p:cNvSpPr txBox="1"/>
          <p:nvPr/>
        </p:nvSpPr>
        <p:spPr>
          <a:xfrm>
            <a:off x="6446520" y="4389120"/>
            <a:ext cx="4937760" cy="960120"/>
          </a:xfrm>
          <a:prstGeom prst="rect">
            <a:avLst/>
          </a:prstGeom>
          <a:noFill/>
          <a:ln/>
        </p:spPr>
        <p:txBody>
          <a:bodyPr wrap="square" lIns="0" tIns="0" rIns="0" bIns="0" rtlCol="0" anchor="t"/>
          <a:lstStyle/>
          <a:p>
            <a:pPr indent="0" marL="0">
              <a:buNone/>
            </a:pPr>
            <a:r>
              <a:rPr lang="en-US" sz="1400" dirty="0">
                <a:solidFill>
                  <a:schemeClr val="tx1"/>
                </a:solidFill>
              </a:rPr>
              <a:t>GSM relay controller · signed commands only from approved warnings · local manual button · heartbeat and weekly silent self-test</a:t>
            </a:r>
            <a:endParaRPr lang="en-US" sz="1400" dirty="0"/>
          </a:p>
        </p:txBody>
      </p:sp>
      <p:sp>
        <p:nvSpPr>
          <p:cNvPr id="23" name="Shape 17"/>
          <p:cNvSpPr/>
          <p:nvPr/>
        </p:nvSpPr>
        <p:spPr>
          <a:xfrm>
            <a:off x="548640" y="5532120"/>
            <a:ext cx="11064240" cy="594360"/>
          </a:xfrm>
          <a:prstGeom prst="roundRect">
            <a:avLst>
              <a:gd name="adj" fmla="val 12308"/>
            </a:avLst>
          </a:prstGeom>
          <a:solidFill>
            <a:schemeClr val="tx2"/>
          </a:solidFill>
          <a:ln w="12700">
            <a:solidFill>
              <a:schemeClr val="tx2"/>
            </a:solidFill>
            <a:prstDash val="solid"/>
          </a:ln>
        </p:spPr>
      </p:sp>
      <p:sp>
        <p:nvSpPr>
          <p:cNvPr id="24" name="Text 18"/>
          <p:cNvSpPr txBox="1"/>
          <p:nvPr/>
        </p:nvSpPr>
        <p:spPr>
          <a:xfrm>
            <a:off x="777240" y="5532120"/>
            <a:ext cx="10607040" cy="594360"/>
          </a:xfrm>
          <a:prstGeom prst="rect">
            <a:avLst/>
          </a:prstGeom>
          <a:noFill/>
          <a:ln/>
        </p:spPr>
        <p:txBody>
          <a:bodyPr wrap="square" lIns="0" tIns="0" rIns="0" bIns="0" rtlCol="0" anchor="ctr"/>
          <a:lstStyle/>
          <a:p>
            <a:pPr indent="0" marL="0">
              <a:buNone/>
            </a:pPr>
            <a:r>
              <a:rPr lang="en-US" sz="1400" dirty="0">
                <a:solidFill>
                  <a:schemeClr val="bg1"/>
                </a:solidFill>
              </a:rPr>
              <a:t>Field failures: silent node → device fault, level held (SR-06) · siren offline → operators and volunteers alerted · tampering → readings marked SUSPECT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Risk levels and transparent classification rules</a:t>
            </a:r>
            <a:endParaRPr lang="en-US" sz="3200" dirty="0"/>
          </a:p>
        </p:txBody>
      </p:sp>
      <p:sp>
        <p:nvSpPr>
          <p:cNvPr id="3" name="Shape 1"/>
          <p:cNvSpPr/>
          <p:nvPr/>
        </p:nvSpPr>
        <p:spPr>
          <a:xfrm>
            <a:off x="548640" y="1280160"/>
            <a:ext cx="2035454" cy="685800"/>
          </a:xfrm>
          <a:prstGeom prst="roundRect">
            <a:avLst>
              <a:gd name="adj" fmla="val 10667"/>
            </a:avLst>
          </a:prstGeom>
          <a:solidFill>
            <a:schemeClr val="accent5"/>
          </a:solidFill>
          <a:ln w="12700">
            <a:solidFill>
              <a:schemeClr val="accent5"/>
            </a:solidFill>
            <a:prstDash val="solid"/>
          </a:ln>
        </p:spPr>
      </p:sp>
      <p:sp>
        <p:nvSpPr>
          <p:cNvPr id="4" name="Text 2"/>
          <p:cNvSpPr txBox="1"/>
          <p:nvPr/>
        </p:nvSpPr>
        <p:spPr>
          <a:xfrm>
            <a:off x="548640" y="1280160"/>
            <a:ext cx="2035454" cy="685800"/>
          </a:xfrm>
          <a:prstGeom prst="rect">
            <a:avLst/>
          </a:prstGeom>
          <a:noFill/>
          <a:ln/>
        </p:spPr>
        <p:txBody>
          <a:bodyPr wrap="square" lIns="0" tIns="0" rIns="0" bIns="0" rtlCol="0" anchor="ctr"/>
          <a:lstStyle/>
          <a:p>
            <a:pPr algn="ctr" indent="0" marL="0">
              <a:buNone/>
            </a:pPr>
            <a:r>
              <a:rPr lang="en-US" sz="1800" b="1" dirty="0">
                <a:solidFill>
                  <a:schemeClr val="bg1"/>
                </a:solidFill>
              </a:rPr>
              <a:t>NORMAL</a:t>
            </a:r>
            <a:endParaRPr lang="en-US" sz="1800" dirty="0"/>
          </a:p>
        </p:txBody>
      </p:sp>
      <p:sp>
        <p:nvSpPr>
          <p:cNvPr id="5" name="Shape 3"/>
          <p:cNvSpPr/>
          <p:nvPr/>
        </p:nvSpPr>
        <p:spPr>
          <a:xfrm>
            <a:off x="548640" y="2057400"/>
            <a:ext cx="2035454" cy="2697480"/>
          </a:xfrm>
          <a:prstGeom prst="roundRect">
            <a:avLst>
              <a:gd name="adj" fmla="val 3594"/>
            </a:avLst>
          </a:prstGeom>
          <a:solidFill>
            <a:schemeClr val="bg2"/>
          </a:solidFill>
          <a:ln w="12700">
            <a:solidFill>
              <a:schemeClr val="bg2"/>
            </a:solidFill>
            <a:prstDash val="solid"/>
          </a:ln>
        </p:spPr>
      </p:sp>
      <p:sp>
        <p:nvSpPr>
          <p:cNvPr id="6" name="Text 4"/>
          <p:cNvSpPr txBox="1"/>
          <p:nvPr/>
        </p:nvSpPr>
        <p:spPr>
          <a:xfrm>
            <a:off x="685800" y="2194560"/>
            <a:ext cx="1761134" cy="2468880"/>
          </a:xfrm>
          <a:prstGeom prst="rect">
            <a:avLst/>
          </a:prstGeom>
          <a:noFill/>
          <a:ln/>
        </p:spPr>
        <p:txBody>
          <a:bodyPr wrap="square" lIns="0" tIns="0" rIns="0" bIns="0" rtlCol="0" anchor="t"/>
          <a:lstStyle/>
          <a:p>
            <a:pPr indent="0" marL="0">
              <a:buNone/>
            </a:pPr>
            <a:r>
              <a:rPr lang="en-US" sz="1400" b="1" dirty="0">
                <a:solidFill>
                  <a:schemeClr val="tx1"/>
                </a:solidFill>
              </a:rPr>
              <a:t>No elevated risk detected</a:t>
            </a:r>
            <a:endParaRPr lang="en-US" sz="1400" dirty="0"/>
          </a:p>
          <a:p>
            <a:pPr indent="0" marL="0">
              <a:buNone/>
            </a:pPr>
            <a:r>
              <a:rPr lang="en-US" sz="600" dirty="0">
                <a:solidFill>
                  <a:schemeClr val="tx1"/>
                </a:solidFill>
              </a:rPr>
              <a:t> </a:t>
            </a:r>
            <a:endParaRPr lang="en-US" sz="1400" dirty="0"/>
          </a:p>
          <a:p>
            <a:pPr indent="0" marL="0">
              <a:buNone/>
            </a:pPr>
            <a:r>
              <a:rPr lang="en-US" sz="1400" dirty="0">
                <a:solidFill>
                  <a:schemeClr val="tx1"/>
                </a:solidFill>
              </a:rPr>
              <a:t>Stay informed</a:t>
            </a:r>
            <a:endParaRPr lang="en-US" sz="1400" dirty="0"/>
          </a:p>
          <a:p>
            <a:pPr indent="0" marL="0">
              <a:buNone/>
            </a:pPr>
            <a:r>
              <a:rPr lang="en-US" sz="600" dirty="0">
                <a:solidFill>
                  <a:schemeClr val="tx1"/>
                </a:solidFill>
              </a:rPr>
              <a:t> </a:t>
            </a:r>
            <a:endParaRPr lang="en-US" sz="1400" dirty="0"/>
          </a:p>
          <a:p>
            <a:pPr indent="0" marL="0">
              <a:buNone/>
            </a:pPr>
            <a:r>
              <a:rPr lang="en-US" sz="1400" i="1" dirty="0">
                <a:solidFill>
                  <a:schemeClr val="accent6"/>
                </a:solidFill>
              </a:rPr>
              <a:t>No alert</a:t>
            </a:r>
            <a:endParaRPr lang="en-US" sz="1400" dirty="0"/>
          </a:p>
        </p:txBody>
      </p:sp>
      <p:sp>
        <p:nvSpPr>
          <p:cNvPr id="7" name="Shape 5"/>
          <p:cNvSpPr/>
          <p:nvPr/>
        </p:nvSpPr>
        <p:spPr>
          <a:xfrm>
            <a:off x="2808122" y="1280160"/>
            <a:ext cx="2035454" cy="685800"/>
          </a:xfrm>
          <a:prstGeom prst="roundRect">
            <a:avLst>
              <a:gd name="adj" fmla="val 10667"/>
            </a:avLst>
          </a:prstGeom>
          <a:solidFill>
            <a:schemeClr val="accent4"/>
          </a:solidFill>
          <a:ln w="12700">
            <a:solidFill>
              <a:schemeClr val="accent4"/>
            </a:solidFill>
            <a:prstDash val="solid"/>
          </a:ln>
        </p:spPr>
      </p:sp>
      <p:sp>
        <p:nvSpPr>
          <p:cNvPr id="8" name="Text 6"/>
          <p:cNvSpPr txBox="1"/>
          <p:nvPr/>
        </p:nvSpPr>
        <p:spPr>
          <a:xfrm>
            <a:off x="2808122" y="1280160"/>
            <a:ext cx="2035454" cy="685800"/>
          </a:xfrm>
          <a:prstGeom prst="rect">
            <a:avLst/>
          </a:prstGeom>
          <a:noFill/>
          <a:ln/>
        </p:spPr>
        <p:txBody>
          <a:bodyPr wrap="square" lIns="0" tIns="0" rIns="0" bIns="0" rtlCol="0" anchor="ctr"/>
          <a:lstStyle/>
          <a:p>
            <a:pPr algn="ctr" indent="0" marL="0">
              <a:buNone/>
            </a:pPr>
            <a:r>
              <a:rPr lang="en-US" sz="1800" b="1" dirty="0">
                <a:solidFill>
                  <a:schemeClr val="tx1"/>
                </a:solidFill>
              </a:rPr>
              <a:t>WATCH</a:t>
            </a:r>
            <a:endParaRPr lang="en-US" sz="1800" dirty="0"/>
          </a:p>
        </p:txBody>
      </p:sp>
      <p:sp>
        <p:nvSpPr>
          <p:cNvPr id="9" name="Shape 7"/>
          <p:cNvSpPr/>
          <p:nvPr/>
        </p:nvSpPr>
        <p:spPr>
          <a:xfrm>
            <a:off x="2808122" y="2057400"/>
            <a:ext cx="2035454" cy="2697480"/>
          </a:xfrm>
          <a:prstGeom prst="roundRect">
            <a:avLst>
              <a:gd name="adj" fmla="val 3594"/>
            </a:avLst>
          </a:prstGeom>
          <a:solidFill>
            <a:schemeClr val="bg2"/>
          </a:solidFill>
          <a:ln w="12700">
            <a:solidFill>
              <a:schemeClr val="bg2"/>
            </a:solidFill>
            <a:prstDash val="solid"/>
          </a:ln>
        </p:spPr>
      </p:sp>
      <p:sp>
        <p:nvSpPr>
          <p:cNvPr id="10" name="Text 8"/>
          <p:cNvSpPr txBox="1"/>
          <p:nvPr/>
        </p:nvSpPr>
        <p:spPr>
          <a:xfrm>
            <a:off x="2945282" y="2194560"/>
            <a:ext cx="1761134" cy="2468880"/>
          </a:xfrm>
          <a:prstGeom prst="rect">
            <a:avLst/>
          </a:prstGeom>
          <a:noFill/>
          <a:ln/>
        </p:spPr>
        <p:txBody>
          <a:bodyPr wrap="square" lIns="0" tIns="0" rIns="0" bIns="0" rtlCol="0" anchor="t"/>
          <a:lstStyle/>
          <a:p>
            <a:pPr indent="0" marL="0">
              <a:buNone/>
            </a:pPr>
            <a:r>
              <a:rPr lang="en-US" sz="1400" b="1" dirty="0">
                <a:solidFill>
                  <a:schemeClr val="tx1"/>
                </a:solidFill>
              </a:rPr>
              <a:t>Flooding possible</a:t>
            </a:r>
            <a:endParaRPr lang="en-US" sz="1400" dirty="0"/>
          </a:p>
          <a:p>
            <a:pPr indent="0" marL="0">
              <a:buNone/>
            </a:pPr>
            <a:r>
              <a:rPr lang="en-US" sz="600" dirty="0">
                <a:solidFill>
                  <a:schemeClr val="tx1"/>
                </a:solidFill>
              </a:rPr>
              <a:t> </a:t>
            </a:r>
            <a:endParaRPr lang="en-US" sz="1400" dirty="0"/>
          </a:p>
          <a:p>
            <a:pPr indent="0" marL="0">
              <a:buNone/>
            </a:pPr>
            <a:r>
              <a:rPr lang="en-US" sz="1400" dirty="0">
                <a:solidFill>
                  <a:schemeClr val="tx1"/>
                </a:solidFill>
              </a:rPr>
              <a:t>Prepare: charge phone, pack go-bag, know shelter</a:t>
            </a:r>
            <a:endParaRPr lang="en-US" sz="1400" dirty="0"/>
          </a:p>
          <a:p>
            <a:pPr indent="0" marL="0">
              <a:buNone/>
            </a:pPr>
            <a:r>
              <a:rPr lang="en-US" sz="600" dirty="0">
                <a:solidFill>
                  <a:schemeClr val="tx1"/>
                </a:solidFill>
              </a:rPr>
              <a:t> </a:t>
            </a:r>
            <a:endParaRPr lang="en-US" sz="1400" dirty="0"/>
          </a:p>
          <a:p>
            <a:pPr indent="0" marL="0">
              <a:buNone/>
            </a:pPr>
            <a:r>
              <a:rPr lang="en-US" sz="1400" i="1" dirty="0">
                <a:solidFill>
                  <a:schemeClr val="accent6"/>
                </a:solidFill>
              </a:rPr>
              <a:t>Auto (policy) or 1 approver</a:t>
            </a:r>
            <a:endParaRPr lang="en-US" sz="1400" dirty="0"/>
          </a:p>
        </p:txBody>
      </p:sp>
      <p:sp>
        <p:nvSpPr>
          <p:cNvPr id="11" name="Shape 9"/>
          <p:cNvSpPr/>
          <p:nvPr/>
        </p:nvSpPr>
        <p:spPr>
          <a:xfrm>
            <a:off x="5067605" y="1280160"/>
            <a:ext cx="2035454" cy="685800"/>
          </a:xfrm>
          <a:prstGeom prst="roundRect">
            <a:avLst>
              <a:gd name="adj" fmla="val 10667"/>
            </a:avLst>
          </a:prstGeom>
          <a:solidFill>
            <a:schemeClr val="accent2"/>
          </a:solidFill>
          <a:ln w="12700">
            <a:solidFill>
              <a:schemeClr val="accent2"/>
            </a:solidFill>
            <a:prstDash val="solid"/>
          </a:ln>
        </p:spPr>
      </p:sp>
      <p:sp>
        <p:nvSpPr>
          <p:cNvPr id="12" name="Text 10"/>
          <p:cNvSpPr txBox="1"/>
          <p:nvPr/>
        </p:nvSpPr>
        <p:spPr>
          <a:xfrm>
            <a:off x="5067605" y="1280160"/>
            <a:ext cx="2035454" cy="685800"/>
          </a:xfrm>
          <a:prstGeom prst="rect">
            <a:avLst/>
          </a:prstGeom>
          <a:noFill/>
          <a:ln/>
        </p:spPr>
        <p:txBody>
          <a:bodyPr wrap="square" lIns="0" tIns="0" rIns="0" bIns="0" rtlCol="0" anchor="ctr"/>
          <a:lstStyle/>
          <a:p>
            <a:pPr algn="ctr" indent="0" marL="0">
              <a:buNone/>
            </a:pPr>
            <a:r>
              <a:rPr lang="en-US" sz="1800" b="1" dirty="0">
                <a:solidFill>
                  <a:schemeClr val="tx1"/>
                </a:solidFill>
              </a:rPr>
              <a:t>WARNING</a:t>
            </a:r>
            <a:endParaRPr lang="en-US" sz="1800" dirty="0"/>
          </a:p>
        </p:txBody>
      </p:sp>
      <p:sp>
        <p:nvSpPr>
          <p:cNvPr id="13" name="Shape 11"/>
          <p:cNvSpPr/>
          <p:nvPr/>
        </p:nvSpPr>
        <p:spPr>
          <a:xfrm>
            <a:off x="5067605" y="2057400"/>
            <a:ext cx="2035454" cy="2697480"/>
          </a:xfrm>
          <a:prstGeom prst="roundRect">
            <a:avLst>
              <a:gd name="adj" fmla="val 3594"/>
            </a:avLst>
          </a:prstGeom>
          <a:solidFill>
            <a:schemeClr val="bg2"/>
          </a:solidFill>
          <a:ln w="12700">
            <a:solidFill>
              <a:schemeClr val="bg2"/>
            </a:solidFill>
            <a:prstDash val="solid"/>
          </a:ln>
        </p:spPr>
      </p:sp>
      <p:sp>
        <p:nvSpPr>
          <p:cNvPr id="14" name="Text 12"/>
          <p:cNvSpPr txBox="1"/>
          <p:nvPr/>
        </p:nvSpPr>
        <p:spPr>
          <a:xfrm>
            <a:off x="5204765" y="2194560"/>
            <a:ext cx="1761134" cy="2468880"/>
          </a:xfrm>
          <a:prstGeom prst="rect">
            <a:avLst/>
          </a:prstGeom>
          <a:noFill/>
          <a:ln/>
        </p:spPr>
        <p:txBody>
          <a:bodyPr wrap="square" lIns="0" tIns="0" rIns="0" bIns="0" rtlCol="0" anchor="t"/>
          <a:lstStyle/>
          <a:p>
            <a:pPr indent="0" marL="0">
              <a:buNone/>
            </a:pPr>
            <a:r>
              <a:rPr lang="en-US" sz="1400" b="1" dirty="0">
                <a:solidFill>
                  <a:schemeClr val="tx1"/>
                </a:solidFill>
              </a:rPr>
              <a:t>Flooding likely</a:t>
            </a:r>
            <a:endParaRPr lang="en-US" sz="1400" dirty="0"/>
          </a:p>
          <a:p>
            <a:pPr indent="0" marL="0">
              <a:buNone/>
            </a:pPr>
            <a:r>
              <a:rPr lang="en-US" sz="600" dirty="0">
                <a:solidFill>
                  <a:schemeClr val="tx1"/>
                </a:solidFill>
              </a:rPr>
              <a:t> </a:t>
            </a:r>
            <a:endParaRPr lang="en-US" sz="1400" dirty="0"/>
          </a:p>
          <a:p>
            <a:pPr indent="0" marL="0">
              <a:buNone/>
            </a:pPr>
            <a:r>
              <a:rPr lang="en-US" sz="1400" dirty="0">
                <a:solidFill>
                  <a:schemeClr val="tx1"/>
                </a:solidFill>
              </a:rPr>
              <a:t>Move valuables, livestock, vulnerable people</a:t>
            </a:r>
            <a:endParaRPr lang="en-US" sz="1400" dirty="0"/>
          </a:p>
          <a:p>
            <a:pPr indent="0" marL="0">
              <a:buNone/>
            </a:pPr>
            <a:r>
              <a:rPr lang="en-US" sz="600" dirty="0">
                <a:solidFill>
                  <a:schemeClr val="tx1"/>
                </a:solidFill>
              </a:rPr>
              <a:t> </a:t>
            </a:r>
            <a:endParaRPr lang="en-US" sz="1400" dirty="0"/>
          </a:p>
          <a:p>
            <a:pPr indent="0" marL="0">
              <a:buNone/>
            </a:pPr>
            <a:r>
              <a:rPr lang="en-US" sz="1400" i="1" dirty="0">
                <a:solidFill>
                  <a:schemeClr val="accent6"/>
                </a:solidFill>
              </a:rPr>
              <a:t>1 approver</a:t>
            </a:r>
            <a:endParaRPr lang="en-US" sz="1400" dirty="0"/>
          </a:p>
        </p:txBody>
      </p:sp>
      <p:sp>
        <p:nvSpPr>
          <p:cNvPr id="15" name="Shape 13"/>
          <p:cNvSpPr/>
          <p:nvPr/>
        </p:nvSpPr>
        <p:spPr>
          <a:xfrm>
            <a:off x="7327087" y="1280160"/>
            <a:ext cx="2035454" cy="685800"/>
          </a:xfrm>
          <a:prstGeom prst="roundRect">
            <a:avLst>
              <a:gd name="adj" fmla="val 10667"/>
            </a:avLst>
          </a:prstGeom>
          <a:solidFill>
            <a:schemeClr val="accent3"/>
          </a:solidFill>
          <a:ln w="12700">
            <a:solidFill>
              <a:schemeClr val="accent3"/>
            </a:solidFill>
            <a:prstDash val="solid"/>
          </a:ln>
        </p:spPr>
      </p:sp>
      <p:sp>
        <p:nvSpPr>
          <p:cNvPr id="16" name="Text 14"/>
          <p:cNvSpPr txBox="1"/>
          <p:nvPr/>
        </p:nvSpPr>
        <p:spPr>
          <a:xfrm>
            <a:off x="7327087" y="1280160"/>
            <a:ext cx="2035454" cy="685800"/>
          </a:xfrm>
          <a:prstGeom prst="rect">
            <a:avLst/>
          </a:prstGeom>
          <a:noFill/>
          <a:ln/>
        </p:spPr>
        <p:txBody>
          <a:bodyPr wrap="square" lIns="0" tIns="0" rIns="0" bIns="0" rtlCol="0" anchor="ctr"/>
          <a:lstStyle/>
          <a:p>
            <a:pPr algn="ctr" indent="0" marL="0">
              <a:buNone/>
            </a:pPr>
            <a:r>
              <a:rPr lang="en-US" sz="1800" b="1" dirty="0">
                <a:solidFill>
                  <a:schemeClr val="bg1"/>
                </a:solidFill>
              </a:rPr>
              <a:t>CRITICAL</a:t>
            </a:r>
            <a:endParaRPr lang="en-US" sz="1800" dirty="0"/>
          </a:p>
        </p:txBody>
      </p:sp>
      <p:sp>
        <p:nvSpPr>
          <p:cNvPr id="17" name="Shape 15"/>
          <p:cNvSpPr/>
          <p:nvPr/>
        </p:nvSpPr>
        <p:spPr>
          <a:xfrm>
            <a:off x="7327087" y="2057400"/>
            <a:ext cx="2035454" cy="2697480"/>
          </a:xfrm>
          <a:prstGeom prst="roundRect">
            <a:avLst>
              <a:gd name="adj" fmla="val 3594"/>
            </a:avLst>
          </a:prstGeom>
          <a:solidFill>
            <a:schemeClr val="bg2"/>
          </a:solidFill>
          <a:ln w="12700">
            <a:solidFill>
              <a:schemeClr val="bg2"/>
            </a:solidFill>
            <a:prstDash val="solid"/>
          </a:ln>
        </p:spPr>
      </p:sp>
      <p:sp>
        <p:nvSpPr>
          <p:cNvPr id="18" name="Text 16"/>
          <p:cNvSpPr txBox="1"/>
          <p:nvPr/>
        </p:nvSpPr>
        <p:spPr>
          <a:xfrm>
            <a:off x="7464247" y="2194560"/>
            <a:ext cx="1761134" cy="2468880"/>
          </a:xfrm>
          <a:prstGeom prst="rect">
            <a:avLst/>
          </a:prstGeom>
          <a:noFill/>
          <a:ln/>
        </p:spPr>
        <p:txBody>
          <a:bodyPr wrap="square" lIns="0" tIns="0" rIns="0" bIns="0" rtlCol="0" anchor="t"/>
          <a:lstStyle/>
          <a:p>
            <a:pPr indent="0" marL="0">
              <a:buNone/>
            </a:pPr>
            <a:r>
              <a:rPr lang="en-US" sz="1400" b="1" dirty="0">
                <a:solidFill>
                  <a:schemeClr val="tx1"/>
                </a:solidFill>
              </a:rPr>
              <a:t>Flooding now or imminent</a:t>
            </a:r>
            <a:endParaRPr lang="en-US" sz="1400" dirty="0"/>
          </a:p>
          <a:p>
            <a:pPr indent="0" marL="0">
              <a:buNone/>
            </a:pPr>
            <a:r>
              <a:rPr lang="en-US" sz="600" dirty="0">
                <a:solidFill>
                  <a:schemeClr val="tx1"/>
                </a:solidFill>
              </a:rPr>
              <a:t> </a:t>
            </a:r>
            <a:endParaRPr lang="en-US" sz="1400" dirty="0"/>
          </a:p>
          <a:p>
            <a:pPr indent="0" marL="0">
              <a:buNone/>
            </a:pPr>
            <a:r>
              <a:rPr lang="en-US" sz="1400" dirty="0">
                <a:solidFill>
                  <a:schemeClr val="tx1"/>
                </a:solidFill>
              </a:rPr>
              <a:t>Evacuate now; never cross flowing water</a:t>
            </a:r>
            <a:endParaRPr lang="en-US" sz="1400" dirty="0"/>
          </a:p>
          <a:p>
            <a:pPr indent="0" marL="0">
              <a:buNone/>
            </a:pPr>
            <a:r>
              <a:rPr lang="en-US" sz="600" dirty="0">
                <a:solidFill>
                  <a:schemeClr val="tx1"/>
                </a:solidFill>
              </a:rPr>
              <a:t> </a:t>
            </a:r>
            <a:endParaRPr lang="en-US" sz="1400" dirty="0"/>
          </a:p>
          <a:p>
            <a:pPr indent="0" marL="0">
              <a:buNone/>
            </a:pPr>
            <a:r>
              <a:rPr lang="en-US" sz="1400" i="1" dirty="0">
                <a:solidFill>
                  <a:schemeClr val="accent6"/>
                </a:solidFill>
              </a:rPr>
              <a:t>2 approvers; cannot be muted</a:t>
            </a:r>
            <a:endParaRPr lang="en-US" sz="1400" dirty="0"/>
          </a:p>
        </p:txBody>
      </p:sp>
      <p:sp>
        <p:nvSpPr>
          <p:cNvPr id="19" name="Shape 17"/>
          <p:cNvSpPr/>
          <p:nvPr/>
        </p:nvSpPr>
        <p:spPr>
          <a:xfrm>
            <a:off x="9586570" y="1280160"/>
            <a:ext cx="2035454" cy="685800"/>
          </a:xfrm>
          <a:prstGeom prst="roundRect">
            <a:avLst>
              <a:gd name="adj" fmla="val 10667"/>
            </a:avLst>
          </a:prstGeom>
          <a:solidFill>
            <a:schemeClr val="accent6"/>
          </a:solidFill>
          <a:ln w="12700">
            <a:solidFill>
              <a:schemeClr val="accent6"/>
            </a:solidFill>
            <a:prstDash val="solid"/>
          </a:ln>
        </p:spPr>
      </p:sp>
      <p:sp>
        <p:nvSpPr>
          <p:cNvPr id="20" name="Text 18"/>
          <p:cNvSpPr txBox="1"/>
          <p:nvPr/>
        </p:nvSpPr>
        <p:spPr>
          <a:xfrm>
            <a:off x="9586570" y="1280160"/>
            <a:ext cx="2035454" cy="685800"/>
          </a:xfrm>
          <a:prstGeom prst="rect">
            <a:avLst/>
          </a:prstGeom>
          <a:noFill/>
          <a:ln/>
        </p:spPr>
        <p:txBody>
          <a:bodyPr wrap="square" lIns="0" tIns="0" rIns="0" bIns="0" rtlCol="0" anchor="ctr"/>
          <a:lstStyle/>
          <a:p>
            <a:pPr algn="ctr" indent="0" marL="0">
              <a:buNone/>
            </a:pPr>
            <a:r>
              <a:rPr lang="en-US" sz="1800" b="1" dirty="0">
                <a:solidFill>
                  <a:schemeClr val="bg1"/>
                </a:solidFill>
              </a:rPr>
              <a:t>UNKNOWN</a:t>
            </a:r>
            <a:endParaRPr lang="en-US" sz="1800" dirty="0"/>
          </a:p>
        </p:txBody>
      </p:sp>
      <p:sp>
        <p:nvSpPr>
          <p:cNvPr id="21" name="Shape 19"/>
          <p:cNvSpPr/>
          <p:nvPr/>
        </p:nvSpPr>
        <p:spPr>
          <a:xfrm>
            <a:off x="9586570" y="2057400"/>
            <a:ext cx="2035454" cy="2697480"/>
          </a:xfrm>
          <a:prstGeom prst="roundRect">
            <a:avLst>
              <a:gd name="adj" fmla="val 3594"/>
            </a:avLst>
          </a:prstGeom>
          <a:solidFill>
            <a:schemeClr val="bg2"/>
          </a:solidFill>
          <a:ln w="12700">
            <a:solidFill>
              <a:schemeClr val="bg2"/>
            </a:solidFill>
            <a:prstDash val="solid"/>
          </a:ln>
        </p:spPr>
      </p:sp>
      <p:sp>
        <p:nvSpPr>
          <p:cNvPr id="22" name="Text 20"/>
          <p:cNvSpPr txBox="1"/>
          <p:nvPr/>
        </p:nvSpPr>
        <p:spPr>
          <a:xfrm>
            <a:off x="9723730" y="2194560"/>
            <a:ext cx="1761134" cy="2468880"/>
          </a:xfrm>
          <a:prstGeom prst="rect">
            <a:avLst/>
          </a:prstGeom>
          <a:noFill/>
          <a:ln/>
        </p:spPr>
        <p:txBody>
          <a:bodyPr wrap="square" lIns="0" tIns="0" rIns="0" bIns="0" rtlCol="0" anchor="t"/>
          <a:lstStyle/>
          <a:p>
            <a:pPr indent="0" marL="0">
              <a:buNone/>
            </a:pPr>
            <a:r>
              <a:rPr lang="en-US" sz="1400" b="1" dirty="0">
                <a:solidFill>
                  <a:schemeClr val="tx1"/>
                </a:solidFill>
              </a:rPr>
              <a:t>Not enough valid data</a:t>
            </a:r>
            <a:endParaRPr lang="en-US" sz="1400" dirty="0"/>
          </a:p>
          <a:p>
            <a:pPr indent="0" marL="0">
              <a:buNone/>
            </a:pPr>
            <a:r>
              <a:rPr lang="en-US" sz="600" dirty="0">
                <a:solidFill>
                  <a:schemeClr val="tx1"/>
                </a:solidFill>
              </a:rPr>
              <a:t> </a:t>
            </a:r>
            <a:endParaRPr lang="en-US" sz="1400" dirty="0"/>
          </a:p>
          <a:p>
            <a:pPr indent="0" marL="0">
              <a:buNone/>
            </a:pPr>
            <a:r>
              <a:rPr lang="en-US" sz="1400" dirty="0">
                <a:solidFill>
                  <a:schemeClr val="tx1"/>
                </a:solidFill>
              </a:rPr>
              <a:t>Follow local authorities</a:t>
            </a:r>
            <a:endParaRPr lang="en-US" sz="1400" dirty="0"/>
          </a:p>
          <a:p>
            <a:pPr indent="0" marL="0">
              <a:buNone/>
            </a:pPr>
            <a:r>
              <a:rPr lang="en-US" sz="600" dirty="0">
                <a:solidFill>
                  <a:schemeClr val="tx1"/>
                </a:solidFill>
              </a:rPr>
              <a:t> </a:t>
            </a:r>
            <a:endParaRPr lang="en-US" sz="1400" dirty="0"/>
          </a:p>
          <a:p>
            <a:pPr indent="0" marL="0">
              <a:buNone/>
            </a:pPr>
            <a:r>
              <a:rPr lang="en-US" sz="1400" i="1" dirty="0">
                <a:solidFill>
                  <a:schemeClr val="accent6"/>
                </a:solidFill>
              </a:rPr>
              <a:t>Operators alerted</a:t>
            </a:r>
            <a:endParaRPr lang="en-US" sz="1400" dirty="0"/>
          </a:p>
        </p:txBody>
      </p:sp>
      <p:sp>
        <p:nvSpPr>
          <p:cNvPr id="23" name="Shape 21"/>
          <p:cNvSpPr/>
          <p:nvPr/>
        </p:nvSpPr>
        <p:spPr>
          <a:xfrm>
            <a:off x="548640" y="4937760"/>
            <a:ext cx="11064240" cy="1097280"/>
          </a:xfrm>
          <a:prstGeom prst="roundRect">
            <a:avLst>
              <a:gd name="adj" fmla="val 6667"/>
            </a:avLst>
          </a:prstGeom>
          <a:solidFill>
            <a:schemeClr val="bg2"/>
          </a:solidFill>
          <a:ln w="12700">
            <a:solidFill>
              <a:schemeClr val="bg2"/>
            </a:solidFill>
            <a:prstDash val="solid"/>
          </a:ln>
        </p:spPr>
      </p:sp>
      <p:sp>
        <p:nvSpPr>
          <p:cNvPr id="24" name="Text 22"/>
          <p:cNvSpPr txBox="1"/>
          <p:nvPr/>
        </p:nvSpPr>
        <p:spPr>
          <a:xfrm>
            <a:off x="777240" y="5029200"/>
            <a:ext cx="10607040" cy="914400"/>
          </a:xfrm>
          <a:prstGeom prst="rect">
            <a:avLst/>
          </a:prstGeom>
          <a:noFill/>
          <a:ln/>
        </p:spPr>
        <p:txBody>
          <a:bodyPr wrap="square" lIns="0" tIns="0" rIns="0" bIns="0" rtlCol="0" anchor="ctr"/>
          <a:lstStyle/>
          <a:p>
            <a:pPr indent="0" marL="0">
              <a:buNone/>
            </a:pPr>
            <a:r>
              <a:rPr lang="en-US" sz="1400" b="1" dirty="0">
                <a:solidFill>
                  <a:schemeClr val="tx1"/>
                </a:solidFill>
              </a:rPr>
              <a:t>Flood rules (all thresholds configurable): </a:t>
            </a:r>
            <a:pPr indent="0" marL="0">
              <a:buNone/>
            </a:pPr>
            <a:r>
              <a:rPr lang="en-US" sz="1400" dirty="0">
                <a:solidFill>
                  <a:schemeClr val="tx1"/>
                </a:solidFill>
              </a:rPr>
              <a:t>R1–R3 level vs watch / warning / danger · R4 fast rise +1 level · R5 upstream station lead · R6 24-h rainfall · R7 forecast alone ≤ WATCH · R8 missing data holds level, confidence LOW · R9 final = highest rule · R10 lower only after hold time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Warning lifecycle: human authority built in</a:t>
            </a:r>
            <a:endParaRPr lang="en-US" sz="3200" dirty="0"/>
          </a:p>
        </p:txBody>
      </p:sp>
      <p:sp>
        <p:nvSpPr>
          <p:cNvPr id="3" name="Shape 1"/>
          <p:cNvSpPr/>
          <p:nvPr/>
        </p:nvSpPr>
        <p:spPr>
          <a:xfrm>
            <a:off x="548640" y="1737360"/>
            <a:ext cx="2011680" cy="731520"/>
          </a:xfrm>
          <a:prstGeom prst="roundRect">
            <a:avLst>
              <a:gd name="adj" fmla="val 10000"/>
            </a:avLst>
          </a:prstGeom>
          <a:solidFill>
            <a:schemeClr val="bg2"/>
          </a:solidFill>
          <a:ln w="12700">
            <a:solidFill>
              <a:schemeClr val="bg2"/>
            </a:solidFill>
            <a:prstDash val="solid"/>
          </a:ln>
        </p:spPr>
      </p:sp>
      <p:sp>
        <p:nvSpPr>
          <p:cNvPr id="4" name="Text 2"/>
          <p:cNvSpPr txBox="1"/>
          <p:nvPr/>
        </p:nvSpPr>
        <p:spPr>
          <a:xfrm>
            <a:off x="548640" y="1737360"/>
            <a:ext cx="2011680" cy="731520"/>
          </a:xfrm>
          <a:prstGeom prst="rect">
            <a:avLst/>
          </a:prstGeom>
          <a:noFill/>
          <a:ln/>
        </p:spPr>
        <p:txBody>
          <a:bodyPr wrap="square" lIns="0" tIns="0" rIns="0" bIns="0" rtlCol="0" anchor="ctr"/>
          <a:lstStyle/>
          <a:p>
            <a:pPr algn="ctr" indent="0" marL="0">
              <a:buNone/>
            </a:pPr>
            <a:r>
              <a:rPr lang="en-US" sz="1500" b="1" dirty="0">
                <a:solidFill>
                  <a:schemeClr val="tx2"/>
                </a:solidFill>
              </a:rPr>
              <a:t>Rules or manual draft</a:t>
            </a:r>
            <a:endParaRPr lang="en-US" sz="1500" dirty="0"/>
          </a:p>
        </p:txBody>
      </p:sp>
      <p:sp>
        <p:nvSpPr>
          <p:cNvPr id="5" name="Shape 3"/>
          <p:cNvSpPr/>
          <p:nvPr/>
        </p:nvSpPr>
        <p:spPr>
          <a:xfrm>
            <a:off x="3291840" y="1737360"/>
            <a:ext cx="2011680" cy="731520"/>
          </a:xfrm>
          <a:prstGeom prst="roundRect">
            <a:avLst>
              <a:gd name="adj" fmla="val 10000"/>
            </a:avLst>
          </a:prstGeom>
          <a:solidFill>
            <a:schemeClr val="accent2"/>
          </a:solidFill>
          <a:ln w="12700">
            <a:solidFill>
              <a:schemeClr val="accent2"/>
            </a:solidFill>
            <a:prstDash val="solid"/>
          </a:ln>
        </p:spPr>
      </p:sp>
      <p:sp>
        <p:nvSpPr>
          <p:cNvPr id="6" name="Text 4"/>
          <p:cNvSpPr txBox="1"/>
          <p:nvPr/>
        </p:nvSpPr>
        <p:spPr>
          <a:xfrm>
            <a:off x="3291840" y="1737360"/>
            <a:ext cx="2011680" cy="731520"/>
          </a:xfrm>
          <a:prstGeom prst="rect">
            <a:avLst/>
          </a:prstGeom>
          <a:noFill/>
          <a:ln/>
        </p:spPr>
        <p:txBody>
          <a:bodyPr wrap="square" lIns="0" tIns="0" rIns="0" bIns="0" rtlCol="0" anchor="ctr"/>
          <a:lstStyle/>
          <a:p>
            <a:pPr algn="ctr" indent="0" marL="0">
              <a:buNone/>
            </a:pPr>
            <a:r>
              <a:rPr lang="en-US" sz="1500" b="1" dirty="0">
                <a:solidFill>
                  <a:schemeClr val="tx1"/>
                </a:solidFill>
              </a:rPr>
              <a:t>PROPOSED</a:t>
            </a:r>
            <a:endParaRPr lang="en-US" sz="1500" dirty="0"/>
          </a:p>
        </p:txBody>
      </p:sp>
      <p:sp>
        <p:nvSpPr>
          <p:cNvPr id="7" name="Shape 5"/>
          <p:cNvSpPr/>
          <p:nvPr/>
        </p:nvSpPr>
        <p:spPr>
          <a:xfrm>
            <a:off x="6309360" y="1737360"/>
            <a:ext cx="2011680" cy="731520"/>
          </a:xfrm>
          <a:prstGeom prst="roundRect">
            <a:avLst>
              <a:gd name="adj" fmla="val 10000"/>
            </a:avLst>
          </a:prstGeom>
          <a:solidFill>
            <a:schemeClr val="accent3"/>
          </a:solidFill>
          <a:ln w="12700">
            <a:solidFill>
              <a:schemeClr val="accent3"/>
            </a:solidFill>
            <a:prstDash val="solid"/>
          </a:ln>
        </p:spPr>
      </p:sp>
      <p:sp>
        <p:nvSpPr>
          <p:cNvPr id="8" name="Text 6"/>
          <p:cNvSpPr txBox="1"/>
          <p:nvPr/>
        </p:nvSpPr>
        <p:spPr>
          <a:xfrm>
            <a:off x="6309360" y="1737360"/>
            <a:ext cx="2011680" cy="731520"/>
          </a:xfrm>
          <a:prstGeom prst="rect">
            <a:avLst/>
          </a:prstGeom>
          <a:noFill/>
          <a:ln/>
        </p:spPr>
        <p:txBody>
          <a:bodyPr wrap="square" lIns="0" tIns="0" rIns="0" bIns="0" rtlCol="0" anchor="ctr"/>
          <a:lstStyle/>
          <a:p>
            <a:pPr algn="ctr" indent="0" marL="0">
              <a:buNone/>
            </a:pPr>
            <a:r>
              <a:rPr lang="en-US" sz="1500" b="1" dirty="0">
                <a:solidFill>
                  <a:schemeClr val="bg1"/>
                </a:solidFill>
              </a:rPr>
              <a:t>ACTIVE</a:t>
            </a:r>
            <a:endParaRPr lang="en-US" sz="1500" dirty="0"/>
          </a:p>
        </p:txBody>
      </p:sp>
      <p:sp>
        <p:nvSpPr>
          <p:cNvPr id="9" name="Shape 7"/>
          <p:cNvSpPr/>
          <p:nvPr/>
        </p:nvSpPr>
        <p:spPr>
          <a:xfrm>
            <a:off x="9418320" y="1737360"/>
            <a:ext cx="2194560" cy="731520"/>
          </a:xfrm>
          <a:prstGeom prst="roundRect">
            <a:avLst>
              <a:gd name="adj" fmla="val 10000"/>
            </a:avLst>
          </a:prstGeom>
          <a:solidFill>
            <a:schemeClr val="accent6"/>
          </a:solidFill>
          <a:ln w="12700">
            <a:solidFill>
              <a:schemeClr val="accent6"/>
            </a:solidFill>
            <a:prstDash val="solid"/>
          </a:ln>
        </p:spPr>
      </p:sp>
      <p:sp>
        <p:nvSpPr>
          <p:cNvPr id="10" name="Text 8"/>
          <p:cNvSpPr txBox="1"/>
          <p:nvPr/>
        </p:nvSpPr>
        <p:spPr>
          <a:xfrm>
            <a:off x="9418320" y="1737360"/>
            <a:ext cx="2194560" cy="731520"/>
          </a:xfrm>
          <a:prstGeom prst="rect">
            <a:avLst/>
          </a:prstGeom>
          <a:noFill/>
          <a:ln/>
        </p:spPr>
        <p:txBody>
          <a:bodyPr wrap="square" lIns="0" tIns="0" rIns="0" bIns="0" rtlCol="0" anchor="ctr"/>
          <a:lstStyle/>
          <a:p>
            <a:pPr algn="ctr" indent="0" marL="0">
              <a:buNone/>
            </a:pPr>
            <a:r>
              <a:rPr lang="en-US" sz="1500" b="1" dirty="0">
                <a:solidFill>
                  <a:schemeClr val="bg1"/>
                </a:solidFill>
              </a:rPr>
              <a:t>SUPERSEDED</a:t>
            </a:r>
            <a:endParaRPr lang="en-US" sz="1500" dirty="0"/>
          </a:p>
        </p:txBody>
      </p:sp>
      <p:sp>
        <p:nvSpPr>
          <p:cNvPr id="11" name="Shape 9"/>
          <p:cNvSpPr/>
          <p:nvPr/>
        </p:nvSpPr>
        <p:spPr>
          <a:xfrm>
            <a:off x="3291840" y="3657600"/>
            <a:ext cx="2011680" cy="731520"/>
          </a:xfrm>
          <a:prstGeom prst="roundRect">
            <a:avLst>
              <a:gd name="adj" fmla="val 10000"/>
            </a:avLst>
          </a:prstGeom>
          <a:solidFill>
            <a:schemeClr val="bg2"/>
          </a:solidFill>
          <a:ln w="12700">
            <a:solidFill>
              <a:schemeClr val="bg2"/>
            </a:solidFill>
            <a:prstDash val="solid"/>
          </a:ln>
        </p:spPr>
      </p:sp>
      <p:sp>
        <p:nvSpPr>
          <p:cNvPr id="12" name="Text 10"/>
          <p:cNvSpPr txBox="1"/>
          <p:nvPr/>
        </p:nvSpPr>
        <p:spPr>
          <a:xfrm>
            <a:off x="3291840" y="3657600"/>
            <a:ext cx="2011680" cy="731520"/>
          </a:xfrm>
          <a:prstGeom prst="rect">
            <a:avLst/>
          </a:prstGeom>
          <a:noFill/>
          <a:ln/>
        </p:spPr>
        <p:txBody>
          <a:bodyPr wrap="square" lIns="0" tIns="0" rIns="0" bIns="0" rtlCol="0" anchor="ctr"/>
          <a:lstStyle/>
          <a:p>
            <a:pPr algn="ctr" indent="0" marL="0">
              <a:buNone/>
            </a:pPr>
            <a:r>
              <a:rPr lang="en-US" sz="1500" b="1" dirty="0">
                <a:solidFill>
                  <a:schemeClr val="tx2"/>
                </a:solidFill>
              </a:rPr>
              <a:t>REJECTED</a:t>
            </a:r>
            <a:endParaRPr lang="en-US" sz="1500" dirty="0"/>
          </a:p>
        </p:txBody>
      </p:sp>
      <p:sp>
        <p:nvSpPr>
          <p:cNvPr id="13" name="Shape 11"/>
          <p:cNvSpPr/>
          <p:nvPr/>
        </p:nvSpPr>
        <p:spPr>
          <a:xfrm>
            <a:off x="6309360" y="3657600"/>
            <a:ext cx="2011680" cy="731520"/>
          </a:xfrm>
          <a:prstGeom prst="roundRect">
            <a:avLst>
              <a:gd name="adj" fmla="val 10000"/>
            </a:avLst>
          </a:prstGeom>
          <a:solidFill>
            <a:schemeClr val="bg2"/>
          </a:solidFill>
          <a:ln w="12700">
            <a:solidFill>
              <a:schemeClr val="bg2"/>
            </a:solidFill>
            <a:prstDash val="solid"/>
          </a:ln>
        </p:spPr>
      </p:sp>
      <p:sp>
        <p:nvSpPr>
          <p:cNvPr id="14" name="Text 12"/>
          <p:cNvSpPr txBox="1"/>
          <p:nvPr/>
        </p:nvSpPr>
        <p:spPr>
          <a:xfrm>
            <a:off x="6309360" y="3657600"/>
            <a:ext cx="2011680" cy="731520"/>
          </a:xfrm>
          <a:prstGeom prst="rect">
            <a:avLst/>
          </a:prstGeom>
          <a:noFill/>
          <a:ln/>
        </p:spPr>
        <p:txBody>
          <a:bodyPr wrap="square" lIns="0" tIns="0" rIns="0" bIns="0" rtlCol="0" anchor="ctr"/>
          <a:lstStyle/>
          <a:p>
            <a:pPr algn="ctr" indent="0" marL="0">
              <a:buNone/>
            </a:pPr>
            <a:r>
              <a:rPr lang="en-US" sz="1500" b="1" dirty="0">
                <a:solidFill>
                  <a:schemeClr val="tx2"/>
                </a:solidFill>
              </a:rPr>
              <a:t>CANCELLED</a:t>
            </a:r>
            <a:endParaRPr lang="en-US" sz="1500" dirty="0"/>
          </a:p>
        </p:txBody>
      </p:sp>
      <p:sp>
        <p:nvSpPr>
          <p:cNvPr id="15" name="Shape 13"/>
          <p:cNvSpPr/>
          <p:nvPr/>
        </p:nvSpPr>
        <p:spPr>
          <a:xfrm>
            <a:off x="9418320" y="3657600"/>
            <a:ext cx="2194560" cy="731520"/>
          </a:xfrm>
          <a:prstGeom prst="roundRect">
            <a:avLst>
              <a:gd name="adj" fmla="val 10000"/>
            </a:avLst>
          </a:prstGeom>
          <a:solidFill>
            <a:schemeClr val="bg2"/>
          </a:solidFill>
          <a:ln w="12700">
            <a:solidFill>
              <a:schemeClr val="bg2"/>
            </a:solidFill>
            <a:prstDash val="solid"/>
          </a:ln>
        </p:spPr>
      </p:sp>
      <p:sp>
        <p:nvSpPr>
          <p:cNvPr id="16" name="Text 14"/>
          <p:cNvSpPr txBox="1"/>
          <p:nvPr/>
        </p:nvSpPr>
        <p:spPr>
          <a:xfrm>
            <a:off x="9418320" y="3657600"/>
            <a:ext cx="2194560" cy="731520"/>
          </a:xfrm>
          <a:prstGeom prst="rect">
            <a:avLst/>
          </a:prstGeom>
          <a:noFill/>
          <a:ln/>
        </p:spPr>
        <p:txBody>
          <a:bodyPr wrap="square" lIns="0" tIns="0" rIns="0" bIns="0" rtlCol="0" anchor="ctr"/>
          <a:lstStyle/>
          <a:p>
            <a:pPr algn="ctr" indent="0" marL="0">
              <a:buNone/>
            </a:pPr>
            <a:r>
              <a:rPr lang="en-US" sz="1500" b="1" dirty="0">
                <a:solidFill>
                  <a:schemeClr val="tx2"/>
                </a:solidFill>
              </a:rPr>
              <a:t>EXPIRED</a:t>
            </a:r>
            <a:endParaRPr lang="en-US" sz="1500" dirty="0"/>
          </a:p>
        </p:txBody>
      </p:sp>
      <p:sp>
        <p:nvSpPr>
          <p:cNvPr id="17" name="Shape 15"/>
          <p:cNvSpPr/>
          <p:nvPr/>
        </p:nvSpPr>
        <p:spPr>
          <a:xfrm>
            <a:off x="2560320" y="2103120"/>
            <a:ext cx="731520" cy="0"/>
          </a:xfrm>
          <a:prstGeom prst="line">
            <a:avLst/>
          </a:prstGeom>
          <a:noFill/>
          <a:ln w="22225">
            <a:solidFill>
              <a:schemeClr val="tx2"/>
            </a:solidFill>
            <a:prstDash val="solid"/>
            <a:tailEnd type="triangle"/>
          </a:ln>
        </p:spPr>
      </p:sp>
      <p:sp>
        <p:nvSpPr>
          <p:cNvPr id="18" name="Shape 16"/>
          <p:cNvSpPr/>
          <p:nvPr/>
        </p:nvSpPr>
        <p:spPr>
          <a:xfrm>
            <a:off x="5303520" y="2103120"/>
            <a:ext cx="1005840" cy="0"/>
          </a:xfrm>
          <a:prstGeom prst="line">
            <a:avLst/>
          </a:prstGeom>
          <a:noFill/>
          <a:ln w="22225">
            <a:solidFill>
              <a:schemeClr val="tx2"/>
            </a:solidFill>
            <a:prstDash val="solid"/>
            <a:tailEnd type="triangle"/>
          </a:ln>
        </p:spPr>
      </p:sp>
      <p:sp>
        <p:nvSpPr>
          <p:cNvPr id="19" name="Shape 17"/>
          <p:cNvSpPr/>
          <p:nvPr/>
        </p:nvSpPr>
        <p:spPr>
          <a:xfrm>
            <a:off x="8321040" y="2103120"/>
            <a:ext cx="1097280" cy="0"/>
          </a:xfrm>
          <a:prstGeom prst="line">
            <a:avLst/>
          </a:prstGeom>
          <a:noFill/>
          <a:ln w="22225">
            <a:solidFill>
              <a:schemeClr val="tx2"/>
            </a:solidFill>
            <a:prstDash val="solid"/>
            <a:tailEnd type="triangle"/>
          </a:ln>
        </p:spPr>
      </p:sp>
      <p:sp>
        <p:nvSpPr>
          <p:cNvPr id="20" name="Shape 18"/>
          <p:cNvSpPr/>
          <p:nvPr/>
        </p:nvSpPr>
        <p:spPr>
          <a:xfrm>
            <a:off x="4297680" y="2468880"/>
            <a:ext cx="0" cy="1188720"/>
          </a:xfrm>
          <a:prstGeom prst="line">
            <a:avLst/>
          </a:prstGeom>
          <a:noFill/>
          <a:ln w="22225">
            <a:solidFill>
              <a:schemeClr val="tx2"/>
            </a:solidFill>
            <a:prstDash val="solid"/>
            <a:tailEnd type="triangle"/>
          </a:ln>
        </p:spPr>
      </p:sp>
      <p:sp>
        <p:nvSpPr>
          <p:cNvPr id="21" name="Shape 19"/>
          <p:cNvSpPr/>
          <p:nvPr/>
        </p:nvSpPr>
        <p:spPr>
          <a:xfrm>
            <a:off x="7315200" y="2468880"/>
            <a:ext cx="0" cy="1188720"/>
          </a:xfrm>
          <a:prstGeom prst="line">
            <a:avLst/>
          </a:prstGeom>
          <a:noFill/>
          <a:ln w="22225">
            <a:solidFill>
              <a:schemeClr val="tx2"/>
            </a:solidFill>
            <a:prstDash val="solid"/>
            <a:tailEnd type="triangle"/>
          </a:ln>
        </p:spPr>
      </p:sp>
      <p:sp>
        <p:nvSpPr>
          <p:cNvPr id="22" name="Shape 20"/>
          <p:cNvSpPr/>
          <p:nvPr/>
        </p:nvSpPr>
        <p:spPr>
          <a:xfrm>
            <a:off x="8321040" y="2377440"/>
            <a:ext cx="1097280" cy="1280160"/>
          </a:xfrm>
          <a:prstGeom prst="line">
            <a:avLst/>
          </a:prstGeom>
          <a:noFill/>
          <a:ln w="22225">
            <a:solidFill>
              <a:schemeClr val="tx2"/>
            </a:solidFill>
            <a:prstDash val="solid"/>
            <a:tailEnd type="triangle"/>
          </a:ln>
        </p:spPr>
      </p:sp>
      <p:sp>
        <p:nvSpPr>
          <p:cNvPr id="23" name="Text 21"/>
          <p:cNvSpPr txBox="1"/>
          <p:nvPr/>
        </p:nvSpPr>
        <p:spPr>
          <a:xfrm>
            <a:off x="2377440" y="1325880"/>
            <a:ext cx="1280160" cy="457200"/>
          </a:xfrm>
          <a:prstGeom prst="rect">
            <a:avLst/>
          </a:prstGeom>
          <a:noFill/>
          <a:ln/>
        </p:spPr>
        <p:txBody>
          <a:bodyPr wrap="square" lIns="0" tIns="0" rIns="0" bIns="0" rtlCol="0" anchor="t"/>
          <a:lstStyle/>
          <a:p>
            <a:pPr indent="0" marL="0">
              <a:buNone/>
            </a:pPr>
            <a:r>
              <a:rPr lang="en-US" sz="1200" dirty="0">
                <a:solidFill>
                  <a:schemeClr val="accent6"/>
                </a:solidFill>
              </a:rPr>
              <a:t>level ≥ WATCH</a:t>
            </a:r>
            <a:endParaRPr lang="en-US" sz="1200" dirty="0"/>
          </a:p>
        </p:txBody>
      </p:sp>
      <p:sp>
        <p:nvSpPr>
          <p:cNvPr id="24" name="Text 22"/>
          <p:cNvSpPr txBox="1"/>
          <p:nvPr/>
        </p:nvSpPr>
        <p:spPr>
          <a:xfrm>
            <a:off x="5212080" y="1188720"/>
            <a:ext cx="1463040" cy="457200"/>
          </a:xfrm>
          <a:prstGeom prst="rect">
            <a:avLst/>
          </a:prstGeom>
          <a:noFill/>
          <a:ln/>
        </p:spPr>
        <p:txBody>
          <a:bodyPr wrap="square" lIns="0" tIns="0" rIns="0" bIns="0" rtlCol="0" anchor="t"/>
          <a:lstStyle/>
          <a:p>
            <a:pPr indent="0" marL="0">
              <a:buNone/>
            </a:pPr>
            <a:r>
              <a:rPr lang="en-US" sz="1200" dirty="0">
                <a:solidFill>
                  <a:schemeClr val="accent6"/>
                </a:solidFill>
              </a:rPr>
              <a:t>approve: 1 (WARNING) or 2 distinct (CRITICAL)</a:t>
            </a:r>
            <a:endParaRPr lang="en-US" sz="1200" dirty="0"/>
          </a:p>
        </p:txBody>
      </p:sp>
      <p:sp>
        <p:nvSpPr>
          <p:cNvPr id="25" name="Text 23"/>
          <p:cNvSpPr txBox="1"/>
          <p:nvPr/>
        </p:nvSpPr>
        <p:spPr>
          <a:xfrm>
            <a:off x="8229600" y="1188720"/>
            <a:ext cx="1463040" cy="457200"/>
          </a:xfrm>
          <a:prstGeom prst="rect">
            <a:avLst/>
          </a:prstGeom>
          <a:noFill/>
          <a:ln/>
        </p:spPr>
        <p:txBody>
          <a:bodyPr wrap="square" lIns="0" tIns="0" rIns="0" bIns="0" rtlCol="0" anchor="t"/>
          <a:lstStyle/>
          <a:p>
            <a:pPr indent="0" marL="0">
              <a:buNone/>
            </a:pPr>
            <a:r>
              <a:rPr lang="en-US" sz="1200" dirty="0">
                <a:solidFill>
                  <a:schemeClr val="accent6"/>
                </a:solidFill>
              </a:rPr>
              <a:t>escalate or update = new version</a:t>
            </a:r>
            <a:endParaRPr lang="en-US" sz="1200" dirty="0"/>
          </a:p>
        </p:txBody>
      </p:sp>
      <p:sp>
        <p:nvSpPr>
          <p:cNvPr id="26" name="Text 24"/>
          <p:cNvSpPr txBox="1"/>
          <p:nvPr/>
        </p:nvSpPr>
        <p:spPr>
          <a:xfrm>
            <a:off x="4434840" y="2880360"/>
            <a:ext cx="1371600" cy="457200"/>
          </a:xfrm>
          <a:prstGeom prst="rect">
            <a:avLst/>
          </a:prstGeom>
          <a:noFill/>
          <a:ln/>
        </p:spPr>
        <p:txBody>
          <a:bodyPr wrap="square" lIns="0" tIns="0" rIns="0" bIns="0" rtlCol="0" anchor="t"/>
          <a:lstStyle/>
          <a:p>
            <a:pPr indent="0" marL="0">
              <a:buNone/>
            </a:pPr>
            <a:r>
              <a:rPr lang="en-US" sz="1200" dirty="0">
                <a:solidFill>
                  <a:schemeClr val="accent6"/>
                </a:solidFill>
              </a:rPr>
              <a:t>reject + reason</a:t>
            </a:r>
            <a:endParaRPr lang="en-US" sz="1200" dirty="0"/>
          </a:p>
        </p:txBody>
      </p:sp>
      <p:sp>
        <p:nvSpPr>
          <p:cNvPr id="27" name="Text 25"/>
          <p:cNvSpPr txBox="1"/>
          <p:nvPr/>
        </p:nvSpPr>
        <p:spPr>
          <a:xfrm>
            <a:off x="5669280" y="2743200"/>
            <a:ext cx="1554480" cy="548640"/>
          </a:xfrm>
          <a:prstGeom prst="rect">
            <a:avLst/>
          </a:prstGeom>
          <a:noFill/>
          <a:ln/>
        </p:spPr>
        <p:txBody>
          <a:bodyPr wrap="square" lIns="0" tIns="0" rIns="0" bIns="0" rtlCol="0" anchor="t"/>
          <a:lstStyle/>
          <a:p>
            <a:pPr algn="r" indent="0" marL="0">
              <a:buNone/>
            </a:pPr>
            <a:r>
              <a:rPr lang="en-US" sz="1200" dirty="0">
                <a:solidFill>
                  <a:schemeClr val="accent6"/>
                </a:solidFill>
              </a:rPr>
              <a:t>cancel + reason → all-clear to everyone</a:t>
            </a:r>
            <a:endParaRPr lang="en-US" sz="1200" dirty="0"/>
          </a:p>
        </p:txBody>
      </p:sp>
      <p:sp>
        <p:nvSpPr>
          <p:cNvPr id="28" name="Text 26"/>
          <p:cNvSpPr txBox="1"/>
          <p:nvPr/>
        </p:nvSpPr>
        <p:spPr>
          <a:xfrm>
            <a:off x="9418320" y="2926080"/>
            <a:ext cx="1463040" cy="457200"/>
          </a:xfrm>
          <a:prstGeom prst="rect">
            <a:avLst/>
          </a:prstGeom>
          <a:noFill/>
          <a:ln/>
        </p:spPr>
        <p:txBody>
          <a:bodyPr wrap="square" lIns="0" tIns="0" rIns="0" bIns="0" rtlCol="0" anchor="t"/>
          <a:lstStyle/>
          <a:p>
            <a:pPr indent="0" marL="0">
              <a:buNone/>
            </a:pPr>
            <a:r>
              <a:rPr lang="en-US" sz="1200" dirty="0">
                <a:solidFill>
                  <a:schemeClr val="accent6"/>
                </a:solidFill>
              </a:rPr>
              <a:t>valid-until passed</a:t>
            </a:r>
            <a:endParaRPr lang="en-US" sz="1200" dirty="0"/>
          </a:p>
        </p:txBody>
      </p:sp>
      <p:sp>
        <p:nvSpPr>
          <p:cNvPr id="29" name="Text 27"/>
          <p:cNvSpPr txBox="1"/>
          <p:nvPr/>
        </p:nvSpPr>
        <p:spPr>
          <a:xfrm>
            <a:off x="548640" y="2880360"/>
            <a:ext cx="2651760" cy="1097280"/>
          </a:xfrm>
          <a:prstGeom prst="rect">
            <a:avLst/>
          </a:prstGeom>
          <a:noFill/>
          <a:ln/>
        </p:spPr>
        <p:txBody>
          <a:bodyPr wrap="square" lIns="0" tIns="0" rIns="0" bIns="0" rtlCol="0" anchor="t"/>
          <a:lstStyle/>
          <a:p>
            <a:pPr indent="0" marL="0">
              <a:buNone/>
            </a:pPr>
            <a:r>
              <a:rPr lang="en-US" sz="1200" i="1" dirty="0">
                <a:solidFill>
                  <a:schemeClr val="accent3"/>
                </a:solidFill>
              </a:rPr>
              <a:t>CRITICAL not decided in time → escalate to district; labelled precautionary publication if region policy allows</a:t>
            </a:r>
            <a:endParaRPr lang="en-US" sz="1200" dirty="0"/>
          </a:p>
        </p:txBody>
      </p:sp>
      <p:sp>
        <p:nvSpPr>
          <p:cNvPr id="30" name="Shape 28"/>
          <p:cNvSpPr/>
          <p:nvPr/>
        </p:nvSpPr>
        <p:spPr>
          <a:xfrm>
            <a:off x="548640" y="4663440"/>
            <a:ext cx="11064240" cy="1371600"/>
          </a:xfrm>
          <a:prstGeom prst="roundRect">
            <a:avLst>
              <a:gd name="adj" fmla="val 5333"/>
            </a:avLst>
          </a:prstGeom>
          <a:solidFill>
            <a:schemeClr val="tx2"/>
          </a:solidFill>
          <a:ln w="12700">
            <a:solidFill>
              <a:schemeClr val="tx2"/>
            </a:solidFill>
            <a:prstDash val="solid"/>
          </a:ln>
        </p:spPr>
      </p:sp>
      <p:sp>
        <p:nvSpPr>
          <p:cNvPr id="31" name="Text 29"/>
          <p:cNvSpPr txBox="1"/>
          <p:nvPr/>
        </p:nvSpPr>
        <p:spPr>
          <a:xfrm>
            <a:off x="822960" y="4754880"/>
            <a:ext cx="10515600" cy="1188720"/>
          </a:xfrm>
          <a:prstGeom prst="rect">
            <a:avLst/>
          </a:prstGeom>
          <a:noFill/>
          <a:ln/>
        </p:spPr>
        <p:txBody>
          <a:bodyPr wrap="square" lIns="0" tIns="0" rIns="0" bIns="0" rtlCol="0" anchor="ctr"/>
          <a:lstStyle/>
          <a:p>
            <a:pPr indent="0" marL="0">
              <a:buNone/>
            </a:pPr>
            <a:r>
              <a:rPr lang="en-US" sz="1400" b="1" dirty="0">
                <a:solidFill>
                  <a:schemeClr val="accent2"/>
                </a:solidFill>
              </a:rPr>
              <a:t>Invariants enforced in code and database</a:t>
            </a:r>
            <a:endParaRPr lang="en-US" sz="1400" dirty="0"/>
          </a:p>
          <a:p>
            <a:pPr indent="0" marL="0">
              <a:buNone/>
            </a:pPr>
            <a:r>
              <a:rPr lang="en-US" sz="1400" dirty="0">
                <a:solidFill>
                  <a:schemeClr val="bg1"/>
                </a:solidFill>
              </a:rPr>
              <a:t>INV-1 at most one ACTIVE warning per area and hazard (partial unique index)  ·  INV-2 every transition audited with actor, time, reason  ·  INV-3 cancellation always sends a correction to the same recipients  ·  INV-4 never below an official warning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Data model: 14 core entities (Supabase + PostGIS)</a:t>
            </a:r>
            <a:endParaRPr lang="en-US" sz="3200" dirty="0"/>
          </a:p>
        </p:txBody>
      </p:sp>
      <p:sp>
        <p:nvSpPr>
          <p:cNvPr id="3" name="Shape 1"/>
          <p:cNvSpPr/>
          <p:nvPr/>
        </p:nvSpPr>
        <p:spPr>
          <a:xfrm>
            <a:off x="548640" y="1280160"/>
            <a:ext cx="1426464" cy="1874520"/>
          </a:xfrm>
          <a:prstGeom prst="roundRect">
            <a:avLst>
              <a:gd name="adj" fmla="val 5128"/>
            </a:avLst>
          </a:prstGeom>
          <a:solidFill>
            <a:schemeClr val="bg2"/>
          </a:solidFill>
          <a:ln w="12700">
            <a:solidFill>
              <a:schemeClr val="bg2"/>
            </a:solidFill>
            <a:prstDash val="solid"/>
          </a:ln>
        </p:spPr>
      </p:sp>
      <p:sp>
        <p:nvSpPr>
          <p:cNvPr id="4" name="Text 2"/>
          <p:cNvSpPr txBox="1"/>
          <p:nvPr/>
        </p:nvSpPr>
        <p:spPr>
          <a:xfrm>
            <a:off x="640080" y="1389888"/>
            <a:ext cx="1243584" cy="566928"/>
          </a:xfrm>
          <a:prstGeom prst="rect">
            <a:avLst/>
          </a:prstGeom>
          <a:noFill/>
          <a:ln/>
        </p:spPr>
        <p:txBody>
          <a:bodyPr wrap="square" lIns="0" tIns="0" rIns="0" bIns="0" rtlCol="0" anchor="t"/>
          <a:lstStyle/>
          <a:p>
            <a:pPr indent="0" marL="0">
              <a:buNone/>
            </a:pPr>
            <a:r>
              <a:rPr lang="en-US" sz="1400" b="1" dirty="0">
                <a:solidFill>
                  <a:schemeClr val="tx2"/>
                </a:solidFill>
              </a:rPr>
              <a:t>Region / Area</a:t>
            </a:r>
            <a:endParaRPr lang="en-US" sz="1400" dirty="0"/>
          </a:p>
        </p:txBody>
      </p:sp>
      <p:sp>
        <p:nvSpPr>
          <p:cNvPr id="5" name="Text 3"/>
          <p:cNvSpPr txBox="1"/>
          <p:nvPr/>
        </p:nvSpPr>
        <p:spPr>
          <a:xfrm>
            <a:off x="640080" y="2011680"/>
            <a:ext cx="1243584" cy="1051560"/>
          </a:xfrm>
          <a:prstGeom prst="rect">
            <a:avLst/>
          </a:prstGeom>
          <a:noFill/>
          <a:ln/>
        </p:spPr>
        <p:txBody>
          <a:bodyPr wrap="square" lIns="0" tIns="0" rIns="0" bIns="0" rtlCol="0" anchor="t"/>
          <a:lstStyle/>
          <a:p>
            <a:pPr indent="0" marL="0">
              <a:buNone/>
            </a:pPr>
            <a:r>
              <a:rPr lang="en-US" sz="1300" dirty="0">
                <a:solidFill>
                  <a:schemeClr val="accent6"/>
                </a:solidFill>
              </a:rPr>
              <a:t>names ne/en, hierarchy, polygon, population, vulnerability</a:t>
            </a:r>
            <a:endParaRPr lang="en-US" sz="1300" dirty="0"/>
          </a:p>
        </p:txBody>
      </p:sp>
      <p:sp>
        <p:nvSpPr>
          <p:cNvPr id="6" name="Shape 4"/>
          <p:cNvSpPr/>
          <p:nvPr/>
        </p:nvSpPr>
        <p:spPr>
          <a:xfrm>
            <a:off x="2157984" y="1280160"/>
            <a:ext cx="1426464" cy="1874520"/>
          </a:xfrm>
          <a:prstGeom prst="roundRect">
            <a:avLst>
              <a:gd name="adj" fmla="val 5128"/>
            </a:avLst>
          </a:prstGeom>
          <a:solidFill>
            <a:schemeClr val="bg2"/>
          </a:solidFill>
          <a:ln w="12700">
            <a:solidFill>
              <a:schemeClr val="bg2"/>
            </a:solidFill>
            <a:prstDash val="solid"/>
          </a:ln>
        </p:spPr>
      </p:sp>
      <p:sp>
        <p:nvSpPr>
          <p:cNvPr id="7" name="Text 5"/>
          <p:cNvSpPr txBox="1"/>
          <p:nvPr/>
        </p:nvSpPr>
        <p:spPr>
          <a:xfrm>
            <a:off x="2249424" y="1389888"/>
            <a:ext cx="1243584" cy="566928"/>
          </a:xfrm>
          <a:prstGeom prst="rect">
            <a:avLst/>
          </a:prstGeom>
          <a:noFill/>
          <a:ln/>
        </p:spPr>
        <p:txBody>
          <a:bodyPr wrap="square" lIns="0" tIns="0" rIns="0" bIns="0" rtlCol="0" anchor="t"/>
          <a:lstStyle/>
          <a:p>
            <a:pPr indent="0" marL="0">
              <a:buNone/>
            </a:pPr>
            <a:r>
              <a:rPr lang="en-US" sz="1400" b="1" dirty="0">
                <a:solidFill>
                  <a:schemeClr val="tx2"/>
                </a:solidFill>
              </a:rPr>
              <a:t>Station / Device</a:t>
            </a:r>
            <a:endParaRPr lang="en-US" sz="1400" dirty="0"/>
          </a:p>
        </p:txBody>
      </p:sp>
      <p:sp>
        <p:nvSpPr>
          <p:cNvPr id="8" name="Text 6"/>
          <p:cNvSpPr txBox="1"/>
          <p:nvPr/>
        </p:nvSpPr>
        <p:spPr>
          <a:xfrm>
            <a:off x="2249424" y="2011680"/>
            <a:ext cx="1243584" cy="1051560"/>
          </a:xfrm>
          <a:prstGeom prst="rect">
            <a:avLst/>
          </a:prstGeom>
          <a:noFill/>
          <a:ln/>
        </p:spPr>
        <p:txBody>
          <a:bodyPr wrap="square" lIns="0" tIns="0" rIns="0" bIns="0" rtlCol="0" anchor="t"/>
          <a:lstStyle/>
          <a:p>
            <a:pPr indent="0" marL="0">
              <a:buNone/>
            </a:pPr>
            <a:r>
              <a:rPr lang="en-US" sz="1300" dirty="0">
                <a:solidFill>
                  <a:schemeClr val="accent6"/>
                </a:solidFill>
              </a:rPr>
              <a:t>type, location, heartbeat, battery, firmware</a:t>
            </a:r>
            <a:endParaRPr lang="en-US" sz="1300" dirty="0"/>
          </a:p>
        </p:txBody>
      </p:sp>
      <p:sp>
        <p:nvSpPr>
          <p:cNvPr id="9" name="Shape 7"/>
          <p:cNvSpPr/>
          <p:nvPr/>
        </p:nvSpPr>
        <p:spPr>
          <a:xfrm>
            <a:off x="3767328" y="1280160"/>
            <a:ext cx="1426464" cy="1874520"/>
          </a:xfrm>
          <a:prstGeom prst="roundRect">
            <a:avLst>
              <a:gd name="adj" fmla="val 5128"/>
            </a:avLst>
          </a:prstGeom>
          <a:solidFill>
            <a:schemeClr val="bg2"/>
          </a:solidFill>
          <a:ln w="12700">
            <a:solidFill>
              <a:schemeClr val="bg2"/>
            </a:solidFill>
            <a:prstDash val="solid"/>
          </a:ln>
        </p:spPr>
      </p:sp>
      <p:sp>
        <p:nvSpPr>
          <p:cNvPr id="10" name="Text 8"/>
          <p:cNvSpPr txBox="1"/>
          <p:nvPr/>
        </p:nvSpPr>
        <p:spPr>
          <a:xfrm>
            <a:off x="3858768" y="1389888"/>
            <a:ext cx="1243584" cy="566928"/>
          </a:xfrm>
          <a:prstGeom prst="rect">
            <a:avLst/>
          </a:prstGeom>
          <a:noFill/>
          <a:ln/>
        </p:spPr>
        <p:txBody>
          <a:bodyPr wrap="square" lIns="0" tIns="0" rIns="0" bIns="0" rtlCol="0" anchor="t"/>
          <a:lstStyle/>
          <a:p>
            <a:pPr indent="0" marL="0">
              <a:buNone/>
            </a:pPr>
            <a:r>
              <a:rPr lang="en-US" sz="1400" b="1" dirty="0">
                <a:solidFill>
                  <a:schemeClr val="tx2"/>
                </a:solidFill>
              </a:rPr>
              <a:t>Threshold</a:t>
            </a:r>
            <a:endParaRPr lang="en-US" sz="1400" dirty="0"/>
          </a:p>
        </p:txBody>
      </p:sp>
      <p:sp>
        <p:nvSpPr>
          <p:cNvPr id="11" name="Text 9"/>
          <p:cNvSpPr txBox="1"/>
          <p:nvPr/>
        </p:nvSpPr>
        <p:spPr>
          <a:xfrm>
            <a:off x="3858768" y="2011680"/>
            <a:ext cx="1243584" cy="1051560"/>
          </a:xfrm>
          <a:prstGeom prst="rect">
            <a:avLst/>
          </a:prstGeom>
          <a:noFill/>
          <a:ln/>
        </p:spPr>
        <p:txBody>
          <a:bodyPr wrap="square" lIns="0" tIns="0" rIns="0" bIns="0" rtlCol="0" anchor="t"/>
          <a:lstStyle/>
          <a:p>
            <a:pPr indent="0" marL="0">
              <a:buNone/>
            </a:pPr>
            <a:r>
              <a:rPr lang="en-US" sz="1300" dirty="0">
                <a:solidFill>
                  <a:schemeClr val="accent6"/>
                </a:solidFill>
              </a:rPr>
              <a:t>watch / warning / danger, rise rate, version, approver</a:t>
            </a:r>
            <a:endParaRPr lang="en-US" sz="1300" dirty="0"/>
          </a:p>
        </p:txBody>
      </p:sp>
      <p:sp>
        <p:nvSpPr>
          <p:cNvPr id="12" name="Shape 10"/>
          <p:cNvSpPr/>
          <p:nvPr/>
        </p:nvSpPr>
        <p:spPr>
          <a:xfrm>
            <a:off x="5376672" y="1280160"/>
            <a:ext cx="1426464" cy="1874520"/>
          </a:xfrm>
          <a:prstGeom prst="roundRect">
            <a:avLst>
              <a:gd name="adj" fmla="val 5128"/>
            </a:avLst>
          </a:prstGeom>
          <a:solidFill>
            <a:schemeClr val="bg2"/>
          </a:solidFill>
          <a:ln w="12700">
            <a:solidFill>
              <a:schemeClr val="bg2"/>
            </a:solidFill>
            <a:prstDash val="solid"/>
          </a:ln>
        </p:spPr>
      </p:sp>
      <p:sp>
        <p:nvSpPr>
          <p:cNvPr id="13" name="Text 11"/>
          <p:cNvSpPr txBox="1"/>
          <p:nvPr/>
        </p:nvSpPr>
        <p:spPr>
          <a:xfrm>
            <a:off x="5468112" y="1389888"/>
            <a:ext cx="1243584" cy="566928"/>
          </a:xfrm>
          <a:prstGeom prst="rect">
            <a:avLst/>
          </a:prstGeom>
          <a:noFill/>
          <a:ln/>
        </p:spPr>
        <p:txBody>
          <a:bodyPr wrap="square" lIns="0" tIns="0" rIns="0" bIns="0" rtlCol="0" anchor="t"/>
          <a:lstStyle/>
          <a:p>
            <a:pPr indent="0" marL="0">
              <a:buNone/>
            </a:pPr>
            <a:r>
              <a:rPr lang="en-US" sz="1400" b="1" dirty="0">
                <a:solidFill>
                  <a:schemeClr val="tx2"/>
                </a:solidFill>
              </a:rPr>
              <a:t>Observation</a:t>
            </a:r>
            <a:endParaRPr lang="en-US" sz="1400" dirty="0"/>
          </a:p>
        </p:txBody>
      </p:sp>
      <p:sp>
        <p:nvSpPr>
          <p:cNvPr id="14" name="Text 12"/>
          <p:cNvSpPr txBox="1"/>
          <p:nvPr/>
        </p:nvSpPr>
        <p:spPr>
          <a:xfrm>
            <a:off x="5468112" y="2011680"/>
            <a:ext cx="1243584" cy="1051560"/>
          </a:xfrm>
          <a:prstGeom prst="rect">
            <a:avLst/>
          </a:prstGeom>
          <a:noFill/>
          <a:ln/>
        </p:spPr>
        <p:txBody>
          <a:bodyPr wrap="square" lIns="0" tIns="0" rIns="0" bIns="0" rtlCol="0" anchor="t"/>
          <a:lstStyle/>
          <a:p>
            <a:pPr indent="0" marL="0">
              <a:buNone/>
            </a:pPr>
            <a:r>
              <a:rPr lang="en-US" sz="1300" dirty="0">
                <a:solidFill>
                  <a:schemeClr val="accent6"/>
                </a:solidFill>
              </a:rPr>
              <a:t>value, unit, observed / received time, quality, raw</a:t>
            </a:r>
            <a:endParaRPr lang="en-US" sz="1300" dirty="0"/>
          </a:p>
        </p:txBody>
      </p:sp>
      <p:sp>
        <p:nvSpPr>
          <p:cNvPr id="15" name="Shape 13"/>
          <p:cNvSpPr/>
          <p:nvPr/>
        </p:nvSpPr>
        <p:spPr>
          <a:xfrm>
            <a:off x="6986016" y="1280160"/>
            <a:ext cx="1426464" cy="1874520"/>
          </a:xfrm>
          <a:prstGeom prst="roundRect">
            <a:avLst>
              <a:gd name="adj" fmla="val 5128"/>
            </a:avLst>
          </a:prstGeom>
          <a:solidFill>
            <a:schemeClr val="bg2"/>
          </a:solidFill>
          <a:ln w="12700">
            <a:solidFill>
              <a:schemeClr val="bg2"/>
            </a:solidFill>
            <a:prstDash val="solid"/>
          </a:ln>
        </p:spPr>
      </p:sp>
      <p:sp>
        <p:nvSpPr>
          <p:cNvPr id="16" name="Text 14"/>
          <p:cNvSpPr txBox="1"/>
          <p:nvPr/>
        </p:nvSpPr>
        <p:spPr>
          <a:xfrm>
            <a:off x="7077456" y="1389888"/>
            <a:ext cx="1243584" cy="566928"/>
          </a:xfrm>
          <a:prstGeom prst="rect">
            <a:avLst/>
          </a:prstGeom>
          <a:noFill/>
          <a:ln/>
        </p:spPr>
        <p:txBody>
          <a:bodyPr wrap="square" lIns="0" tIns="0" rIns="0" bIns="0" rtlCol="0" anchor="t"/>
          <a:lstStyle/>
          <a:p>
            <a:pPr indent="0" marL="0">
              <a:buNone/>
            </a:pPr>
            <a:r>
              <a:rPr lang="en-US" sz="1400" b="1" dirty="0">
                <a:solidFill>
                  <a:schemeClr val="tx2"/>
                </a:solidFill>
              </a:rPr>
              <a:t>Quality event</a:t>
            </a:r>
            <a:endParaRPr lang="en-US" sz="1400" dirty="0"/>
          </a:p>
        </p:txBody>
      </p:sp>
      <p:sp>
        <p:nvSpPr>
          <p:cNvPr id="17" name="Text 15"/>
          <p:cNvSpPr txBox="1"/>
          <p:nvPr/>
        </p:nvSpPr>
        <p:spPr>
          <a:xfrm>
            <a:off x="7077456" y="2011680"/>
            <a:ext cx="1243584" cy="1051560"/>
          </a:xfrm>
          <a:prstGeom prst="rect">
            <a:avLst/>
          </a:prstGeom>
          <a:noFill/>
          <a:ln/>
        </p:spPr>
        <p:txBody>
          <a:bodyPr wrap="square" lIns="0" tIns="0" rIns="0" bIns="0" rtlCol="0" anchor="t"/>
          <a:lstStyle/>
          <a:p>
            <a:pPr indent="0" marL="0">
              <a:buNone/>
            </a:pPr>
            <a:r>
              <a:rPr lang="en-US" sz="1300" dirty="0">
                <a:solidFill>
                  <a:schemeClr val="accent6"/>
                </a:solidFill>
              </a:rPr>
              <a:t>missing, stale, spike, flatline, conflict</a:t>
            </a:r>
            <a:endParaRPr lang="en-US" sz="1300" dirty="0"/>
          </a:p>
        </p:txBody>
      </p:sp>
      <p:sp>
        <p:nvSpPr>
          <p:cNvPr id="18" name="Shape 16"/>
          <p:cNvSpPr/>
          <p:nvPr/>
        </p:nvSpPr>
        <p:spPr>
          <a:xfrm>
            <a:off x="8595360" y="1280160"/>
            <a:ext cx="1426464" cy="1874520"/>
          </a:xfrm>
          <a:prstGeom prst="roundRect">
            <a:avLst>
              <a:gd name="adj" fmla="val 5128"/>
            </a:avLst>
          </a:prstGeom>
          <a:solidFill>
            <a:schemeClr val="bg2"/>
          </a:solidFill>
          <a:ln w="12700">
            <a:solidFill>
              <a:schemeClr val="bg2"/>
            </a:solidFill>
            <a:prstDash val="solid"/>
          </a:ln>
        </p:spPr>
      </p:sp>
      <p:sp>
        <p:nvSpPr>
          <p:cNvPr id="19" name="Text 17"/>
          <p:cNvSpPr txBox="1"/>
          <p:nvPr/>
        </p:nvSpPr>
        <p:spPr>
          <a:xfrm>
            <a:off x="8686800" y="1389888"/>
            <a:ext cx="1243584" cy="566928"/>
          </a:xfrm>
          <a:prstGeom prst="rect">
            <a:avLst/>
          </a:prstGeom>
          <a:noFill/>
          <a:ln/>
        </p:spPr>
        <p:txBody>
          <a:bodyPr wrap="square" lIns="0" tIns="0" rIns="0" bIns="0" rtlCol="0" anchor="t"/>
          <a:lstStyle/>
          <a:p>
            <a:pPr indent="0" marL="0">
              <a:buNone/>
            </a:pPr>
            <a:r>
              <a:rPr lang="en-US" sz="1400" b="1" dirty="0">
                <a:solidFill>
                  <a:schemeClr val="tx2"/>
                </a:solidFill>
              </a:rPr>
              <a:t>Risk assessment</a:t>
            </a:r>
            <a:endParaRPr lang="en-US" sz="1400" dirty="0"/>
          </a:p>
        </p:txBody>
      </p:sp>
      <p:sp>
        <p:nvSpPr>
          <p:cNvPr id="20" name="Text 18"/>
          <p:cNvSpPr txBox="1"/>
          <p:nvPr/>
        </p:nvSpPr>
        <p:spPr>
          <a:xfrm>
            <a:off x="8686800" y="2011680"/>
            <a:ext cx="1243584" cy="1051560"/>
          </a:xfrm>
          <a:prstGeom prst="rect">
            <a:avLst/>
          </a:prstGeom>
          <a:noFill/>
          <a:ln/>
        </p:spPr>
        <p:txBody>
          <a:bodyPr wrap="square" lIns="0" tIns="0" rIns="0" bIns="0" rtlCol="0" anchor="t"/>
          <a:lstStyle/>
          <a:p>
            <a:pPr indent="0" marL="0">
              <a:buNone/>
            </a:pPr>
            <a:r>
              <a:rPr lang="en-US" sz="1300" dirty="0">
                <a:solidFill>
                  <a:schemeClr val="accent6"/>
                </a:solidFill>
              </a:rPr>
              <a:t>level, confidence, reasons, inputs, valid until</a:t>
            </a:r>
            <a:endParaRPr lang="en-US" sz="1300" dirty="0"/>
          </a:p>
        </p:txBody>
      </p:sp>
      <p:sp>
        <p:nvSpPr>
          <p:cNvPr id="21" name="Shape 19"/>
          <p:cNvSpPr/>
          <p:nvPr/>
        </p:nvSpPr>
        <p:spPr>
          <a:xfrm>
            <a:off x="10204704" y="1280160"/>
            <a:ext cx="1426464" cy="1874520"/>
          </a:xfrm>
          <a:prstGeom prst="roundRect">
            <a:avLst>
              <a:gd name="adj" fmla="val 5128"/>
            </a:avLst>
          </a:prstGeom>
          <a:solidFill>
            <a:schemeClr val="bg2"/>
          </a:solidFill>
          <a:ln w="12700">
            <a:solidFill>
              <a:schemeClr val="bg2"/>
            </a:solidFill>
            <a:prstDash val="solid"/>
          </a:ln>
        </p:spPr>
      </p:sp>
      <p:sp>
        <p:nvSpPr>
          <p:cNvPr id="22" name="Text 20"/>
          <p:cNvSpPr txBox="1"/>
          <p:nvPr/>
        </p:nvSpPr>
        <p:spPr>
          <a:xfrm>
            <a:off x="10296144" y="1389888"/>
            <a:ext cx="1243584" cy="566928"/>
          </a:xfrm>
          <a:prstGeom prst="rect">
            <a:avLst/>
          </a:prstGeom>
          <a:noFill/>
          <a:ln/>
        </p:spPr>
        <p:txBody>
          <a:bodyPr wrap="square" lIns="0" tIns="0" rIns="0" bIns="0" rtlCol="0" anchor="t"/>
          <a:lstStyle/>
          <a:p>
            <a:pPr indent="0" marL="0">
              <a:buNone/>
            </a:pPr>
            <a:r>
              <a:rPr lang="en-US" sz="1400" b="1" dirty="0">
                <a:solidFill>
                  <a:schemeClr val="tx2"/>
                </a:solidFill>
              </a:rPr>
              <a:t>Warning</a:t>
            </a:r>
            <a:endParaRPr lang="en-US" sz="1400" dirty="0"/>
          </a:p>
        </p:txBody>
      </p:sp>
      <p:sp>
        <p:nvSpPr>
          <p:cNvPr id="23" name="Text 21"/>
          <p:cNvSpPr txBox="1"/>
          <p:nvPr/>
        </p:nvSpPr>
        <p:spPr>
          <a:xfrm>
            <a:off x="10296144" y="2011680"/>
            <a:ext cx="1243584" cy="1051560"/>
          </a:xfrm>
          <a:prstGeom prst="rect">
            <a:avLst/>
          </a:prstGeom>
          <a:noFill/>
          <a:ln/>
        </p:spPr>
        <p:txBody>
          <a:bodyPr wrap="square" lIns="0" tIns="0" rIns="0" bIns="0" rtlCol="0" anchor="t"/>
          <a:lstStyle/>
          <a:p>
            <a:pPr indent="0" marL="0">
              <a:buNone/>
            </a:pPr>
            <a:r>
              <a:rPr lang="en-US" sz="1300" dirty="0">
                <a:solidFill>
                  <a:schemeClr val="accent6"/>
                </a:solidFill>
              </a:rPr>
              <a:t>version, areas, level, status, approvers, messages</a:t>
            </a:r>
            <a:endParaRPr lang="en-US" sz="1300" dirty="0"/>
          </a:p>
        </p:txBody>
      </p:sp>
      <p:sp>
        <p:nvSpPr>
          <p:cNvPr id="24" name="Shape 22"/>
          <p:cNvSpPr/>
          <p:nvPr/>
        </p:nvSpPr>
        <p:spPr>
          <a:xfrm>
            <a:off x="548640" y="3337560"/>
            <a:ext cx="1426464" cy="1874520"/>
          </a:xfrm>
          <a:prstGeom prst="roundRect">
            <a:avLst>
              <a:gd name="adj" fmla="val 5128"/>
            </a:avLst>
          </a:prstGeom>
          <a:solidFill>
            <a:schemeClr val="bg2"/>
          </a:solidFill>
          <a:ln w="12700">
            <a:solidFill>
              <a:schemeClr val="bg2"/>
            </a:solidFill>
            <a:prstDash val="solid"/>
          </a:ln>
        </p:spPr>
      </p:sp>
      <p:sp>
        <p:nvSpPr>
          <p:cNvPr id="25" name="Text 23"/>
          <p:cNvSpPr txBox="1"/>
          <p:nvPr/>
        </p:nvSpPr>
        <p:spPr>
          <a:xfrm>
            <a:off x="640080" y="3447288"/>
            <a:ext cx="1243584" cy="566928"/>
          </a:xfrm>
          <a:prstGeom prst="rect">
            <a:avLst/>
          </a:prstGeom>
          <a:noFill/>
          <a:ln/>
        </p:spPr>
        <p:txBody>
          <a:bodyPr wrap="square" lIns="0" tIns="0" rIns="0" bIns="0" rtlCol="0" anchor="t"/>
          <a:lstStyle/>
          <a:p>
            <a:pPr indent="0" marL="0">
              <a:buNone/>
            </a:pPr>
            <a:r>
              <a:rPr lang="en-US" sz="1400" b="1" dirty="0">
                <a:solidFill>
                  <a:schemeClr val="tx2"/>
                </a:solidFill>
              </a:rPr>
              <a:t>Subscription</a:t>
            </a:r>
            <a:endParaRPr lang="en-US" sz="1400" dirty="0"/>
          </a:p>
        </p:txBody>
      </p:sp>
      <p:sp>
        <p:nvSpPr>
          <p:cNvPr id="26" name="Text 24"/>
          <p:cNvSpPr txBox="1"/>
          <p:nvPr/>
        </p:nvSpPr>
        <p:spPr>
          <a:xfrm>
            <a:off x="640080" y="4069080"/>
            <a:ext cx="1243584" cy="1051560"/>
          </a:xfrm>
          <a:prstGeom prst="rect">
            <a:avLst/>
          </a:prstGeom>
          <a:noFill/>
          <a:ln/>
        </p:spPr>
        <p:txBody>
          <a:bodyPr wrap="square" lIns="0" tIns="0" rIns="0" bIns="0" rtlCol="0" anchor="t"/>
          <a:lstStyle/>
          <a:p>
            <a:pPr indent="0" marL="0">
              <a:buNone/>
            </a:pPr>
            <a:r>
              <a:rPr lang="en-US" sz="1300" dirty="0">
                <a:solidFill>
                  <a:schemeClr val="accent6"/>
                </a:solidFill>
              </a:rPr>
              <a:t>areas, language, channels, consent, expiry</a:t>
            </a:r>
            <a:endParaRPr lang="en-US" sz="1300" dirty="0"/>
          </a:p>
        </p:txBody>
      </p:sp>
      <p:sp>
        <p:nvSpPr>
          <p:cNvPr id="27" name="Shape 25"/>
          <p:cNvSpPr/>
          <p:nvPr/>
        </p:nvSpPr>
        <p:spPr>
          <a:xfrm>
            <a:off x="2157984" y="3337560"/>
            <a:ext cx="1426464" cy="1874520"/>
          </a:xfrm>
          <a:prstGeom prst="roundRect">
            <a:avLst>
              <a:gd name="adj" fmla="val 5128"/>
            </a:avLst>
          </a:prstGeom>
          <a:solidFill>
            <a:schemeClr val="bg2"/>
          </a:solidFill>
          <a:ln w="12700">
            <a:solidFill>
              <a:schemeClr val="bg2"/>
            </a:solidFill>
            <a:prstDash val="solid"/>
          </a:ln>
        </p:spPr>
      </p:sp>
      <p:sp>
        <p:nvSpPr>
          <p:cNvPr id="28" name="Text 26"/>
          <p:cNvSpPr txBox="1"/>
          <p:nvPr/>
        </p:nvSpPr>
        <p:spPr>
          <a:xfrm>
            <a:off x="2249424" y="3447288"/>
            <a:ext cx="1243584" cy="566928"/>
          </a:xfrm>
          <a:prstGeom prst="rect">
            <a:avLst/>
          </a:prstGeom>
          <a:noFill/>
          <a:ln/>
        </p:spPr>
        <p:txBody>
          <a:bodyPr wrap="square" lIns="0" tIns="0" rIns="0" bIns="0" rtlCol="0" anchor="t"/>
          <a:lstStyle/>
          <a:p>
            <a:pPr indent="0" marL="0">
              <a:buNone/>
            </a:pPr>
            <a:r>
              <a:rPr lang="en-US" sz="1400" b="1" dirty="0">
                <a:solidFill>
                  <a:schemeClr val="tx2"/>
                </a:solidFill>
              </a:rPr>
              <a:t>Delivery</a:t>
            </a:r>
            <a:endParaRPr lang="en-US" sz="1400" dirty="0"/>
          </a:p>
        </p:txBody>
      </p:sp>
      <p:sp>
        <p:nvSpPr>
          <p:cNvPr id="29" name="Text 27"/>
          <p:cNvSpPr txBox="1"/>
          <p:nvPr/>
        </p:nvSpPr>
        <p:spPr>
          <a:xfrm>
            <a:off x="2249424" y="4069080"/>
            <a:ext cx="1243584" cy="1051560"/>
          </a:xfrm>
          <a:prstGeom prst="rect">
            <a:avLst/>
          </a:prstGeom>
          <a:noFill/>
          <a:ln/>
        </p:spPr>
        <p:txBody>
          <a:bodyPr wrap="square" lIns="0" tIns="0" rIns="0" bIns="0" rtlCol="0" anchor="t"/>
          <a:lstStyle/>
          <a:p>
            <a:pPr indent="0" marL="0">
              <a:buNone/>
            </a:pPr>
            <a:r>
              <a:rPr lang="en-US" sz="1300" dirty="0">
                <a:solidFill>
                  <a:schemeClr val="accent6"/>
                </a:solidFill>
              </a:rPr>
              <a:t>channel, status, attempts, error, ack</a:t>
            </a:r>
            <a:endParaRPr lang="en-US" sz="1300" dirty="0"/>
          </a:p>
        </p:txBody>
      </p:sp>
      <p:sp>
        <p:nvSpPr>
          <p:cNvPr id="30" name="Shape 28"/>
          <p:cNvSpPr/>
          <p:nvPr/>
        </p:nvSpPr>
        <p:spPr>
          <a:xfrm>
            <a:off x="3767328" y="3337560"/>
            <a:ext cx="1426464" cy="1874520"/>
          </a:xfrm>
          <a:prstGeom prst="roundRect">
            <a:avLst>
              <a:gd name="adj" fmla="val 5128"/>
            </a:avLst>
          </a:prstGeom>
          <a:solidFill>
            <a:schemeClr val="bg2"/>
          </a:solidFill>
          <a:ln w="12700">
            <a:solidFill>
              <a:schemeClr val="bg2"/>
            </a:solidFill>
            <a:prstDash val="solid"/>
          </a:ln>
        </p:spPr>
      </p:sp>
      <p:sp>
        <p:nvSpPr>
          <p:cNvPr id="31" name="Text 29"/>
          <p:cNvSpPr txBox="1"/>
          <p:nvPr/>
        </p:nvSpPr>
        <p:spPr>
          <a:xfrm>
            <a:off x="3858768" y="3447288"/>
            <a:ext cx="1243584" cy="566928"/>
          </a:xfrm>
          <a:prstGeom prst="rect">
            <a:avLst/>
          </a:prstGeom>
          <a:noFill/>
          <a:ln/>
        </p:spPr>
        <p:txBody>
          <a:bodyPr wrap="square" lIns="0" tIns="0" rIns="0" bIns="0" rtlCol="0" anchor="t"/>
          <a:lstStyle/>
          <a:p>
            <a:pPr indent="0" marL="0">
              <a:buNone/>
            </a:pPr>
            <a:r>
              <a:rPr lang="en-US" sz="1400" b="1" dirty="0">
                <a:solidFill>
                  <a:schemeClr val="tx2"/>
                </a:solidFill>
              </a:rPr>
              <a:t>Shelter</a:t>
            </a:r>
            <a:endParaRPr lang="en-US" sz="1400" dirty="0"/>
          </a:p>
        </p:txBody>
      </p:sp>
      <p:sp>
        <p:nvSpPr>
          <p:cNvPr id="32" name="Text 30"/>
          <p:cNvSpPr txBox="1"/>
          <p:nvPr/>
        </p:nvSpPr>
        <p:spPr>
          <a:xfrm>
            <a:off x="3858768" y="4069080"/>
            <a:ext cx="1243584" cy="1051560"/>
          </a:xfrm>
          <a:prstGeom prst="rect">
            <a:avLst/>
          </a:prstGeom>
          <a:noFill/>
          <a:ln/>
        </p:spPr>
        <p:txBody>
          <a:bodyPr wrap="square" lIns="0" tIns="0" rIns="0" bIns="0" rtlCol="0" anchor="t"/>
          <a:lstStyle/>
          <a:p>
            <a:pPr indent="0" marL="0">
              <a:buNone/>
            </a:pPr>
            <a:r>
              <a:rPr lang="en-US" sz="1300" dirty="0">
                <a:solidFill>
                  <a:schemeClr val="accent6"/>
                </a:solidFill>
              </a:rPr>
              <a:t>capacity, occupancy, status, accessible, livestock</a:t>
            </a:r>
            <a:endParaRPr lang="en-US" sz="1300" dirty="0"/>
          </a:p>
        </p:txBody>
      </p:sp>
      <p:sp>
        <p:nvSpPr>
          <p:cNvPr id="33" name="Shape 31"/>
          <p:cNvSpPr/>
          <p:nvPr/>
        </p:nvSpPr>
        <p:spPr>
          <a:xfrm>
            <a:off x="5376672" y="3337560"/>
            <a:ext cx="1426464" cy="1874520"/>
          </a:xfrm>
          <a:prstGeom prst="roundRect">
            <a:avLst>
              <a:gd name="adj" fmla="val 5128"/>
            </a:avLst>
          </a:prstGeom>
          <a:solidFill>
            <a:schemeClr val="bg2"/>
          </a:solidFill>
          <a:ln w="12700">
            <a:solidFill>
              <a:schemeClr val="bg2"/>
            </a:solidFill>
            <a:prstDash val="solid"/>
          </a:ln>
        </p:spPr>
      </p:sp>
      <p:sp>
        <p:nvSpPr>
          <p:cNvPr id="34" name="Text 32"/>
          <p:cNvSpPr txBox="1"/>
          <p:nvPr/>
        </p:nvSpPr>
        <p:spPr>
          <a:xfrm>
            <a:off x="5468112" y="3447288"/>
            <a:ext cx="1243584" cy="566928"/>
          </a:xfrm>
          <a:prstGeom prst="rect">
            <a:avLst/>
          </a:prstGeom>
          <a:noFill/>
          <a:ln/>
        </p:spPr>
        <p:txBody>
          <a:bodyPr wrap="square" lIns="0" tIns="0" rIns="0" bIns="0" rtlCol="0" anchor="t"/>
          <a:lstStyle/>
          <a:p>
            <a:pPr indent="0" marL="0">
              <a:buNone/>
            </a:pPr>
            <a:r>
              <a:rPr lang="en-US" sz="1400" b="1" dirty="0">
                <a:solidFill>
                  <a:schemeClr val="tx2"/>
                </a:solidFill>
              </a:rPr>
              <a:t>Closure / Hazard zone</a:t>
            </a:r>
            <a:endParaRPr lang="en-US" sz="1400" dirty="0"/>
          </a:p>
        </p:txBody>
      </p:sp>
      <p:sp>
        <p:nvSpPr>
          <p:cNvPr id="35" name="Text 33"/>
          <p:cNvSpPr txBox="1"/>
          <p:nvPr/>
        </p:nvSpPr>
        <p:spPr>
          <a:xfrm>
            <a:off x="5468112" y="4069080"/>
            <a:ext cx="1243584" cy="1051560"/>
          </a:xfrm>
          <a:prstGeom prst="rect">
            <a:avLst/>
          </a:prstGeom>
          <a:noFill/>
          <a:ln/>
        </p:spPr>
        <p:txBody>
          <a:bodyPr wrap="square" lIns="0" tIns="0" rIns="0" bIns="0" rtlCol="0" anchor="t"/>
          <a:lstStyle/>
          <a:p>
            <a:pPr indent="0" marL="0">
              <a:buNone/>
            </a:pPr>
            <a:r>
              <a:rPr lang="en-US" sz="1300" dirty="0">
                <a:solidFill>
                  <a:schemeClr val="accent6"/>
                </a:solidFill>
              </a:rPr>
              <a:t>line or polygon, reason, source, validity</a:t>
            </a:r>
            <a:endParaRPr lang="en-US" sz="1300" dirty="0"/>
          </a:p>
        </p:txBody>
      </p:sp>
      <p:sp>
        <p:nvSpPr>
          <p:cNvPr id="36" name="Shape 34"/>
          <p:cNvSpPr/>
          <p:nvPr/>
        </p:nvSpPr>
        <p:spPr>
          <a:xfrm>
            <a:off x="6986016" y="3337560"/>
            <a:ext cx="1426464" cy="1874520"/>
          </a:xfrm>
          <a:prstGeom prst="roundRect">
            <a:avLst>
              <a:gd name="adj" fmla="val 5128"/>
            </a:avLst>
          </a:prstGeom>
          <a:solidFill>
            <a:schemeClr val="bg2"/>
          </a:solidFill>
          <a:ln w="12700">
            <a:solidFill>
              <a:schemeClr val="bg2"/>
            </a:solidFill>
            <a:prstDash val="solid"/>
          </a:ln>
        </p:spPr>
      </p:sp>
      <p:sp>
        <p:nvSpPr>
          <p:cNvPr id="37" name="Text 35"/>
          <p:cNvSpPr txBox="1"/>
          <p:nvPr/>
        </p:nvSpPr>
        <p:spPr>
          <a:xfrm>
            <a:off x="7077456" y="3447288"/>
            <a:ext cx="1243584" cy="566928"/>
          </a:xfrm>
          <a:prstGeom prst="rect">
            <a:avLst/>
          </a:prstGeom>
          <a:noFill/>
          <a:ln/>
        </p:spPr>
        <p:txBody>
          <a:bodyPr wrap="square" lIns="0" tIns="0" rIns="0" bIns="0" rtlCol="0" anchor="t"/>
          <a:lstStyle/>
          <a:p>
            <a:pPr indent="0" marL="0">
              <a:buNone/>
            </a:pPr>
            <a:r>
              <a:rPr lang="en-US" sz="1400" b="1" dirty="0">
                <a:solidFill>
                  <a:schemeClr val="tx2"/>
                </a:solidFill>
              </a:rPr>
              <a:t>Report / Incident</a:t>
            </a:r>
            <a:endParaRPr lang="en-US" sz="1400" dirty="0"/>
          </a:p>
        </p:txBody>
      </p:sp>
      <p:sp>
        <p:nvSpPr>
          <p:cNvPr id="38" name="Text 36"/>
          <p:cNvSpPr txBox="1"/>
          <p:nvPr/>
        </p:nvSpPr>
        <p:spPr>
          <a:xfrm>
            <a:off x="7077456" y="4069080"/>
            <a:ext cx="1243584" cy="1051560"/>
          </a:xfrm>
          <a:prstGeom prst="rect">
            <a:avLst/>
          </a:prstGeom>
          <a:noFill/>
          <a:ln/>
        </p:spPr>
        <p:txBody>
          <a:bodyPr wrap="square" lIns="0" tIns="0" rIns="0" bIns="0" rtlCol="0" anchor="t"/>
          <a:lstStyle/>
          <a:p>
            <a:pPr indent="0" marL="0">
              <a:buNone/>
            </a:pPr>
            <a:r>
              <a:rPr lang="en-US" sz="1300" dirty="0">
                <a:solidFill>
                  <a:schemeClr val="accent6"/>
                </a:solidFill>
              </a:rPr>
              <a:t>category, location, depth, photo, status</a:t>
            </a:r>
            <a:endParaRPr lang="en-US" sz="1300" dirty="0"/>
          </a:p>
        </p:txBody>
      </p:sp>
      <p:sp>
        <p:nvSpPr>
          <p:cNvPr id="39" name="Shape 37"/>
          <p:cNvSpPr/>
          <p:nvPr/>
        </p:nvSpPr>
        <p:spPr>
          <a:xfrm>
            <a:off x="8595360" y="3337560"/>
            <a:ext cx="1426464" cy="1874520"/>
          </a:xfrm>
          <a:prstGeom prst="roundRect">
            <a:avLst>
              <a:gd name="adj" fmla="val 5128"/>
            </a:avLst>
          </a:prstGeom>
          <a:solidFill>
            <a:schemeClr val="bg2"/>
          </a:solidFill>
          <a:ln w="12700">
            <a:solidFill>
              <a:schemeClr val="bg2"/>
            </a:solidFill>
            <a:prstDash val="solid"/>
          </a:ln>
        </p:spPr>
      </p:sp>
      <p:sp>
        <p:nvSpPr>
          <p:cNvPr id="40" name="Text 38"/>
          <p:cNvSpPr txBox="1"/>
          <p:nvPr/>
        </p:nvSpPr>
        <p:spPr>
          <a:xfrm>
            <a:off x="8686800" y="3447288"/>
            <a:ext cx="1243584" cy="566928"/>
          </a:xfrm>
          <a:prstGeom prst="rect">
            <a:avLst/>
          </a:prstGeom>
          <a:noFill/>
          <a:ln/>
        </p:spPr>
        <p:txBody>
          <a:bodyPr wrap="square" lIns="0" tIns="0" rIns="0" bIns="0" rtlCol="0" anchor="t"/>
          <a:lstStyle/>
          <a:p>
            <a:pPr indent="0" marL="0">
              <a:buNone/>
            </a:pPr>
            <a:r>
              <a:rPr lang="en-US" sz="1400" b="1" dirty="0">
                <a:solidFill>
                  <a:schemeClr val="tx2"/>
                </a:solidFill>
              </a:rPr>
              <a:t>Audit log</a:t>
            </a:r>
            <a:endParaRPr lang="en-US" sz="1400" dirty="0"/>
          </a:p>
        </p:txBody>
      </p:sp>
      <p:sp>
        <p:nvSpPr>
          <p:cNvPr id="41" name="Text 39"/>
          <p:cNvSpPr txBox="1"/>
          <p:nvPr/>
        </p:nvSpPr>
        <p:spPr>
          <a:xfrm>
            <a:off x="8686800" y="4069080"/>
            <a:ext cx="1243584" cy="1051560"/>
          </a:xfrm>
          <a:prstGeom prst="rect">
            <a:avLst/>
          </a:prstGeom>
          <a:noFill/>
          <a:ln/>
        </p:spPr>
        <p:txBody>
          <a:bodyPr wrap="square" lIns="0" tIns="0" rIns="0" bIns="0" rtlCol="0" anchor="t"/>
          <a:lstStyle/>
          <a:p>
            <a:pPr indent="0" marL="0">
              <a:buNone/>
            </a:pPr>
            <a:r>
              <a:rPr lang="en-US" sz="1300" dirty="0">
                <a:solidFill>
                  <a:schemeClr val="accent6"/>
                </a:solidFill>
              </a:rPr>
              <a:t>actor, action, entity, payload, hash chain</a:t>
            </a:r>
            <a:endParaRPr lang="en-US" sz="1300" dirty="0"/>
          </a:p>
        </p:txBody>
      </p:sp>
      <p:sp>
        <p:nvSpPr>
          <p:cNvPr id="42" name="Shape 40"/>
          <p:cNvSpPr/>
          <p:nvPr/>
        </p:nvSpPr>
        <p:spPr>
          <a:xfrm>
            <a:off x="10204704" y="3337560"/>
            <a:ext cx="1426464" cy="1874520"/>
          </a:xfrm>
          <a:prstGeom prst="roundRect">
            <a:avLst>
              <a:gd name="adj" fmla="val 5128"/>
            </a:avLst>
          </a:prstGeom>
          <a:solidFill>
            <a:schemeClr val="bg2"/>
          </a:solidFill>
          <a:ln w="12700">
            <a:solidFill>
              <a:schemeClr val="bg2"/>
            </a:solidFill>
            <a:prstDash val="solid"/>
          </a:ln>
        </p:spPr>
      </p:sp>
      <p:sp>
        <p:nvSpPr>
          <p:cNvPr id="43" name="Text 41"/>
          <p:cNvSpPr txBox="1"/>
          <p:nvPr/>
        </p:nvSpPr>
        <p:spPr>
          <a:xfrm>
            <a:off x="10296144" y="3447288"/>
            <a:ext cx="1243584" cy="566928"/>
          </a:xfrm>
          <a:prstGeom prst="rect">
            <a:avLst/>
          </a:prstGeom>
          <a:noFill/>
          <a:ln/>
        </p:spPr>
        <p:txBody>
          <a:bodyPr wrap="square" lIns="0" tIns="0" rIns="0" bIns="0" rtlCol="0" anchor="t"/>
          <a:lstStyle/>
          <a:p>
            <a:pPr indent="0" marL="0">
              <a:buNone/>
            </a:pPr>
            <a:r>
              <a:rPr lang="en-US" sz="1400" b="1" dirty="0">
                <a:solidFill>
                  <a:schemeClr val="tx2"/>
                </a:solidFill>
              </a:rPr>
              <a:t>Profile / Role</a:t>
            </a:r>
            <a:endParaRPr lang="en-US" sz="1400" dirty="0"/>
          </a:p>
        </p:txBody>
      </p:sp>
      <p:sp>
        <p:nvSpPr>
          <p:cNvPr id="44" name="Text 42"/>
          <p:cNvSpPr txBox="1"/>
          <p:nvPr/>
        </p:nvSpPr>
        <p:spPr>
          <a:xfrm>
            <a:off x="10296144" y="4069080"/>
            <a:ext cx="1243584" cy="1051560"/>
          </a:xfrm>
          <a:prstGeom prst="rect">
            <a:avLst/>
          </a:prstGeom>
          <a:noFill/>
          <a:ln/>
        </p:spPr>
        <p:txBody>
          <a:bodyPr wrap="square" lIns="0" tIns="0" rIns="0" bIns="0" rtlCol="0" anchor="t"/>
          <a:lstStyle/>
          <a:p>
            <a:pPr indent="0" marL="0">
              <a:buNone/>
            </a:pPr>
            <a:r>
              <a:rPr lang="en-US" sz="1300" dirty="0">
                <a:solidFill>
                  <a:schemeClr val="accent6"/>
                </a:solidFill>
              </a:rPr>
              <a:t>role, area scope, MFA required</a:t>
            </a:r>
            <a:endParaRPr lang="en-US" sz="1300" dirty="0"/>
          </a:p>
        </p:txBody>
      </p:sp>
      <p:sp>
        <p:nvSpPr>
          <p:cNvPr id="45" name="Shape 43"/>
          <p:cNvSpPr/>
          <p:nvPr/>
        </p:nvSpPr>
        <p:spPr>
          <a:xfrm>
            <a:off x="548640" y="5349240"/>
            <a:ext cx="11064240" cy="731520"/>
          </a:xfrm>
          <a:prstGeom prst="roundRect">
            <a:avLst>
              <a:gd name="adj" fmla="val 10000"/>
            </a:avLst>
          </a:prstGeom>
          <a:solidFill>
            <a:schemeClr val="tx2"/>
          </a:solidFill>
          <a:ln w="12700">
            <a:solidFill>
              <a:schemeClr val="tx2"/>
            </a:solidFill>
            <a:prstDash val="solid"/>
          </a:ln>
        </p:spPr>
      </p:sp>
      <p:sp>
        <p:nvSpPr>
          <p:cNvPr id="46" name="Text 44"/>
          <p:cNvSpPr txBox="1"/>
          <p:nvPr/>
        </p:nvSpPr>
        <p:spPr>
          <a:xfrm>
            <a:off x="777240" y="5349240"/>
            <a:ext cx="10607040" cy="731520"/>
          </a:xfrm>
          <a:prstGeom prst="rect">
            <a:avLst/>
          </a:prstGeom>
          <a:noFill/>
          <a:ln/>
        </p:spPr>
        <p:txBody>
          <a:bodyPr wrap="square" lIns="0" tIns="0" rIns="0" bIns="0" rtlCol="0" anchor="ctr"/>
          <a:lstStyle/>
          <a:p>
            <a:pPr indent="0" marL="0">
              <a:buNone/>
            </a:pPr>
            <a:r>
              <a:rPr lang="en-US" sz="1400" dirty="0">
                <a:solidFill>
                  <a:schemeClr val="bg1"/>
                </a:solidFill>
              </a:rPr>
              <a:t>Data quality rules: quality flag on every reading · valid geometries · watch &lt; warning &lt; danger · every area monitored or flagged “no monitoring” · stale shelter occupancy shown as outdated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External interfaces and API (REST, /api/v1)</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6035040"/>
                <a:gridCol w="2514600"/>
                <a:gridCol w="2514600"/>
              </a:tblGrid>
              <a:tr h="310896">
                <a:tc>
                  <a:txBody>
                    <a:bodyPr/>
                    <a:lstStyle/>
                    <a:p>
                      <a:pPr indent="0" marL="0">
                        <a:buNone/>
                      </a:pPr>
                      <a:r>
                        <a:rPr lang="en-US" sz="1400" b="1" dirty="0">
                          <a:solidFill>
                            <a:schemeClr val="bg1"/>
                          </a:solidFill>
                        </a:rPr>
                        <a:t>Endpoint / interface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Access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310896">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GET /areas/{id}/risk  ·  GET /risk/map</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Public</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FR-13, FR-14, FR-31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10896">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GET /warnings/active?area= | ?lat=&amp;lon=</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Public</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FR-30, FR-31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10896">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POST /subscriptions  ·  DELETE /subscriptions/{token}</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Public</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FR-32, PRV-06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10896">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GET /shelters/nearest  ·  POST /evacuation/route</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Public</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FR-38–FR-44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10896">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POST /reports</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Public, rate-limited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FR-37, SEC-06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10896">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POST /warnings  ·  /{id}/approve | reject | cancel | escalate</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Operator, scoped, MFA</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FR-20–FR-25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10896">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GET /warnings/{id}/recipients/preview  ·  /deliveries/stats</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Operator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FR-53, FR-57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10896">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PATCH /shelters/{id}  ·  POST /road-closures  ·  PATCH /reports/{id}</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Operator / shelter mgr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FR-43, FR-55, FR-56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10896">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/admin/* (regions, stations, thresholds, templates, users)</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Admin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FR-63–FR-68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10896">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GET /health  ·  GET /status</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Public</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FR-48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10896">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Realtime: risk, warnings, shelters, system status</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Dashboard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NFR-PF5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10896">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Channel adapter: send(message, recipient) → result</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Internal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NFR-I3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10896">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MQTT devices/{id}/readings · devices/{id}/heartbeat</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Device (own key)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FR-69, FR-70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10896">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POST /sirens/{id}/activate (approved warning only)</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System, signed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FR-74, SR-13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617220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OpenAPI 3 generated · errors as RFC 9457 problem+json · timestamps UTC (shown in local time; pilot UTC+05:45) · geometry GeoJSON WGS84 · CAP 1.2 export (Could)</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Requirements at a glance</a:t>
            </a:r>
            <a:endParaRPr lang="en-US" sz="3200" dirty="0"/>
          </a:p>
        </p:txBody>
      </p:sp>
      <p:graphicFrame>
        <p:nvGraphicFramePr>
          <p:cNvPr id="3" name="Chart 0" descr=""/>
          <p:cNvGraphicFramePr/>
          <p:nvPr/>
        </p:nvGraphicFramePr>
        <p:xfrm>
          <a:off x="548640" y="128016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589520" y="1280160"/>
            <a:ext cx="1920240" cy="1234440"/>
          </a:xfrm>
          <a:prstGeom prst="roundRect">
            <a:avLst>
              <a:gd name="adj" fmla="val 5926"/>
            </a:avLst>
          </a:prstGeom>
          <a:solidFill>
            <a:schemeClr val="bg2"/>
          </a:solidFill>
          <a:ln w="12700">
            <a:solidFill>
              <a:schemeClr val="bg2"/>
            </a:solidFill>
            <a:prstDash val="solid"/>
          </a:ln>
        </p:spPr>
      </p:sp>
      <p:sp>
        <p:nvSpPr>
          <p:cNvPr id="5" name="Text 2"/>
          <p:cNvSpPr txBox="1"/>
          <p:nvPr/>
        </p:nvSpPr>
        <p:spPr>
          <a:xfrm>
            <a:off x="7772400" y="1389888"/>
            <a:ext cx="155448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75</a:t>
            </a:r>
            <a:endParaRPr lang="en-US" sz="3600" dirty="0"/>
          </a:p>
        </p:txBody>
      </p:sp>
      <p:sp>
        <p:nvSpPr>
          <p:cNvPr id="6" name="Text 3"/>
          <p:cNvSpPr txBox="1"/>
          <p:nvPr/>
        </p:nvSpPr>
        <p:spPr>
          <a:xfrm>
            <a:off x="7772400" y="2057400"/>
            <a:ext cx="1645920" cy="320040"/>
          </a:xfrm>
          <a:prstGeom prst="rect">
            <a:avLst/>
          </a:prstGeom>
          <a:noFill/>
          <a:ln/>
        </p:spPr>
        <p:txBody>
          <a:bodyPr wrap="square" lIns="0" tIns="0" rIns="0" bIns="0" rtlCol="0" anchor="t"/>
          <a:lstStyle/>
          <a:p>
            <a:pPr indent="0" marL="0">
              <a:buNone/>
            </a:pPr>
            <a:r>
              <a:rPr lang="en-US" sz="1400" dirty="0">
                <a:solidFill>
                  <a:schemeClr val="tx1"/>
                </a:solidFill>
              </a:rPr>
              <a:t>Functional (FR)</a:t>
            </a:r>
            <a:endParaRPr lang="en-US" sz="1400" dirty="0"/>
          </a:p>
        </p:txBody>
      </p:sp>
      <p:sp>
        <p:nvSpPr>
          <p:cNvPr id="7" name="Shape 4"/>
          <p:cNvSpPr/>
          <p:nvPr/>
        </p:nvSpPr>
        <p:spPr>
          <a:xfrm>
            <a:off x="9646920" y="1280160"/>
            <a:ext cx="1920240" cy="1234440"/>
          </a:xfrm>
          <a:prstGeom prst="roundRect">
            <a:avLst>
              <a:gd name="adj" fmla="val 5926"/>
            </a:avLst>
          </a:prstGeom>
          <a:solidFill>
            <a:schemeClr val="bg2"/>
          </a:solidFill>
          <a:ln w="12700">
            <a:solidFill>
              <a:schemeClr val="bg2"/>
            </a:solidFill>
            <a:prstDash val="solid"/>
          </a:ln>
        </p:spPr>
      </p:sp>
      <p:sp>
        <p:nvSpPr>
          <p:cNvPr id="8" name="Text 5"/>
          <p:cNvSpPr txBox="1"/>
          <p:nvPr/>
        </p:nvSpPr>
        <p:spPr>
          <a:xfrm>
            <a:off x="9829800" y="1389888"/>
            <a:ext cx="155448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42</a:t>
            </a:r>
            <a:endParaRPr lang="en-US" sz="3600" dirty="0"/>
          </a:p>
        </p:txBody>
      </p:sp>
      <p:sp>
        <p:nvSpPr>
          <p:cNvPr id="9" name="Text 6"/>
          <p:cNvSpPr txBox="1"/>
          <p:nvPr/>
        </p:nvSpPr>
        <p:spPr>
          <a:xfrm>
            <a:off x="9829800" y="2057400"/>
            <a:ext cx="1645920" cy="320040"/>
          </a:xfrm>
          <a:prstGeom prst="rect">
            <a:avLst/>
          </a:prstGeom>
          <a:noFill/>
          <a:ln/>
        </p:spPr>
        <p:txBody>
          <a:bodyPr wrap="square" lIns="0" tIns="0" rIns="0" bIns="0" rtlCol="0" anchor="t"/>
          <a:lstStyle/>
          <a:p>
            <a:pPr indent="0" marL="0">
              <a:buNone/>
            </a:pPr>
            <a:r>
              <a:rPr lang="en-US" sz="1400" dirty="0">
                <a:solidFill>
                  <a:schemeClr val="tx1"/>
                </a:solidFill>
              </a:rPr>
              <a:t>Non-functional</a:t>
            </a:r>
            <a:endParaRPr lang="en-US" sz="1400" dirty="0"/>
          </a:p>
        </p:txBody>
      </p:sp>
      <p:sp>
        <p:nvSpPr>
          <p:cNvPr id="10" name="Shape 7"/>
          <p:cNvSpPr/>
          <p:nvPr/>
        </p:nvSpPr>
        <p:spPr>
          <a:xfrm>
            <a:off x="7589520" y="2651760"/>
            <a:ext cx="1920240" cy="1234440"/>
          </a:xfrm>
          <a:prstGeom prst="roundRect">
            <a:avLst>
              <a:gd name="adj" fmla="val 5926"/>
            </a:avLst>
          </a:prstGeom>
          <a:solidFill>
            <a:schemeClr val="bg2"/>
          </a:solidFill>
          <a:ln w="12700">
            <a:solidFill>
              <a:schemeClr val="bg2"/>
            </a:solidFill>
            <a:prstDash val="solid"/>
          </a:ln>
        </p:spPr>
      </p:sp>
      <p:sp>
        <p:nvSpPr>
          <p:cNvPr id="11" name="Text 8"/>
          <p:cNvSpPr txBox="1"/>
          <p:nvPr/>
        </p:nvSpPr>
        <p:spPr>
          <a:xfrm>
            <a:off x="7772400" y="2761488"/>
            <a:ext cx="155448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14</a:t>
            </a:r>
            <a:endParaRPr lang="en-US" sz="3600" dirty="0"/>
          </a:p>
        </p:txBody>
      </p:sp>
      <p:sp>
        <p:nvSpPr>
          <p:cNvPr id="12" name="Text 9"/>
          <p:cNvSpPr txBox="1"/>
          <p:nvPr/>
        </p:nvSpPr>
        <p:spPr>
          <a:xfrm>
            <a:off x="7772400" y="3429000"/>
            <a:ext cx="1645920" cy="320040"/>
          </a:xfrm>
          <a:prstGeom prst="rect">
            <a:avLst/>
          </a:prstGeom>
          <a:noFill/>
          <a:ln/>
        </p:spPr>
        <p:txBody>
          <a:bodyPr wrap="square" lIns="0" tIns="0" rIns="0" bIns="0" rtlCol="0" anchor="t"/>
          <a:lstStyle/>
          <a:p>
            <a:pPr indent="0" marL="0">
              <a:buNone/>
            </a:pPr>
            <a:r>
              <a:rPr lang="en-US" sz="1400" dirty="0">
                <a:solidFill>
                  <a:schemeClr val="tx1"/>
                </a:solidFill>
              </a:rPr>
              <a:t>Safety (SR)</a:t>
            </a:r>
            <a:endParaRPr lang="en-US" sz="1400" dirty="0"/>
          </a:p>
        </p:txBody>
      </p:sp>
      <p:sp>
        <p:nvSpPr>
          <p:cNvPr id="13" name="Shape 10"/>
          <p:cNvSpPr/>
          <p:nvPr/>
        </p:nvSpPr>
        <p:spPr>
          <a:xfrm>
            <a:off x="9646920" y="2651760"/>
            <a:ext cx="1920240" cy="1234440"/>
          </a:xfrm>
          <a:prstGeom prst="roundRect">
            <a:avLst>
              <a:gd name="adj" fmla="val 5926"/>
            </a:avLst>
          </a:prstGeom>
          <a:solidFill>
            <a:schemeClr val="bg2"/>
          </a:solidFill>
          <a:ln w="12700">
            <a:solidFill>
              <a:schemeClr val="bg2"/>
            </a:solidFill>
            <a:prstDash val="solid"/>
          </a:ln>
        </p:spPr>
      </p:sp>
      <p:sp>
        <p:nvSpPr>
          <p:cNvPr id="14" name="Text 11"/>
          <p:cNvSpPr txBox="1"/>
          <p:nvPr/>
        </p:nvSpPr>
        <p:spPr>
          <a:xfrm>
            <a:off x="9829800" y="2761488"/>
            <a:ext cx="155448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15" name="Text 12"/>
          <p:cNvSpPr txBox="1"/>
          <p:nvPr/>
        </p:nvSpPr>
        <p:spPr>
          <a:xfrm>
            <a:off x="9829800" y="3429000"/>
            <a:ext cx="1645920" cy="320040"/>
          </a:xfrm>
          <a:prstGeom prst="rect">
            <a:avLst/>
          </a:prstGeom>
          <a:noFill/>
          <a:ln/>
        </p:spPr>
        <p:txBody>
          <a:bodyPr wrap="square" lIns="0" tIns="0" rIns="0" bIns="0" rtlCol="0" anchor="t"/>
          <a:lstStyle/>
          <a:p>
            <a:pPr indent="0" marL="0">
              <a:buNone/>
            </a:pPr>
            <a:r>
              <a:rPr lang="en-US" sz="1400" dirty="0">
                <a:solidFill>
                  <a:schemeClr val="tx1"/>
                </a:solidFill>
              </a:rPr>
              <a:t>Security (SEC)</a:t>
            </a:r>
            <a:endParaRPr lang="en-US" sz="1400" dirty="0"/>
          </a:p>
        </p:txBody>
      </p:sp>
      <p:sp>
        <p:nvSpPr>
          <p:cNvPr id="16" name="Shape 13"/>
          <p:cNvSpPr/>
          <p:nvPr/>
        </p:nvSpPr>
        <p:spPr>
          <a:xfrm>
            <a:off x="7589520" y="4023360"/>
            <a:ext cx="1920240" cy="1234440"/>
          </a:xfrm>
          <a:prstGeom prst="roundRect">
            <a:avLst>
              <a:gd name="adj" fmla="val 5926"/>
            </a:avLst>
          </a:prstGeom>
          <a:solidFill>
            <a:schemeClr val="bg2"/>
          </a:solidFill>
          <a:ln w="12700">
            <a:solidFill>
              <a:schemeClr val="bg2"/>
            </a:solidFill>
            <a:prstDash val="solid"/>
          </a:ln>
        </p:spPr>
      </p:sp>
      <p:sp>
        <p:nvSpPr>
          <p:cNvPr id="17" name="Text 14"/>
          <p:cNvSpPr txBox="1"/>
          <p:nvPr/>
        </p:nvSpPr>
        <p:spPr>
          <a:xfrm>
            <a:off x="7772400" y="4133088"/>
            <a:ext cx="155448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8</a:t>
            </a:r>
            <a:endParaRPr lang="en-US" sz="3600" dirty="0"/>
          </a:p>
        </p:txBody>
      </p:sp>
      <p:sp>
        <p:nvSpPr>
          <p:cNvPr id="18" name="Text 15"/>
          <p:cNvSpPr txBox="1"/>
          <p:nvPr/>
        </p:nvSpPr>
        <p:spPr>
          <a:xfrm>
            <a:off x="7772400" y="4800600"/>
            <a:ext cx="1645920" cy="320040"/>
          </a:xfrm>
          <a:prstGeom prst="rect">
            <a:avLst/>
          </a:prstGeom>
          <a:noFill/>
          <a:ln/>
        </p:spPr>
        <p:txBody>
          <a:bodyPr wrap="square" lIns="0" tIns="0" rIns="0" bIns="0" rtlCol="0" anchor="t"/>
          <a:lstStyle/>
          <a:p>
            <a:pPr indent="0" marL="0">
              <a:buNone/>
            </a:pPr>
            <a:r>
              <a:rPr lang="en-US" sz="1400" dirty="0">
                <a:solidFill>
                  <a:schemeClr val="tx1"/>
                </a:solidFill>
              </a:rPr>
              <a:t>Privacy (PRV)</a:t>
            </a:r>
            <a:endParaRPr lang="en-US" sz="1400" dirty="0"/>
          </a:p>
        </p:txBody>
      </p:sp>
      <p:sp>
        <p:nvSpPr>
          <p:cNvPr id="19" name="Shape 16"/>
          <p:cNvSpPr/>
          <p:nvPr/>
        </p:nvSpPr>
        <p:spPr>
          <a:xfrm>
            <a:off x="9646920" y="4023360"/>
            <a:ext cx="1920240" cy="1234440"/>
          </a:xfrm>
          <a:prstGeom prst="roundRect">
            <a:avLst>
              <a:gd name="adj" fmla="val 5926"/>
            </a:avLst>
          </a:prstGeom>
          <a:solidFill>
            <a:schemeClr val="bg2"/>
          </a:solidFill>
          <a:ln w="12700">
            <a:solidFill>
              <a:schemeClr val="bg2"/>
            </a:solidFill>
            <a:prstDash val="solid"/>
          </a:ln>
        </p:spPr>
      </p:sp>
      <p:sp>
        <p:nvSpPr>
          <p:cNvPr id="20" name="Text 17"/>
          <p:cNvSpPr txBox="1"/>
          <p:nvPr/>
        </p:nvSpPr>
        <p:spPr>
          <a:xfrm>
            <a:off x="9829800" y="4133088"/>
            <a:ext cx="155448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16</a:t>
            </a:r>
            <a:endParaRPr lang="en-US" sz="3600" dirty="0"/>
          </a:p>
        </p:txBody>
      </p:sp>
      <p:sp>
        <p:nvSpPr>
          <p:cNvPr id="21" name="Text 18"/>
          <p:cNvSpPr txBox="1"/>
          <p:nvPr/>
        </p:nvSpPr>
        <p:spPr>
          <a:xfrm>
            <a:off x="9829800" y="4800600"/>
            <a:ext cx="1645920" cy="320040"/>
          </a:xfrm>
          <a:prstGeom prst="rect">
            <a:avLst/>
          </a:prstGeom>
          <a:noFill/>
          <a:ln/>
        </p:spPr>
        <p:txBody>
          <a:bodyPr wrap="square" lIns="0" tIns="0" rIns="0" bIns="0" rtlCol="0" anchor="t"/>
          <a:lstStyle/>
          <a:p>
            <a:pPr indent="0" marL="0">
              <a:buNone/>
            </a:pPr>
            <a:r>
              <a:rPr lang="en-US" sz="1400" dirty="0">
                <a:solidFill>
                  <a:schemeClr val="tx1"/>
                </a:solidFill>
              </a:rPr>
              <a:t>Stakeholder needs</a:t>
            </a:r>
            <a:endParaRPr lang="en-US" sz="1400" dirty="0"/>
          </a:p>
        </p:txBody>
      </p:sp>
      <p:sp>
        <p:nvSpPr>
          <p:cNvPr id="22" name="Text 19"/>
          <p:cNvSpPr txBox="1"/>
          <p:nvPr/>
        </p:nvSpPr>
        <p:spPr>
          <a:xfrm>
            <a:off x="7589520" y="5440680"/>
            <a:ext cx="4023360" cy="685800"/>
          </a:xfrm>
          <a:prstGeom prst="rect">
            <a:avLst/>
          </a:prstGeom>
          <a:noFill/>
          <a:ln/>
        </p:spPr>
        <p:txBody>
          <a:bodyPr wrap="square" lIns="0" tIns="0" rIns="0" bIns="0" rtlCol="0" anchor="t"/>
          <a:lstStyle/>
          <a:p>
            <a:pPr indent="0" marL="0">
              <a:buNone/>
            </a:pPr>
            <a:r>
              <a:rPr lang="en-US" sz="1200" dirty="0">
                <a:solidFill>
                  <a:schemeClr val="accent6"/>
                </a:solidFill>
              </a:rPr>
              <a:t>4-week split: 51 Must · 20 Should · 4 Could functional requirements. Every requirement has ID, source, priority, rationale, acceptance criterion and verification method (ISO/IEC/IEEE 29148).</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Functional requirements — data collection &amp; processing</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960120"/>
                <a:gridCol w="5760720"/>
                <a:gridCol w="548640"/>
                <a:gridCol w="3794760"/>
              </a:tblGrid>
              <a:tr h="347472">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 (the system shall …)</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Acceptance criterion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347472">
                <a:tc>
                  <a:txBody>
                    <a:bodyPr/>
                    <a:lstStyle/>
                    <a:p>
                      <a:pPr indent="0" marL="0">
                        <a:buNone/>
                      </a:pPr>
                      <a:r>
                        <a:rPr lang="en-US" sz="1400" b="1" dirty="0">
                          <a:solidFill>
                            <a:schemeClr val="tx1"/>
                          </a:solidFill>
                        </a:rPr>
                        <a:t>FR-01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Ingest river water levels at each station's interval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99 % readings stored over 1 h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FR-02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Ingest observed / forecast rainfall from a public API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Hourly Open-Meteo data stored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FR-03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Import boundaries, roads, shelters, population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Invalid geometry rejected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FR-04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Ingest GloFAS discharge forecast (advisory)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6"/>
                          </a:solidFill>
                        </a:rPr>
                        <a:t>C</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Daily forecast tagged advisory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FR-05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Scenario player replays scripted data (for testing)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Readings match script timing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FR-06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Validate schema, unit and plausible range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Out-of-range → BAD, excluded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FR-07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Detect missing data after the staleness window</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Stale event ≤ 60 s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FR-08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Flag spikes, flatlines and impossible rates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Each fault flagged SUSPECT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FR-09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Detect conflicts between linked sources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Conflict event on dashboard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FR-10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Store source, raw payload, quality per reading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null provenance fields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Priority (4-week MoSCoW):  M Must · S Should · C Could     [T] = semester acceptance target, not a real-world guarantee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Functional requirements — risk assessment</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960120"/>
                <a:gridCol w="5760720"/>
                <a:gridCol w="548640"/>
                <a:gridCol w="3794760"/>
              </a:tblGrid>
              <a:tr h="347472">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 (the system shall …)</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Acceptance criterion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347472">
                <a:tc>
                  <a:txBody>
                    <a:bodyPr/>
                    <a:lstStyle/>
                    <a:p>
                      <a:pPr indent="0" marL="0">
                        <a:buNone/>
                      </a:pPr>
                      <a:r>
                        <a:rPr lang="en-US" sz="1400" b="1" dirty="0">
                          <a:solidFill>
                            <a:schemeClr val="tx1"/>
                          </a:solidFill>
                        </a:rPr>
                        <a:t>FR-11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Compute a level for every Area Unit with rules R1–R10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100 % match scenario oracle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FR-12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Recompute affected areas within 60 s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p95 ≤ 60 s over 100 runs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FR-13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Show risk map with colour, pattern and label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Label on every area; a11y pass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FR-14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Store inputs, rules fired and versions per result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Re-run reproduces the level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FR-15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Assign HIGH / MEDIUM / LOW confidence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Stale gauge → LOW + badge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FR-16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Rank WARNING+ areas by vulnerability index</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Matches hand calculation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FR-17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Use ML forecast as advice only, max WATCH</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6"/>
                          </a:solidFill>
                        </a:rPr>
                        <a:t>C</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ML-only signal → ≤ WATCH</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Priority (4-week MoSCoW):  M Must · S Should · C Could     [T] = semester acceptance target, not a real-world guarantee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Functional requirements — warning management</a:t>
            </a:r>
            <a:endParaRPr lang="en-US" sz="3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960120"/>
                <a:gridCol w="5760720"/>
                <a:gridCol w="548640"/>
                <a:gridCol w="3794760"/>
              </a:tblGrid>
              <a:tr h="347472">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 (the system shall …)</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Acceptance criterion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347472">
                <a:tc>
                  <a:txBody>
                    <a:bodyPr/>
                    <a:lstStyle/>
                    <a:p>
                      <a:pPr indent="0" marL="0">
                        <a:buNone/>
                      </a:pPr>
                      <a:r>
                        <a:rPr lang="en-US" sz="1400" b="1" dirty="0">
                          <a:solidFill>
                            <a:schemeClr val="tx1"/>
                          </a:solidFill>
                        </a:rPr>
                        <a:t>FR-18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Create one proposal when a level reaches WATCH+</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 proposal ≤ 60 s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FR-19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Auto-publish WATCH if region policy allows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Audit shows actor = system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FR-20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WARNING: 1 approver; CRITICAL: 2 distinct approvers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Same user twice is rejected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FR-21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Escalate an undecided CRITICAL at timeout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Escalation + labelled publish</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FR-22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Let approvers edit message, areas, validity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Edit diff in audit log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FR-23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Escalate as a new version superseding the old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v1 SUPERSEDED, one message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FR-24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One-tap acknowledge: “I am safe” / “I need help”</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Help request → incident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FR-25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Require a reason to cancel; send all-clear to all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All-clear count = original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FR-26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De-escalate only after the hold time (hysteresis)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1 change per hold window</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FR-27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Expire at valid-until; remind before expiry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EXPIRED + reminder sent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FR-28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One active warning per area; never below official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DB constraint blocks a 2nd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FR-29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Render from templates with all mandatory fields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Linter rejects missing field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Priority (4-week MoSCoW):  M Must · S Should · C Could     [T] = semester acceptance target, not a real-world guarantee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Functional requirements — citizen services</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960120"/>
                <a:gridCol w="5760720"/>
                <a:gridCol w="548640"/>
                <a:gridCol w="3794760"/>
              </a:tblGrid>
              <a:tr h="347472">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 (the system shall …)</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Acceptance criterion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347472">
                <a:tc>
                  <a:txBody>
                    <a:bodyPr/>
                    <a:lstStyle/>
                    <a:p>
                      <a:pPr indent="0" marL="0">
                        <a:buNone/>
                      </a:pPr>
                      <a:r>
                        <a:rPr lang="en-US" sz="1400" b="1" dirty="0">
                          <a:solidFill>
                            <a:schemeClr val="tx1"/>
                          </a:solidFill>
                        </a:rPr>
                        <a:t>FR-30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Deliver to every subscription in the target areas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100 % in-area, 0 outside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FR-31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Show level, action, confidence, last update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Card matches template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FR-32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Subscribe to ≤ 5 areas, incl. proxy, no account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Phone-only subscription works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FR-33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Level-specific instructions: what to take / not do</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Reviewed by DRR proxy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FR-34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Find area by list, consented GPS or QR code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Correct area for test points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FR-35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SMS channel (gateway adapter), each language, ≤ 2 segments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Length test passes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FR-36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Request assistance → incident for operators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 dashboard ≤ 10 s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FR-37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Report conditions: location, depth, photo, text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Appears with status “new”</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Priority (4-week MoSCoW):  M Must · S Should · C Could     [T] = semester acceptance target, not a real-world guarantee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Functional requirements — evacuation &amp; shelters</a:t>
            </a:r>
            <a:endParaRPr 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960120"/>
                <a:gridCol w="5760720"/>
                <a:gridCol w="548640"/>
                <a:gridCol w="3794760"/>
              </a:tblGrid>
              <a:tr h="347472">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 (the system shall …)</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Acceptance criterion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347472">
                <a:tc>
                  <a:txBody>
                    <a:bodyPr/>
                    <a:lstStyle/>
                    <a:p>
                      <a:pPr indent="0" marL="0">
                        <a:buNone/>
                      </a:pPr>
                      <a:r>
                        <a:rPr lang="en-US" sz="1400" b="1" dirty="0">
                          <a:solidFill>
                            <a:schemeClr val="tx1"/>
                          </a:solidFill>
                        </a:rPr>
                        <a:t>FR-38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Nearest open shelters with capacity, by safe route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Full / closed never returned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FR-39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Filter shelters: accessible, medical, livestock</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Only matching shelters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FR-40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Shelter details incl. occupancy timestamp</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All fields displayed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FR-41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Walking or vehicle route to the chosen shelter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Routes for 20 test pairs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FR-42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Exclude hazard zones, closures, unsafe bridges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 routes cross exclusions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FR-43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Operators add / remove road and bridge closures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New routes avoid closure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FR-44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Alternative route, else “no safe route” + advice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Never returns an unsafe route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FR-45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Push a re-route when a closure affects a route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Notice ≤ 60 s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FR-46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Show route warnings (near river, data incomplete)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Warning text shown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Priority (4-week MoSCoW):  M Must · S Should · C Could     [T] = semester acceptance target, not a real-world guarantee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Functional requirements — offline &amp; dashboard</a:t>
            </a:r>
            <a:endParaRPr lang="en-US" sz="3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960120"/>
                <a:gridCol w="5760720"/>
                <a:gridCol w="548640"/>
                <a:gridCol w="3794760"/>
              </a:tblGrid>
              <a:tr h="347472">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 (the system shall …)</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Acceptance criterion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347472">
                <a:tc>
                  <a:txBody>
                    <a:bodyPr/>
                    <a:lstStyle/>
                    <a:p>
                      <a:pPr indent="0" marL="0">
                        <a:buNone/>
                      </a:pPr>
                      <a:r>
                        <a:rPr lang="en-US" sz="1400" b="1" dirty="0">
                          <a:solidFill>
                            <a:schemeClr val="tx1"/>
                          </a:solidFill>
                        </a:rPr>
                        <a:t>FR-47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Offline cache: risk, warnings, shelters, numbers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Renders offline + timestamp</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FR-48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Status page: health and freshness per source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Degraded shown ≤ 60 s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FR-49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SMS fallback when push fails (WARNING+)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Both attempts recorded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FR-50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Static snapshot every 60 s if backend is down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Snapshot ≤ 2 min old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FR-51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Live map: risk, stations, warnings, shelters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Updates ≤ 5 s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FR-52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Area list by level, vulnerability and trend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Order verified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FR-53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Manual warning with recipient preview</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Preview = actual deliveries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FR-54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Evacuation progress: acks, occupancy, requests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Updates with simulated acks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FR-55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Shelter managers update status and occupancy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“Full” removed immediately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FR-56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Triage reports: verify, reject, duplicate, incident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Transitions audited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FR-57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Delivery statistics per warning and channel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Equal to database counts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FR-58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Export active warnings as CAP 1.2 / JSON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6"/>
                          </a:solidFill>
                        </a:rPr>
                        <a:t>C</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Validates against CAP schema</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Priority (4-week MoSCoW):  M Must · S Should · C Could     [T] = semester acceptance target, not a real-world guarantee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Functional requirements — logging &amp; administration</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960120"/>
                <a:gridCol w="5760720"/>
                <a:gridCol w="548640"/>
                <a:gridCol w="3794760"/>
              </a:tblGrid>
              <a:tr h="347472">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 (the system shall …)</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Acceptance criterion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347472">
                <a:tc>
                  <a:txBody>
                    <a:bodyPr/>
                    <a:lstStyle/>
                    <a:p>
                      <a:pPr indent="0" marL="0">
                        <a:buNone/>
                      </a:pPr>
                      <a:r>
                        <a:rPr lang="en-US" sz="1400" b="1" dirty="0">
                          <a:solidFill>
                            <a:schemeClr val="tx1"/>
                          </a:solidFill>
                        </a:rPr>
                        <a:t>FR-59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Append-only audit of all critical actions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UPDATE / DELETE denied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FR-60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Event timeline export (CSV / JSON)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All event types present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FR-61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What-if replay with other config (sandbox)</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6"/>
                          </a:solidFill>
                        </a:rPr>
                        <a:t>C</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Live data unaffected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FR-62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Post-event metrics: lead time, FP, FN, delivery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Report per scenario</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FR-63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Configure regions and areas from files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2nd municipality, no code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FR-64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Versioned stations, links and thresholds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Old versions retrievable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FR-65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Message templates with mandatory-field linting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Bad template not saved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FR-66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Users, roles and geographic scopes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Ward 5 can't approve Ward 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FR-67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Toggle hazards, sources and region policies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Behaviour follows policy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FR-68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Deployment Profile holds all country-specific settings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2nd country profile, no code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Priority (4-week MoSCoW):  M Must · S Should · C Could     [T] = semester acceptance target, not a real-world guarantee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Functional requirements — field devices &amp; satellite data</a:t>
            </a:r>
            <a:endParaRPr lang="en-US" sz="3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960120"/>
                <a:gridCol w="5760720"/>
                <a:gridCol w="548640"/>
                <a:gridCol w="3794760"/>
              </a:tblGrid>
              <a:tr h="347472">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 (the system shall …)</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Acceptance criterion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347472">
                <a:tc>
                  <a:txBody>
                    <a:bodyPr/>
                    <a:lstStyle/>
                    <a:p>
                      <a:pPr indent="0" marL="0">
                        <a:buNone/>
                      </a:pPr>
                      <a:r>
                        <a:rPr lang="en-US" sz="1400" b="1" dirty="0">
                          <a:solidFill>
                            <a:schemeClr val="tx1"/>
                          </a:solidFill>
                        </a:rPr>
                        <a:t>FR-69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Ingest gauge-node readings over MQTT / HTTPS, per-device keys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Pilot readings stored ≤ 60 s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FR-70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Register devices; watch heartbeat, battery, signal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Missed heartbeat alert ≤ 5 min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FR-71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Ingest satellite rainfall (NASA GPM IMERG) per catchment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Catchment totals stored each run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FR-72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Ingest satellite flood extent (Sentinel-1) as hazard zones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Flood polygons feed routing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FR-73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Ingest DHM station data via agreed feed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Adapter passes on sample data</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FR-74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Trigger sirens only from approved warnings; siren confirms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Command + ack logged ≤ 30 s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FR-75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Siren test / exercise mode and weekly silent self-test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Self-test logged weekly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NFR-HW1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Gauge node runs without solar charge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72 h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NFR-HW2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Store-and-forward buffer when network is down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24 h of readings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NFR-HW3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Weatherproof (IP65+), mounted above flood mark</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Installation checklist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NFR-HW4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Unique device credentials; signed firmware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Security test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Priority (4-week MoSCoW):  M Must · S Should · C Could     [T] = semester acceptance target, not a real-world guarantee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Non-functional — performance &amp; availability</a:t>
            </a:r>
            <a:endParaRPr lang="en-US" sz="3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051560"/>
                <a:gridCol w="5715000"/>
                <a:gridCol w="548640"/>
                <a:gridCol w="3749040"/>
              </a:tblGrid>
              <a:tr h="347472">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Target / measurement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347472">
                <a:tc>
                  <a:txBody>
                    <a:bodyPr/>
                    <a:lstStyle/>
                    <a:p>
                      <a:pPr indent="0" marL="0">
                        <a:buNone/>
                      </a:pPr>
                      <a:r>
                        <a:rPr lang="en-US" sz="1400" b="1" dirty="0">
                          <a:solidFill>
                            <a:schemeClr val="tx1"/>
                          </a:solidFill>
                        </a:rPr>
                        <a:t>NFR-PF1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Observation → warning proposal latency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60 s p95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NFR-PF2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Dispatch to 1,000 recipients; CRITICAL first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60 s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NFR-PF3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Public API / route API response time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1 s / ≤ 3 s p95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NFR-PF4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Light citizen page on slow 3G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300 KB, usable ≤ 5 s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NFR-PF5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Dashboard realtime update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5 s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NFR-A1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Public endpoint availability over a 72-h test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99 %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NFR-A2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Static fallback independent of backend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Kill test passes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NFR-A3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Stateless backend, ≥ 2 instances, leader lock</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6"/>
                          </a:solidFill>
                        </a:rPr>
                        <a:t>C</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duplicate jobs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NFR-A4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 deploys while any area is at WARNING+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Deploy script refuses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Priority (4-week MoSCoW):  M Must · S Should · C Could     [T] = semester acceptance target, not a real-world guarantee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Non-functional — reliability &amp; usability</a:t>
            </a:r>
            <a:endParaRPr lang="en-US" sz="3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051560"/>
                <a:gridCol w="5715000"/>
                <a:gridCol w="548640"/>
                <a:gridCol w="3749040"/>
              </a:tblGrid>
              <a:tr h="347472">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Target / measurement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347472">
                <a:tc>
                  <a:txBody>
                    <a:bodyPr/>
                    <a:lstStyle/>
                    <a:p>
                      <a:pPr indent="0" marL="0">
                        <a:buNone/>
                      </a:pPr>
                      <a:r>
                        <a:rPr lang="en-US" sz="1400" b="1" dirty="0">
                          <a:solidFill>
                            <a:schemeClr val="tx1"/>
                          </a:solidFill>
                        </a:rPr>
                        <a:t>NFR-R1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Only validated data drives risk computation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Fault-injection tests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NFR-R2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Isolate adapter failures (timeout, circuit breaker)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Other sources keep running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NFR-R3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At-least-once delivery without duplicates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Crash mid-batch test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NFR-R4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Recover and recompute after restart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2 min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NFR-R5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Daily backups; restore rehearsed once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Drill record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NFR-U1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primary action per screen, plain language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80 % correct in 30 s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NFR-U2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WCAG 2.2 AA on citizen pages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 critical axe issues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NFR-U3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Level by word + icon + colour (+ sound)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Inspection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NFR-U4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Every configured language complete; packs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Dummy pack renders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NFR-U5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Read-aloud of the action card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Demonstration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NFR-U6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Approve in ≤ 3 clicks with evidence visible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Task analysis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NFR-U7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Citizen System Usability Scale score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SUS ≥ 68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Priority (4-week MoSCoW):  M Must · S Should · C Could     [T] = semester acceptance target, not a real-world guarantee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Non-functional — scalability &amp; interoperability</a:t>
            </a:r>
            <a:endParaRPr lang="en-US" sz="3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5349240" cy="914400"/>
        </p:xfrm>
        <a:graphic>
          <a:graphicData uri="http://schemas.openxmlformats.org/drawingml/2006/table">
            <a:tbl>
              <a:tblPr/>
              <a:tblGrid>
                <a:gridCol w="1051560"/>
                <a:gridCol w="3749040"/>
                <a:gridCol w="548640"/>
              </a:tblGrid>
              <a:tr h="411480">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411480">
                <a:tc>
                  <a:txBody>
                    <a:bodyPr/>
                    <a:lstStyle/>
                    <a:p>
                      <a:pPr indent="0" marL="0">
                        <a:buNone/>
                      </a:pPr>
                      <a:r>
                        <a:rPr lang="en-US" sz="1400" b="1" dirty="0">
                          <a:solidFill>
                            <a:schemeClr val="tx1"/>
                          </a:solidFill>
                        </a:rPr>
                        <a:t>NFR-SC1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New region by configuration only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NFR-SC2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New hazard via plug-in, no core change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NFR-SC3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New source = 1 adapter + 1 row</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NFR-SC4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Documented path to national scale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6"/>
                          </a:solidFill>
                        </a:rPr>
                        <a:t>C</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NFR-M1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Modules talk via interfaces only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NFR-M2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hard-coded thresholds or strings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NFR-M3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80 % coverage on safety modules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NFR-M4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Schema changes via migrations only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NFR-M5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Lint and format enforced in CI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bl>
          </a:graphicData>
        </a:graphic>
      </p:graphicFrame>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6263640" y="1280160"/>
          <a:ext cx="5349240" cy="914400"/>
        </p:xfrm>
        <a:graphic>
          <a:graphicData uri="http://schemas.openxmlformats.org/drawingml/2006/table">
            <a:tbl>
              <a:tblPr/>
              <a:tblGrid>
                <a:gridCol w="1051560"/>
                <a:gridCol w="3749040"/>
                <a:gridCol w="548640"/>
              </a:tblGrid>
              <a:tr h="411480">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411480">
                <a:tc>
                  <a:txBody>
                    <a:bodyPr/>
                    <a:lstStyle/>
                    <a:p>
                      <a:pPr indent="0" marL="0">
                        <a:buNone/>
                      </a:pPr>
                      <a:r>
                        <a:rPr lang="en-US" sz="1400" b="1" dirty="0">
                          <a:solidFill>
                            <a:schemeClr val="tx1"/>
                          </a:solidFill>
                        </a:rPr>
                        <a:t>NFR-I1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CAP 1.2 export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6"/>
                          </a:solidFill>
                        </a:rPr>
                        <a:t>C</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NFR-I2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GeoJSON exchange, WGS84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NFR-I3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Common channel adapter interface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NFR-I4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Pull and push (webhook) ingestion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NFR-I5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OSM attribution (ODbL)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NFR-L1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UTF-8; Gregorian + local calendar option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NFR-L2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Native numerals per language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6"/>
                          </a:solidFill>
                        </a:rPr>
                        <a:t>C</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NFR-L3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Portable to any PostgreSQL + PostGIS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1"/>
                          </a:solidFill>
                        </a:rPr>
                        <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Priority (4-week MoSCoW):  M Must · S Should · C Could     [T] = semester acceptance target, not a real-world guarantee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Safety requirements</a:t>
            </a:r>
            <a:endParaRPr 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868680"/>
                <a:gridCol w="8595360"/>
                <a:gridCol w="1600200"/>
              </a:tblGrid>
              <a:tr h="301752">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Safety requirement (all Must)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Mitigates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301752">
                <a:tc>
                  <a:txBody>
                    <a:bodyPr/>
                    <a:lstStyle/>
                    <a:p>
                      <a:pPr indent="0" marL="0">
                        <a:buNone/>
                      </a:pPr>
                      <a:r>
                        <a:rPr lang="en-US" sz="1400" b="1" dirty="0">
                          <a:solidFill>
                            <a:schemeClr val="accent3"/>
                          </a:solidFill>
                        </a:rPr>
                        <a:t>SR-01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 warning silently dropped; failed deliveries shown to operators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F10, F11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01752">
                <a:tc>
                  <a:txBody>
                    <a:bodyPr/>
                    <a:lstStyle/>
                    <a:p>
                      <a:pPr indent="0" marL="0">
                        <a:buNone/>
                      </a:pPr>
                      <a:r>
                        <a:rPr lang="en-US" sz="1400" b="1" dirty="0">
                          <a:solidFill>
                            <a:schemeClr val="accent3"/>
                          </a:solidFill>
                        </a:rPr>
                        <a:t>SR-02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1 approver for WARNING, ≥ 2 distinct approvers for CRITICAL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F16, F17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01752">
                <a:tc>
                  <a:txBody>
                    <a:bodyPr/>
                    <a:lstStyle/>
                    <a:p>
                      <a:pPr indent="0" marL="0">
                        <a:buNone/>
                      </a:pPr>
                      <a:r>
                        <a:rPr lang="en-US" sz="1400" b="1" dirty="0">
                          <a:solidFill>
                            <a:schemeClr val="accent3"/>
                          </a:solidFill>
                        </a:rPr>
                        <a:t>SR-03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Routes never cross hazard zones, closures or unsafe bridges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F12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01752">
                <a:tc>
                  <a:txBody>
                    <a:bodyPr/>
                    <a:lstStyle/>
                    <a:p>
                      <a:pPr indent="0" marL="0">
                        <a:buNone/>
                      </a:pPr>
                      <a:r>
                        <a:rPr lang="en-US" sz="1400" b="1" dirty="0">
                          <a:solidFill>
                            <a:schemeClr val="accent3"/>
                          </a:solidFill>
                        </a:rPr>
                        <a:t>SR-04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Every route and shelter shows its data time and limitations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F12, F14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01752">
                <a:tc>
                  <a:txBody>
                    <a:bodyPr/>
                    <a:lstStyle/>
                    <a:p>
                      <a:pPr indent="0" marL="0">
                        <a:buNone/>
                      </a:pPr>
                      <a:r>
                        <a:rPr lang="en-US" sz="1400" b="1" dirty="0">
                          <a:solidFill>
                            <a:schemeClr val="accent3"/>
                          </a:solidFill>
                        </a:rPr>
                        <a:t>SR-05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Never recommend shelters that are full, closed or in a hazard zone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F13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01752">
                <a:tc>
                  <a:txBody>
                    <a:bodyPr/>
                    <a:lstStyle/>
                    <a:p>
                      <a:pPr indent="0" marL="0">
                        <a:buNone/>
                      </a:pPr>
                      <a:r>
                        <a:rPr lang="en-US" sz="1400" b="1" dirty="0">
                          <a:solidFill>
                            <a:schemeClr val="accent3"/>
                          </a:solidFill>
                        </a:rPr>
                        <a:t>SR-06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Missing or bad data never lowers a risk level by itself</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F4–F6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01752">
                <a:tc>
                  <a:txBody>
                    <a:bodyPr/>
                    <a:lstStyle/>
                    <a:p>
                      <a:pPr indent="0" marL="0">
                        <a:buNone/>
                      </a:pPr>
                      <a:r>
                        <a:rPr lang="en-US" sz="1400" b="1" dirty="0">
                          <a:solidFill>
                            <a:schemeClr val="accent3"/>
                          </a:solidFill>
                        </a:rPr>
                        <a:t>SR-07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Never publish below an official warning; always name the issuer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01752">
                <a:tc>
                  <a:txBody>
                    <a:bodyPr/>
                    <a:lstStyle/>
                    <a:p>
                      <a:pPr indent="0" marL="0">
                        <a:buNone/>
                      </a:pPr>
                      <a:r>
                        <a:rPr lang="en-US" sz="1400" b="1" dirty="0">
                          <a:solidFill>
                            <a:schemeClr val="accent3"/>
                          </a:solidFill>
                        </a:rPr>
                        <a:t>SR-08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Confidence shown everywhere; LOW-confidence CRITICAL highlighted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F6, F8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01752">
                <a:tc>
                  <a:txBody>
                    <a:bodyPr/>
                    <a:lstStyle/>
                    <a:p>
                      <a:pPr indent="0" marL="0">
                        <a:buNone/>
                      </a:pPr>
                      <a:r>
                        <a:rPr lang="en-US" sz="1400" b="1" dirty="0">
                          <a:solidFill>
                            <a:schemeClr val="accent3"/>
                          </a:solidFill>
                        </a:rPr>
                        <a:t>SR-09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Corrections reach every original recipient on the same channels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F17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01752">
                <a:tc>
                  <a:txBody>
                    <a:bodyPr/>
                    <a:lstStyle/>
                    <a:p>
                      <a:pPr indent="0" marL="0">
                        <a:buNone/>
                      </a:pPr>
                      <a:r>
                        <a:rPr lang="en-US" sz="1400" b="1" dirty="0">
                          <a:solidFill>
                            <a:schemeClr val="accent3"/>
                          </a:solidFill>
                        </a:rPr>
                        <a:t>SR-10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Every screen: decision support; officials on site take precedence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F18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01752">
                <a:tc>
                  <a:txBody>
                    <a:bodyPr/>
                    <a:lstStyle/>
                    <a:p>
                      <a:pPr indent="0" marL="0">
                        <a:buNone/>
                      </a:pPr>
                      <a:r>
                        <a:rPr lang="en-US" sz="1400" b="1" dirty="0">
                          <a:solidFill>
                            <a:schemeClr val="accent3"/>
                          </a:solidFill>
                        </a:rPr>
                        <a:t>SR-11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Forecast-only or ML-only signal cannot exceed WATCH</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F8, F19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01752">
                <a:tc>
                  <a:txBody>
                    <a:bodyPr/>
                    <a:lstStyle/>
                    <a:p>
                      <a:pPr indent="0" marL="0">
                        <a:buNone/>
                      </a:pPr>
                      <a:r>
                        <a:rPr lang="en-US" sz="1400" b="1" dirty="0">
                          <a:solidFill>
                            <a:schemeClr val="accent3"/>
                          </a:solidFill>
                        </a:rPr>
                        <a:t>SR-12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Exercise mode prefixes “EXERCISE”; simulated data blocked in live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F16, F17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01752">
                <a:tc>
                  <a:txBody>
                    <a:bodyPr/>
                    <a:lstStyle/>
                    <a:p>
                      <a:pPr indent="0" marL="0">
                        <a:buNone/>
                      </a:pPr>
                      <a:r>
                        <a:rPr lang="en-US" sz="1400" b="1" dirty="0">
                          <a:solidFill>
                            <a:schemeClr val="accent3"/>
                          </a:solidFill>
                        </a:rPr>
                        <a:t>SR-13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 siren sounds without authorized approval; commands signed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F16, F17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01752">
                <a:tc>
                  <a:txBody>
                    <a:bodyPr/>
                    <a:lstStyle/>
                    <a:p>
                      <a:pPr indent="0" marL="0">
                        <a:buNone/>
                      </a:pPr>
                      <a:r>
                        <a:rPr lang="en-US" sz="1400" b="1" dirty="0">
                          <a:solidFill>
                            <a:schemeClr val="accent3"/>
                          </a:solidFill>
                        </a:rPr>
                        <a:t>SR-14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Devices fail safe: offline siren keeps manual trigger; gauges buffer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F2, F5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200" dirty="0">
                <a:solidFill>
                  <a:schemeClr val="accent6"/>
                </a:solidFill>
              </a:rPr>
              <a:t>Higher verification rigour: each SR has a unit / property test and an end-to-end scenario test; changes need two reviewers, one of them the project lead.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Security and privacy requirements</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5349240" cy="914400"/>
        </p:xfrm>
        <a:graphic>
          <a:graphicData uri="http://schemas.openxmlformats.org/drawingml/2006/table">
            <a:tbl>
              <a:tblPr/>
              <a:tblGrid>
                <a:gridCol w="960120"/>
                <a:gridCol w="4389120"/>
              </a:tblGrid>
              <a:tr h="384048">
                <a:tc>
                  <a:txBody>
                    <a:bodyPr/>
                    <a:lstStyle/>
                    <a:p>
                      <a:pPr indent="0" marL="0">
                        <a:buNone/>
                      </a:pPr>
                      <a:r>
                        <a:rPr lang="en-US" sz="1400" b="1" dirty="0">
                          <a:solidFill>
                            <a:schemeClr val="bg1"/>
                          </a:solidFill>
                        </a:rPr>
                        <a:t>Security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384048">
                <a:tc>
                  <a:txBody>
                    <a:bodyPr/>
                    <a:lstStyle/>
                    <a:p>
                      <a:pPr indent="0" marL="0">
                        <a:buNone/>
                      </a:pPr>
                      <a:r>
                        <a:rPr lang="en-US" sz="1400" b="1" dirty="0">
                          <a:solidFill>
                            <a:schemeClr val="accent1"/>
                          </a:solidFill>
                        </a:rPr>
                        <a:t>SEC-01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MFA (TOTP) for operators and admins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84048">
                <a:tc>
                  <a:txBody>
                    <a:bodyPr/>
                    <a:lstStyle/>
                    <a:p>
                      <a:pPr indent="0" marL="0">
                        <a:buNone/>
                      </a:pPr>
                      <a:r>
                        <a:rPr lang="en-US" sz="1400" b="1" dirty="0">
                          <a:solidFill>
                            <a:schemeClr val="accent1"/>
                          </a:solidFill>
                        </a:rPr>
                        <a:t>SEC-02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Authorization in API and database RLS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accent1"/>
                          </a:solidFill>
                        </a:rPr>
                        <a:t>SEC-03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TLS 1.2+; secrets never in Git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84048">
                <a:tc>
                  <a:txBody>
                    <a:bodyPr/>
                    <a:lstStyle/>
                    <a:p>
                      <a:pPr indent="0" marL="0">
                        <a:buNone/>
                      </a:pPr>
                      <a:r>
                        <a:rPr lang="en-US" sz="1400" b="1" dirty="0">
                          <a:solidFill>
                            <a:schemeClr val="accent1"/>
                          </a:solidFill>
                        </a:rPr>
                        <a:t>SEC-04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Separate admin and operator roles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accent1"/>
                          </a:solidFill>
                        </a:rPr>
                        <a:t>SEC-05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 unauthenticated warning actions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84048">
                <a:tc>
                  <a:txBody>
                    <a:bodyPr/>
                    <a:lstStyle/>
                    <a:p>
                      <a:pPr indent="0" marL="0">
                        <a:buNone/>
                      </a:pPr>
                      <a:r>
                        <a:rPr lang="en-US" sz="1400" b="1" dirty="0">
                          <a:solidFill>
                            <a:schemeClr val="accent1"/>
                          </a:solidFill>
                        </a:rPr>
                        <a:t>SEC-06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Rate-limited, unverified reports never trigger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accent1"/>
                          </a:solidFill>
                        </a:rPr>
                        <a:t>SEC-07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Login throttling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84048">
                <a:tc>
                  <a:txBody>
                    <a:bodyPr/>
                    <a:lstStyle/>
                    <a:p>
                      <a:pPr indent="0" marL="0">
                        <a:buNone/>
                      </a:pPr>
                      <a:r>
                        <a:rPr lang="en-US" sz="1400" b="1" dirty="0">
                          <a:solidFill>
                            <a:schemeClr val="accent1"/>
                          </a:solidFill>
                        </a:rPr>
                        <a:t>SEC-08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Dependency scanning in CI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accent1"/>
                          </a:solidFill>
                        </a:rPr>
                        <a:t>SEC-09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Input validation, XSS encoding, safe uploads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384048">
                <a:tc>
                  <a:txBody>
                    <a:bodyPr/>
                    <a:lstStyle/>
                    <a:p>
                      <a:pPr indent="0" marL="0">
                        <a:buNone/>
                      </a:pPr>
                      <a:r>
                        <a:rPr lang="en-US" sz="1400" b="1" dirty="0">
                          <a:solidFill>
                            <a:schemeClr val="accent1"/>
                          </a:solidFill>
                        </a:rPr>
                        <a:t>SEC-10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Unique device keys; signed firmware updates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6263640" y="1280160"/>
          <a:ext cx="5349240" cy="914400"/>
        </p:xfrm>
        <a:graphic>
          <a:graphicData uri="http://schemas.openxmlformats.org/drawingml/2006/table">
            <a:tbl>
              <a:tblPr/>
              <a:tblGrid>
                <a:gridCol w="960120"/>
                <a:gridCol w="4389120"/>
              </a:tblGrid>
              <a:tr h="411480">
                <a:tc>
                  <a:txBody>
                    <a:bodyPr/>
                    <a:lstStyle/>
                    <a:p>
                      <a:pPr indent="0" marL="0">
                        <a:buNone/>
                      </a:pPr>
                      <a:r>
                        <a:rPr lang="en-US" sz="1400" b="1" dirty="0">
                          <a:solidFill>
                            <a:schemeClr val="bg1"/>
                          </a:solidFill>
                        </a:rPr>
                        <a:t>Privacy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411480">
                <a:tc>
                  <a:txBody>
                    <a:bodyPr/>
                    <a:lstStyle/>
                    <a:p>
                      <a:pPr indent="0" marL="0">
                        <a:buNone/>
                      </a:pPr>
                      <a:r>
                        <a:rPr lang="en-US" sz="1400" b="1" dirty="0">
                          <a:solidFill>
                            <a:schemeClr val="accent1"/>
                          </a:solidFill>
                        </a:rPr>
                        <a:t>PRV-01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Store only area, language, endpoint, consent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accent1"/>
                          </a:solidFill>
                        </a:rPr>
                        <a:t>PRV-02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Location used transiently unless opted in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accent1"/>
                          </a:solidFill>
                        </a:rPr>
                        <a:t>PRV-03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Phone numbers encrypted, hashed lookup</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accent1"/>
                          </a:solidFill>
                        </a:rPr>
                        <a:t>PRV-04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Disability data voluntary, scoped, deletable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accent1"/>
                          </a:solidFill>
                        </a:rPr>
                        <a:t>PRV-05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Retention: reports 90 days, subs 12 months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accent1"/>
                          </a:solidFill>
                        </a:rPr>
                        <a:t>PRV-06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Notice in every language; one-step unsubscribe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accent1"/>
                          </a:solidFill>
                        </a:rPr>
                        <a:t>PRV-07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 third-party trackers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accent1"/>
                          </a:solidFill>
                        </a:rPr>
                        <a:t>PRV-08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EXIF stripped from report photos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200" dirty="0">
                <a:solidFill>
                  <a:schemeClr val="accent6"/>
                </a:solidFill>
              </a:rPr>
              <a:t>Basis: OWASP ASVS subset, each country's data-protection law (pilot: Nepal), privacy-by-design. SEC-01, PRV-03, -05, -08 Should; rest Must.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Use cases: 13 specified in full</a:t>
            </a:r>
            <a:endParaRPr lang="en-US" sz="3200" dirty="0"/>
          </a:p>
        </p:txBody>
      </p:sp>
      <p:sp>
        <p:nvSpPr>
          <p:cNvPr id="3" name="Shape 1"/>
          <p:cNvSpPr/>
          <p:nvPr/>
        </p:nvSpPr>
        <p:spPr>
          <a:xfrm>
            <a:off x="548640" y="1280160"/>
            <a:ext cx="548640" cy="54864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680314" y="1411834"/>
            <a:ext cx="285293" cy="285293"/>
          </a:xfrm>
          <a:prstGeom prst="rect">
            <a:avLst/>
          </a:prstGeom>
        </p:spPr>
      </p:pic>
      <p:sp>
        <p:nvSpPr>
          <p:cNvPr id="5" name="Text 2"/>
          <p:cNvSpPr txBox="1"/>
          <p:nvPr/>
        </p:nvSpPr>
        <p:spPr>
          <a:xfrm>
            <a:off x="1234440" y="1371600"/>
            <a:ext cx="1837944" cy="365760"/>
          </a:xfrm>
          <a:prstGeom prst="rect">
            <a:avLst/>
          </a:prstGeom>
          <a:noFill/>
          <a:ln/>
        </p:spPr>
        <p:txBody>
          <a:bodyPr wrap="square" lIns="0" tIns="0" rIns="0" bIns="0" rtlCol="0" anchor="t"/>
          <a:lstStyle/>
          <a:p>
            <a:pPr indent="0" marL="0">
              <a:buNone/>
            </a:pPr>
            <a:r>
              <a:rPr lang="en-US" sz="1800" b="1" dirty="0">
                <a:solidFill>
                  <a:schemeClr val="tx2"/>
                </a:solidFill>
              </a:rPr>
              <a:t>Citizen</a:t>
            </a:r>
            <a:endParaRPr lang="en-US" sz="1800" dirty="0"/>
          </a:p>
        </p:txBody>
      </p:sp>
      <p:sp>
        <p:nvSpPr>
          <p:cNvPr id="6" name="Shape 3"/>
          <p:cNvSpPr/>
          <p:nvPr/>
        </p:nvSpPr>
        <p:spPr>
          <a:xfrm>
            <a:off x="548640" y="2011680"/>
            <a:ext cx="2569464" cy="640080"/>
          </a:xfrm>
          <a:prstGeom prst="roundRect">
            <a:avLst>
              <a:gd name="adj" fmla="val 11429"/>
            </a:avLst>
          </a:prstGeom>
          <a:solidFill>
            <a:schemeClr val="bg2"/>
          </a:solidFill>
          <a:ln w="12700">
            <a:solidFill>
              <a:schemeClr val="bg2"/>
            </a:solidFill>
            <a:prstDash val="solid"/>
          </a:ln>
        </p:spPr>
      </p:sp>
      <p:sp>
        <p:nvSpPr>
          <p:cNvPr id="7" name="Text 4"/>
          <p:cNvSpPr txBox="1"/>
          <p:nvPr/>
        </p:nvSpPr>
        <p:spPr>
          <a:xfrm>
            <a:off x="731520" y="2011680"/>
            <a:ext cx="2203704" cy="640080"/>
          </a:xfrm>
          <a:prstGeom prst="rect">
            <a:avLst/>
          </a:prstGeom>
          <a:noFill/>
          <a:ln/>
        </p:spPr>
        <p:txBody>
          <a:bodyPr wrap="square" lIns="0" tIns="0" rIns="0" bIns="0" rtlCol="0" anchor="ctr"/>
          <a:lstStyle/>
          <a:p>
            <a:pPr indent="0" marL="0">
              <a:buNone/>
            </a:pPr>
            <a:r>
              <a:rPr lang="en-US" sz="1400" dirty="0">
                <a:solidFill>
                  <a:schemeClr val="tx1"/>
                </a:solidFill>
              </a:rPr>
              <a:t>UC-01 Receive flood warning</a:t>
            </a:r>
            <a:endParaRPr lang="en-US" sz="1400" dirty="0"/>
          </a:p>
        </p:txBody>
      </p:sp>
      <p:sp>
        <p:nvSpPr>
          <p:cNvPr id="8" name="Shape 5"/>
          <p:cNvSpPr/>
          <p:nvPr/>
        </p:nvSpPr>
        <p:spPr>
          <a:xfrm>
            <a:off x="548640" y="2761488"/>
            <a:ext cx="2569464" cy="640080"/>
          </a:xfrm>
          <a:prstGeom prst="roundRect">
            <a:avLst>
              <a:gd name="adj" fmla="val 11429"/>
            </a:avLst>
          </a:prstGeom>
          <a:solidFill>
            <a:schemeClr val="bg2"/>
          </a:solidFill>
          <a:ln w="12700">
            <a:solidFill>
              <a:schemeClr val="bg2"/>
            </a:solidFill>
            <a:prstDash val="solid"/>
          </a:ln>
        </p:spPr>
      </p:sp>
      <p:sp>
        <p:nvSpPr>
          <p:cNvPr id="9" name="Text 6"/>
          <p:cNvSpPr txBox="1"/>
          <p:nvPr/>
        </p:nvSpPr>
        <p:spPr>
          <a:xfrm>
            <a:off x="731520" y="2761488"/>
            <a:ext cx="2203704" cy="640080"/>
          </a:xfrm>
          <a:prstGeom prst="rect">
            <a:avLst/>
          </a:prstGeom>
          <a:noFill/>
          <a:ln/>
        </p:spPr>
        <p:txBody>
          <a:bodyPr wrap="square" lIns="0" tIns="0" rIns="0" bIns="0" rtlCol="0" anchor="ctr"/>
          <a:lstStyle/>
          <a:p>
            <a:pPr indent="0" marL="0">
              <a:buNone/>
            </a:pPr>
            <a:r>
              <a:rPr lang="en-US" sz="1400" dirty="0">
                <a:solidFill>
                  <a:schemeClr val="tx1"/>
                </a:solidFill>
              </a:rPr>
              <a:t>UC-02 Check local risk level</a:t>
            </a:r>
            <a:endParaRPr lang="en-US" sz="1400" dirty="0"/>
          </a:p>
        </p:txBody>
      </p:sp>
      <p:sp>
        <p:nvSpPr>
          <p:cNvPr id="10" name="Shape 7"/>
          <p:cNvSpPr/>
          <p:nvPr/>
        </p:nvSpPr>
        <p:spPr>
          <a:xfrm>
            <a:off x="548640" y="3511296"/>
            <a:ext cx="2569464" cy="640080"/>
          </a:xfrm>
          <a:prstGeom prst="roundRect">
            <a:avLst>
              <a:gd name="adj" fmla="val 11429"/>
            </a:avLst>
          </a:prstGeom>
          <a:solidFill>
            <a:schemeClr val="bg2"/>
          </a:solidFill>
          <a:ln w="12700">
            <a:solidFill>
              <a:schemeClr val="bg2"/>
            </a:solidFill>
            <a:prstDash val="solid"/>
          </a:ln>
        </p:spPr>
      </p:sp>
      <p:sp>
        <p:nvSpPr>
          <p:cNvPr id="11" name="Text 8"/>
          <p:cNvSpPr txBox="1"/>
          <p:nvPr/>
        </p:nvSpPr>
        <p:spPr>
          <a:xfrm>
            <a:off x="731520" y="3511296"/>
            <a:ext cx="2203704" cy="640080"/>
          </a:xfrm>
          <a:prstGeom prst="rect">
            <a:avLst/>
          </a:prstGeom>
          <a:noFill/>
          <a:ln/>
        </p:spPr>
        <p:txBody>
          <a:bodyPr wrap="square" lIns="0" tIns="0" rIns="0" bIns="0" rtlCol="0" anchor="ctr"/>
          <a:lstStyle/>
          <a:p>
            <a:pPr indent="0" marL="0">
              <a:buNone/>
            </a:pPr>
            <a:r>
              <a:rPr lang="en-US" sz="1400" dirty="0">
                <a:solidFill>
                  <a:schemeClr val="tx1"/>
                </a:solidFill>
              </a:rPr>
              <a:t>UC-03 Request evacuation guidance</a:t>
            </a:r>
            <a:endParaRPr lang="en-US" sz="1400" dirty="0"/>
          </a:p>
        </p:txBody>
      </p:sp>
      <p:sp>
        <p:nvSpPr>
          <p:cNvPr id="12" name="Shape 9"/>
          <p:cNvSpPr/>
          <p:nvPr/>
        </p:nvSpPr>
        <p:spPr>
          <a:xfrm>
            <a:off x="548640" y="4261104"/>
            <a:ext cx="2569464" cy="640080"/>
          </a:xfrm>
          <a:prstGeom prst="roundRect">
            <a:avLst>
              <a:gd name="adj" fmla="val 11429"/>
            </a:avLst>
          </a:prstGeom>
          <a:solidFill>
            <a:schemeClr val="bg2"/>
          </a:solidFill>
          <a:ln w="12700">
            <a:solidFill>
              <a:schemeClr val="bg2"/>
            </a:solidFill>
            <a:prstDash val="solid"/>
          </a:ln>
        </p:spPr>
      </p:sp>
      <p:sp>
        <p:nvSpPr>
          <p:cNvPr id="13" name="Text 10"/>
          <p:cNvSpPr txBox="1"/>
          <p:nvPr/>
        </p:nvSpPr>
        <p:spPr>
          <a:xfrm>
            <a:off x="731520" y="4261104"/>
            <a:ext cx="2203704" cy="640080"/>
          </a:xfrm>
          <a:prstGeom prst="rect">
            <a:avLst/>
          </a:prstGeom>
          <a:noFill/>
          <a:ln/>
        </p:spPr>
        <p:txBody>
          <a:bodyPr wrap="square" lIns="0" tIns="0" rIns="0" bIns="0" rtlCol="0" anchor="ctr"/>
          <a:lstStyle/>
          <a:p>
            <a:pPr indent="0" marL="0">
              <a:buNone/>
            </a:pPr>
            <a:r>
              <a:rPr lang="en-US" sz="1400" dirty="0">
                <a:solidFill>
                  <a:schemeClr val="tx1"/>
                </a:solidFill>
              </a:rPr>
              <a:t>UC-04 Find nearest shelter</a:t>
            </a:r>
            <a:endParaRPr lang="en-US" sz="1400" dirty="0"/>
          </a:p>
        </p:txBody>
      </p:sp>
      <p:sp>
        <p:nvSpPr>
          <p:cNvPr id="14" name="Shape 11"/>
          <p:cNvSpPr/>
          <p:nvPr/>
        </p:nvSpPr>
        <p:spPr>
          <a:xfrm>
            <a:off x="548640" y="5010912"/>
            <a:ext cx="2569464" cy="640080"/>
          </a:xfrm>
          <a:prstGeom prst="roundRect">
            <a:avLst>
              <a:gd name="adj" fmla="val 11429"/>
            </a:avLst>
          </a:prstGeom>
          <a:solidFill>
            <a:schemeClr val="bg2"/>
          </a:solidFill>
          <a:ln w="12700">
            <a:solidFill>
              <a:schemeClr val="bg2"/>
            </a:solidFill>
            <a:prstDash val="solid"/>
          </a:ln>
        </p:spPr>
      </p:sp>
      <p:sp>
        <p:nvSpPr>
          <p:cNvPr id="15" name="Text 12"/>
          <p:cNvSpPr txBox="1"/>
          <p:nvPr/>
        </p:nvSpPr>
        <p:spPr>
          <a:xfrm>
            <a:off x="731520" y="5010912"/>
            <a:ext cx="2203704" cy="640080"/>
          </a:xfrm>
          <a:prstGeom prst="rect">
            <a:avLst/>
          </a:prstGeom>
          <a:noFill/>
          <a:ln/>
        </p:spPr>
        <p:txBody>
          <a:bodyPr wrap="square" lIns="0" tIns="0" rIns="0" bIns="0" rtlCol="0" anchor="ctr"/>
          <a:lstStyle/>
          <a:p>
            <a:pPr indent="0" marL="0">
              <a:buNone/>
            </a:pPr>
            <a:r>
              <a:rPr lang="en-US" sz="1400" dirty="0">
                <a:solidFill>
                  <a:schemeClr val="tx1"/>
                </a:solidFill>
              </a:rPr>
              <a:t>UC-05 Report flooding</a:t>
            </a:r>
            <a:endParaRPr lang="en-US" sz="1400" dirty="0"/>
          </a:p>
        </p:txBody>
      </p:sp>
      <p:sp>
        <p:nvSpPr>
          <p:cNvPr id="16" name="Shape 13"/>
          <p:cNvSpPr/>
          <p:nvPr/>
        </p:nvSpPr>
        <p:spPr>
          <a:xfrm>
            <a:off x="3392424" y="1280160"/>
            <a:ext cx="548640" cy="548640"/>
          </a:xfrm>
          <a:prstGeom prst="ellipse">
            <a:avLst/>
          </a:prstGeom>
          <a:solidFill>
            <a:schemeClr val="accent1"/>
          </a:solidFill>
          <a:ln w="12700">
            <a:solidFill>
              <a:schemeClr val="accent1"/>
            </a:solidFill>
            <a:prstDash val="solid"/>
          </a:ln>
        </p:spPr>
      </p:sp>
      <p:pic>
        <p:nvPicPr>
          <p:cNvPr id="17" name="Image 1" descr="preencoded.png">    </p:cNvPr>
          <p:cNvPicPr>
            <a:picLocks noChangeAspect="1"/>
          </p:cNvPicPr>
          <p:nvPr/>
        </p:nvPicPr>
        <p:blipFill>
          <a:blip r:embed="rId2"/>
          <a:stretch>
            <a:fillRect/>
          </a:stretch>
        </p:blipFill>
        <p:spPr>
          <a:xfrm>
            <a:off x="3524098" y="1411834"/>
            <a:ext cx="285293" cy="285293"/>
          </a:xfrm>
          <a:prstGeom prst="rect">
            <a:avLst/>
          </a:prstGeom>
        </p:spPr>
      </p:pic>
      <p:sp>
        <p:nvSpPr>
          <p:cNvPr id="18" name="Text 14"/>
          <p:cNvSpPr txBox="1"/>
          <p:nvPr/>
        </p:nvSpPr>
        <p:spPr>
          <a:xfrm>
            <a:off x="4078224" y="1371600"/>
            <a:ext cx="1837944" cy="365760"/>
          </a:xfrm>
          <a:prstGeom prst="rect">
            <a:avLst/>
          </a:prstGeom>
          <a:noFill/>
          <a:ln/>
        </p:spPr>
        <p:txBody>
          <a:bodyPr wrap="square" lIns="0" tIns="0" rIns="0" bIns="0" rtlCol="0" anchor="t"/>
          <a:lstStyle/>
          <a:p>
            <a:pPr indent="0" marL="0">
              <a:buNone/>
            </a:pPr>
            <a:r>
              <a:rPr lang="en-US" sz="1800" b="1" dirty="0">
                <a:solidFill>
                  <a:schemeClr val="tx2"/>
                </a:solidFill>
              </a:rPr>
              <a:t>Authority</a:t>
            </a:r>
            <a:endParaRPr lang="en-US" sz="1800" dirty="0"/>
          </a:p>
        </p:txBody>
      </p:sp>
      <p:sp>
        <p:nvSpPr>
          <p:cNvPr id="19" name="Shape 15"/>
          <p:cNvSpPr/>
          <p:nvPr/>
        </p:nvSpPr>
        <p:spPr>
          <a:xfrm>
            <a:off x="3392424" y="2011680"/>
            <a:ext cx="2569464" cy="640080"/>
          </a:xfrm>
          <a:prstGeom prst="roundRect">
            <a:avLst>
              <a:gd name="adj" fmla="val 11429"/>
            </a:avLst>
          </a:prstGeom>
          <a:solidFill>
            <a:schemeClr val="bg2"/>
          </a:solidFill>
          <a:ln w="12700">
            <a:solidFill>
              <a:schemeClr val="bg2"/>
            </a:solidFill>
            <a:prstDash val="solid"/>
          </a:ln>
        </p:spPr>
      </p:sp>
      <p:sp>
        <p:nvSpPr>
          <p:cNvPr id="20" name="Text 16"/>
          <p:cNvSpPr txBox="1"/>
          <p:nvPr/>
        </p:nvSpPr>
        <p:spPr>
          <a:xfrm>
            <a:off x="3575304" y="2011680"/>
            <a:ext cx="2203704" cy="640080"/>
          </a:xfrm>
          <a:prstGeom prst="rect">
            <a:avLst/>
          </a:prstGeom>
          <a:noFill/>
          <a:ln/>
        </p:spPr>
        <p:txBody>
          <a:bodyPr wrap="square" lIns="0" tIns="0" rIns="0" bIns="0" rtlCol="0" anchor="ctr"/>
          <a:lstStyle/>
          <a:p>
            <a:pPr indent="0" marL="0">
              <a:buNone/>
            </a:pPr>
            <a:r>
              <a:rPr lang="en-US" sz="1400" dirty="0">
                <a:solidFill>
                  <a:schemeClr val="tx1"/>
                </a:solidFill>
              </a:rPr>
              <a:t>UC-06 Monitor flood risk</a:t>
            </a:r>
            <a:endParaRPr lang="en-US" sz="1400" dirty="0"/>
          </a:p>
        </p:txBody>
      </p:sp>
      <p:sp>
        <p:nvSpPr>
          <p:cNvPr id="21" name="Shape 17"/>
          <p:cNvSpPr/>
          <p:nvPr/>
        </p:nvSpPr>
        <p:spPr>
          <a:xfrm>
            <a:off x="3392424" y="2761488"/>
            <a:ext cx="2569464" cy="640080"/>
          </a:xfrm>
          <a:prstGeom prst="roundRect">
            <a:avLst>
              <a:gd name="adj" fmla="val 11429"/>
            </a:avLst>
          </a:prstGeom>
          <a:solidFill>
            <a:schemeClr val="bg2"/>
          </a:solidFill>
          <a:ln w="12700">
            <a:solidFill>
              <a:schemeClr val="bg2"/>
            </a:solidFill>
            <a:prstDash val="solid"/>
          </a:ln>
        </p:spPr>
      </p:sp>
      <p:sp>
        <p:nvSpPr>
          <p:cNvPr id="22" name="Text 18"/>
          <p:cNvSpPr txBox="1"/>
          <p:nvPr/>
        </p:nvSpPr>
        <p:spPr>
          <a:xfrm>
            <a:off x="3575304" y="2761488"/>
            <a:ext cx="2203704" cy="640080"/>
          </a:xfrm>
          <a:prstGeom prst="rect">
            <a:avLst/>
          </a:prstGeom>
          <a:noFill/>
          <a:ln/>
        </p:spPr>
        <p:txBody>
          <a:bodyPr wrap="square" lIns="0" tIns="0" rIns="0" bIns="0" rtlCol="0" anchor="ctr"/>
          <a:lstStyle/>
          <a:p>
            <a:pPr indent="0" marL="0">
              <a:buNone/>
            </a:pPr>
            <a:r>
              <a:rPr lang="en-US" sz="1400" dirty="0">
                <a:solidFill>
                  <a:schemeClr val="tx1"/>
                </a:solidFill>
              </a:rPr>
              <a:t>UC-07 Issue emergency warning</a:t>
            </a:r>
            <a:endParaRPr lang="en-US" sz="1400" dirty="0"/>
          </a:p>
        </p:txBody>
      </p:sp>
      <p:sp>
        <p:nvSpPr>
          <p:cNvPr id="23" name="Shape 19"/>
          <p:cNvSpPr/>
          <p:nvPr/>
        </p:nvSpPr>
        <p:spPr>
          <a:xfrm>
            <a:off x="3392424" y="3511296"/>
            <a:ext cx="2569464" cy="640080"/>
          </a:xfrm>
          <a:prstGeom prst="roundRect">
            <a:avLst>
              <a:gd name="adj" fmla="val 11429"/>
            </a:avLst>
          </a:prstGeom>
          <a:solidFill>
            <a:schemeClr val="bg2"/>
          </a:solidFill>
          <a:ln w="12700">
            <a:solidFill>
              <a:schemeClr val="bg2"/>
            </a:solidFill>
            <a:prstDash val="solid"/>
          </a:ln>
        </p:spPr>
      </p:sp>
      <p:sp>
        <p:nvSpPr>
          <p:cNvPr id="24" name="Text 20"/>
          <p:cNvSpPr txBox="1"/>
          <p:nvPr/>
        </p:nvSpPr>
        <p:spPr>
          <a:xfrm>
            <a:off x="3575304" y="3511296"/>
            <a:ext cx="2203704" cy="640080"/>
          </a:xfrm>
          <a:prstGeom prst="rect">
            <a:avLst/>
          </a:prstGeom>
          <a:noFill/>
          <a:ln/>
        </p:spPr>
        <p:txBody>
          <a:bodyPr wrap="square" lIns="0" tIns="0" rIns="0" bIns="0" rtlCol="0" anchor="ctr"/>
          <a:lstStyle/>
          <a:p>
            <a:pPr indent="0" marL="0">
              <a:buNone/>
            </a:pPr>
            <a:r>
              <a:rPr lang="en-US" sz="1400" dirty="0">
                <a:solidFill>
                  <a:schemeClr val="tx1"/>
                </a:solidFill>
              </a:rPr>
              <a:t>UC-08 Update shelter availability</a:t>
            </a:r>
            <a:endParaRPr lang="en-US" sz="1400" dirty="0"/>
          </a:p>
        </p:txBody>
      </p:sp>
      <p:sp>
        <p:nvSpPr>
          <p:cNvPr id="25" name="Shape 21"/>
          <p:cNvSpPr/>
          <p:nvPr/>
        </p:nvSpPr>
        <p:spPr>
          <a:xfrm>
            <a:off x="6236208" y="1280160"/>
            <a:ext cx="548640" cy="548640"/>
          </a:xfrm>
          <a:prstGeom prst="ellipse">
            <a:avLst/>
          </a:prstGeom>
          <a:solidFill>
            <a:schemeClr val="accent1"/>
          </a:solidFill>
          <a:ln w="12700">
            <a:solidFill>
              <a:schemeClr val="accent1"/>
            </a:solidFill>
            <a:prstDash val="solid"/>
          </a:ln>
        </p:spPr>
      </p:sp>
      <p:pic>
        <p:nvPicPr>
          <p:cNvPr id="26" name="Image 2" descr="preencoded.png">    </p:cNvPr>
          <p:cNvPicPr>
            <a:picLocks noChangeAspect="1"/>
          </p:cNvPicPr>
          <p:nvPr/>
        </p:nvPicPr>
        <p:blipFill>
          <a:blip r:embed="rId3"/>
          <a:stretch>
            <a:fillRect/>
          </a:stretch>
        </p:blipFill>
        <p:spPr>
          <a:xfrm>
            <a:off x="6367882" y="1411834"/>
            <a:ext cx="285293" cy="285293"/>
          </a:xfrm>
          <a:prstGeom prst="rect">
            <a:avLst/>
          </a:prstGeom>
        </p:spPr>
      </p:pic>
      <p:sp>
        <p:nvSpPr>
          <p:cNvPr id="27" name="Text 22"/>
          <p:cNvSpPr txBox="1"/>
          <p:nvPr/>
        </p:nvSpPr>
        <p:spPr>
          <a:xfrm>
            <a:off x="6922008" y="1371600"/>
            <a:ext cx="1837944" cy="365760"/>
          </a:xfrm>
          <a:prstGeom prst="rect">
            <a:avLst/>
          </a:prstGeom>
          <a:noFill/>
          <a:ln/>
        </p:spPr>
        <p:txBody>
          <a:bodyPr wrap="square" lIns="0" tIns="0" rIns="0" bIns="0" rtlCol="0" anchor="t"/>
          <a:lstStyle/>
          <a:p>
            <a:pPr indent="0" marL="0">
              <a:buNone/>
            </a:pPr>
            <a:r>
              <a:rPr lang="en-US" sz="1800" b="1" dirty="0">
                <a:solidFill>
                  <a:schemeClr val="tx2"/>
                </a:solidFill>
              </a:rPr>
              <a:t>System</a:t>
            </a:r>
            <a:endParaRPr lang="en-US" sz="1800" dirty="0"/>
          </a:p>
        </p:txBody>
      </p:sp>
      <p:sp>
        <p:nvSpPr>
          <p:cNvPr id="28" name="Shape 23"/>
          <p:cNvSpPr/>
          <p:nvPr/>
        </p:nvSpPr>
        <p:spPr>
          <a:xfrm>
            <a:off x="6236208" y="2011680"/>
            <a:ext cx="2569464" cy="640080"/>
          </a:xfrm>
          <a:prstGeom prst="roundRect">
            <a:avLst>
              <a:gd name="adj" fmla="val 11429"/>
            </a:avLst>
          </a:prstGeom>
          <a:solidFill>
            <a:schemeClr val="bg2"/>
          </a:solidFill>
          <a:ln w="12700">
            <a:solidFill>
              <a:schemeClr val="bg2"/>
            </a:solidFill>
            <a:prstDash val="solid"/>
          </a:ln>
        </p:spPr>
      </p:sp>
      <p:sp>
        <p:nvSpPr>
          <p:cNvPr id="29" name="Text 24"/>
          <p:cNvSpPr txBox="1"/>
          <p:nvPr/>
        </p:nvSpPr>
        <p:spPr>
          <a:xfrm>
            <a:off x="6419088" y="2011680"/>
            <a:ext cx="2203704" cy="640080"/>
          </a:xfrm>
          <a:prstGeom prst="rect">
            <a:avLst/>
          </a:prstGeom>
          <a:noFill/>
          <a:ln/>
        </p:spPr>
        <p:txBody>
          <a:bodyPr wrap="square" lIns="0" tIns="0" rIns="0" bIns="0" rtlCol="0" anchor="ctr"/>
          <a:lstStyle/>
          <a:p>
            <a:pPr indent="0" marL="0">
              <a:buNone/>
            </a:pPr>
            <a:r>
              <a:rPr lang="en-US" sz="1400" dirty="0">
                <a:solidFill>
                  <a:schemeClr val="tx1"/>
                </a:solidFill>
              </a:rPr>
              <a:t>UC-09 Detect abnormal data</a:t>
            </a:r>
            <a:endParaRPr lang="en-US" sz="1400" dirty="0"/>
          </a:p>
        </p:txBody>
      </p:sp>
      <p:sp>
        <p:nvSpPr>
          <p:cNvPr id="30" name="Shape 25"/>
          <p:cNvSpPr/>
          <p:nvPr/>
        </p:nvSpPr>
        <p:spPr>
          <a:xfrm>
            <a:off x="6236208" y="2761488"/>
            <a:ext cx="2569464" cy="640080"/>
          </a:xfrm>
          <a:prstGeom prst="roundRect">
            <a:avLst>
              <a:gd name="adj" fmla="val 11429"/>
            </a:avLst>
          </a:prstGeom>
          <a:solidFill>
            <a:schemeClr val="bg2"/>
          </a:solidFill>
          <a:ln w="12700">
            <a:solidFill>
              <a:schemeClr val="bg2"/>
            </a:solidFill>
            <a:prstDash val="solid"/>
          </a:ln>
        </p:spPr>
      </p:sp>
      <p:sp>
        <p:nvSpPr>
          <p:cNvPr id="31" name="Text 26"/>
          <p:cNvSpPr txBox="1"/>
          <p:nvPr/>
        </p:nvSpPr>
        <p:spPr>
          <a:xfrm>
            <a:off x="6419088" y="2761488"/>
            <a:ext cx="2203704" cy="640080"/>
          </a:xfrm>
          <a:prstGeom prst="rect">
            <a:avLst/>
          </a:prstGeom>
          <a:noFill/>
          <a:ln/>
        </p:spPr>
        <p:txBody>
          <a:bodyPr wrap="square" lIns="0" tIns="0" rIns="0" bIns="0" rtlCol="0" anchor="ctr"/>
          <a:lstStyle/>
          <a:p>
            <a:pPr indent="0" marL="0">
              <a:buNone/>
            </a:pPr>
            <a:r>
              <a:rPr lang="en-US" sz="1400" dirty="0">
                <a:solidFill>
                  <a:schemeClr val="tx1"/>
                </a:solidFill>
              </a:rPr>
              <a:t>UC-10 Generate risk assessment</a:t>
            </a:r>
            <a:endParaRPr lang="en-US" sz="1400" dirty="0"/>
          </a:p>
        </p:txBody>
      </p:sp>
      <p:sp>
        <p:nvSpPr>
          <p:cNvPr id="32" name="Shape 27"/>
          <p:cNvSpPr/>
          <p:nvPr/>
        </p:nvSpPr>
        <p:spPr>
          <a:xfrm>
            <a:off x="6236208" y="3511296"/>
            <a:ext cx="2569464" cy="640080"/>
          </a:xfrm>
          <a:prstGeom prst="roundRect">
            <a:avLst>
              <a:gd name="adj" fmla="val 11429"/>
            </a:avLst>
          </a:prstGeom>
          <a:solidFill>
            <a:schemeClr val="bg2"/>
          </a:solidFill>
          <a:ln w="12700">
            <a:solidFill>
              <a:schemeClr val="bg2"/>
            </a:solidFill>
            <a:prstDash val="solid"/>
          </a:ln>
        </p:spPr>
      </p:sp>
      <p:sp>
        <p:nvSpPr>
          <p:cNvPr id="33" name="Text 28"/>
          <p:cNvSpPr txBox="1"/>
          <p:nvPr/>
        </p:nvSpPr>
        <p:spPr>
          <a:xfrm>
            <a:off x="6419088" y="3511296"/>
            <a:ext cx="2203704" cy="640080"/>
          </a:xfrm>
          <a:prstGeom prst="rect">
            <a:avLst/>
          </a:prstGeom>
          <a:noFill/>
          <a:ln/>
        </p:spPr>
        <p:txBody>
          <a:bodyPr wrap="square" lIns="0" tIns="0" rIns="0" bIns="0" rtlCol="0" anchor="ctr"/>
          <a:lstStyle/>
          <a:p>
            <a:pPr indent="0" marL="0">
              <a:buNone/>
            </a:pPr>
            <a:r>
              <a:rPr lang="en-US" sz="1400" dirty="0">
                <a:solidFill>
                  <a:schemeClr val="tx1"/>
                </a:solidFill>
              </a:rPr>
              <a:t>UC-11 Handle unavailable data</a:t>
            </a:r>
            <a:endParaRPr lang="en-US" sz="1400" dirty="0"/>
          </a:p>
        </p:txBody>
      </p:sp>
      <p:sp>
        <p:nvSpPr>
          <p:cNvPr id="34" name="Shape 29"/>
          <p:cNvSpPr/>
          <p:nvPr/>
        </p:nvSpPr>
        <p:spPr>
          <a:xfrm>
            <a:off x="6236208" y="4261104"/>
            <a:ext cx="2569464" cy="640080"/>
          </a:xfrm>
          <a:prstGeom prst="roundRect">
            <a:avLst>
              <a:gd name="adj" fmla="val 11429"/>
            </a:avLst>
          </a:prstGeom>
          <a:solidFill>
            <a:schemeClr val="bg2"/>
          </a:solidFill>
          <a:ln w="12700">
            <a:solidFill>
              <a:schemeClr val="bg2"/>
            </a:solidFill>
            <a:prstDash val="solid"/>
          </a:ln>
        </p:spPr>
      </p:sp>
      <p:sp>
        <p:nvSpPr>
          <p:cNvPr id="35" name="Text 30"/>
          <p:cNvSpPr txBox="1"/>
          <p:nvPr/>
        </p:nvSpPr>
        <p:spPr>
          <a:xfrm>
            <a:off x="6419088" y="4261104"/>
            <a:ext cx="2203704" cy="640080"/>
          </a:xfrm>
          <a:prstGeom prst="rect">
            <a:avLst/>
          </a:prstGeom>
          <a:noFill/>
          <a:ln/>
        </p:spPr>
        <p:txBody>
          <a:bodyPr wrap="square" lIns="0" tIns="0" rIns="0" bIns="0" rtlCol="0" anchor="ctr"/>
          <a:lstStyle/>
          <a:p>
            <a:pPr indent="0" marL="0">
              <a:buNone/>
            </a:pPr>
            <a:r>
              <a:rPr lang="en-US" sz="1400" dirty="0">
                <a:solidFill>
                  <a:schemeClr val="tx1"/>
                </a:solidFill>
              </a:rPr>
              <a:t>UC-12 Handle conflicting data</a:t>
            </a:r>
            <a:endParaRPr lang="en-US" sz="1400" dirty="0"/>
          </a:p>
        </p:txBody>
      </p:sp>
      <p:sp>
        <p:nvSpPr>
          <p:cNvPr id="36" name="Shape 31"/>
          <p:cNvSpPr/>
          <p:nvPr/>
        </p:nvSpPr>
        <p:spPr>
          <a:xfrm>
            <a:off x="9079992" y="1280160"/>
            <a:ext cx="548640" cy="548640"/>
          </a:xfrm>
          <a:prstGeom prst="ellipse">
            <a:avLst/>
          </a:prstGeom>
          <a:solidFill>
            <a:schemeClr val="accent1"/>
          </a:solidFill>
          <a:ln w="12700">
            <a:solidFill>
              <a:schemeClr val="accent1"/>
            </a:solidFill>
            <a:prstDash val="solid"/>
          </a:ln>
        </p:spPr>
      </p:sp>
      <p:pic>
        <p:nvPicPr>
          <p:cNvPr id="37" name="Image 3" descr="preencoded.png">    </p:cNvPr>
          <p:cNvPicPr>
            <a:picLocks noChangeAspect="1"/>
          </p:cNvPicPr>
          <p:nvPr/>
        </p:nvPicPr>
        <p:blipFill>
          <a:blip r:embed="rId4"/>
          <a:stretch>
            <a:fillRect/>
          </a:stretch>
        </p:blipFill>
        <p:spPr>
          <a:xfrm>
            <a:off x="9211666" y="1411834"/>
            <a:ext cx="285293" cy="285293"/>
          </a:xfrm>
          <a:prstGeom prst="rect">
            <a:avLst/>
          </a:prstGeom>
        </p:spPr>
      </p:pic>
      <p:sp>
        <p:nvSpPr>
          <p:cNvPr id="38" name="Text 32"/>
          <p:cNvSpPr txBox="1"/>
          <p:nvPr/>
        </p:nvSpPr>
        <p:spPr>
          <a:xfrm>
            <a:off x="9765792" y="1371600"/>
            <a:ext cx="1837944" cy="365760"/>
          </a:xfrm>
          <a:prstGeom prst="rect">
            <a:avLst/>
          </a:prstGeom>
          <a:noFill/>
          <a:ln/>
        </p:spPr>
        <p:txBody>
          <a:bodyPr wrap="square" lIns="0" tIns="0" rIns="0" bIns="0" rtlCol="0" anchor="t"/>
          <a:lstStyle/>
          <a:p>
            <a:pPr indent="0" marL="0">
              <a:buNone/>
            </a:pPr>
            <a:r>
              <a:rPr lang="en-US" sz="1800" b="1" dirty="0">
                <a:solidFill>
                  <a:schemeClr val="tx2"/>
                </a:solidFill>
              </a:rPr>
              <a:t>Administrator</a:t>
            </a:r>
            <a:endParaRPr lang="en-US" sz="1800" dirty="0"/>
          </a:p>
        </p:txBody>
      </p:sp>
      <p:sp>
        <p:nvSpPr>
          <p:cNvPr id="39" name="Shape 33"/>
          <p:cNvSpPr/>
          <p:nvPr/>
        </p:nvSpPr>
        <p:spPr>
          <a:xfrm>
            <a:off x="9079992" y="2011680"/>
            <a:ext cx="2569464" cy="640080"/>
          </a:xfrm>
          <a:prstGeom prst="roundRect">
            <a:avLst>
              <a:gd name="adj" fmla="val 11429"/>
            </a:avLst>
          </a:prstGeom>
          <a:solidFill>
            <a:schemeClr val="bg2"/>
          </a:solidFill>
          <a:ln w="12700">
            <a:solidFill>
              <a:schemeClr val="bg2"/>
            </a:solidFill>
            <a:prstDash val="solid"/>
          </a:ln>
        </p:spPr>
      </p:sp>
      <p:sp>
        <p:nvSpPr>
          <p:cNvPr id="40" name="Text 34"/>
          <p:cNvSpPr txBox="1"/>
          <p:nvPr/>
        </p:nvSpPr>
        <p:spPr>
          <a:xfrm>
            <a:off x="9262872" y="2011680"/>
            <a:ext cx="2203704" cy="640080"/>
          </a:xfrm>
          <a:prstGeom prst="rect">
            <a:avLst/>
          </a:prstGeom>
          <a:noFill/>
          <a:ln/>
        </p:spPr>
        <p:txBody>
          <a:bodyPr wrap="square" lIns="0" tIns="0" rIns="0" bIns="0" rtlCol="0" anchor="ctr"/>
          <a:lstStyle/>
          <a:p>
            <a:pPr indent="0" marL="0">
              <a:buNone/>
            </a:pPr>
            <a:r>
              <a:rPr lang="en-US" sz="1400" dirty="0">
                <a:solidFill>
                  <a:schemeClr val="tx1"/>
                </a:solidFill>
              </a:rPr>
              <a:t>UC-13 Configure a region</a:t>
            </a:r>
            <a:endParaRPr lang="en-US" sz="1400" dirty="0"/>
          </a:p>
        </p:txBody>
      </p:sp>
      <p:sp>
        <p:nvSpPr>
          <p:cNvPr id="41" name="Text 35"/>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200" dirty="0">
                <a:solidFill>
                  <a:schemeClr val="accent6"/>
                </a:solidFill>
              </a:rPr>
              <a:t>Each use case: actor · preconditions · trigger · main flow · alternative flows · exception flows · postconditions · related requirements (docs/05).</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UC-07  Authority issues an emergency warning</a:t>
            </a:r>
            <a:endParaRPr lang="en-US" sz="3200" dirty="0"/>
          </a:p>
        </p:txBody>
      </p:sp>
      <p:sp>
        <p:nvSpPr>
          <p:cNvPr id="3" name="Shape 1"/>
          <p:cNvSpPr/>
          <p:nvPr/>
        </p:nvSpPr>
        <p:spPr>
          <a:xfrm>
            <a:off x="548640" y="1234440"/>
            <a:ext cx="3566160" cy="868680"/>
          </a:xfrm>
          <a:prstGeom prst="roundRect">
            <a:avLst>
              <a:gd name="adj" fmla="val 8421"/>
            </a:avLst>
          </a:prstGeom>
          <a:solidFill>
            <a:schemeClr val="bg2"/>
          </a:solidFill>
          <a:ln w="12700">
            <a:solidFill>
              <a:schemeClr val="bg2"/>
            </a:solidFill>
            <a:prstDash val="solid"/>
          </a:ln>
        </p:spPr>
      </p:sp>
      <p:sp>
        <p:nvSpPr>
          <p:cNvPr id="4" name="Text 2"/>
          <p:cNvSpPr txBox="1"/>
          <p:nvPr/>
        </p:nvSpPr>
        <p:spPr>
          <a:xfrm>
            <a:off x="731520" y="1298448"/>
            <a:ext cx="3200400" cy="274320"/>
          </a:xfrm>
          <a:prstGeom prst="rect">
            <a:avLst/>
          </a:prstGeom>
          <a:noFill/>
          <a:ln/>
        </p:spPr>
        <p:txBody>
          <a:bodyPr wrap="square" lIns="0" tIns="0" rIns="0" bIns="0" rtlCol="0" anchor="t"/>
          <a:lstStyle/>
          <a:p>
            <a:pPr indent="0" marL="0">
              <a:buNone/>
            </a:pPr>
            <a:r>
              <a:rPr lang="en-US" sz="1200" b="1" dirty="0">
                <a:solidFill>
                  <a:schemeClr val="accent1"/>
                </a:solidFill>
              </a:rPr>
              <a:t>Actor</a:t>
            </a:r>
            <a:endParaRPr lang="en-US" sz="1200" dirty="0"/>
          </a:p>
        </p:txBody>
      </p:sp>
      <p:sp>
        <p:nvSpPr>
          <p:cNvPr id="5" name="Text 3"/>
          <p:cNvSpPr txBox="1"/>
          <p:nvPr/>
        </p:nvSpPr>
        <p:spPr>
          <a:xfrm>
            <a:off x="731520" y="1572768"/>
            <a:ext cx="3200400" cy="502920"/>
          </a:xfrm>
          <a:prstGeom prst="rect">
            <a:avLst/>
          </a:prstGeom>
          <a:noFill/>
          <a:ln/>
        </p:spPr>
        <p:txBody>
          <a:bodyPr wrap="square" lIns="0" tIns="0" rIns="0" bIns="0" rtlCol="0" anchor="t"/>
          <a:lstStyle/>
          <a:p>
            <a:pPr indent="0" marL="0">
              <a:buNone/>
            </a:pPr>
            <a:r>
              <a:rPr lang="en-US" sz="1400" dirty="0">
                <a:solidFill>
                  <a:schemeClr val="tx1"/>
                </a:solidFill>
              </a:rPr>
              <a:t>Operator (initiator), approver(s)</a:t>
            </a:r>
            <a:endParaRPr lang="en-US" sz="1400" dirty="0"/>
          </a:p>
        </p:txBody>
      </p:sp>
      <p:sp>
        <p:nvSpPr>
          <p:cNvPr id="6" name="Shape 4"/>
          <p:cNvSpPr/>
          <p:nvPr/>
        </p:nvSpPr>
        <p:spPr>
          <a:xfrm>
            <a:off x="4297680" y="1234440"/>
            <a:ext cx="3566160" cy="868680"/>
          </a:xfrm>
          <a:prstGeom prst="roundRect">
            <a:avLst>
              <a:gd name="adj" fmla="val 8421"/>
            </a:avLst>
          </a:prstGeom>
          <a:solidFill>
            <a:schemeClr val="bg2"/>
          </a:solidFill>
          <a:ln w="12700">
            <a:solidFill>
              <a:schemeClr val="bg2"/>
            </a:solidFill>
            <a:prstDash val="solid"/>
          </a:ln>
        </p:spPr>
      </p:sp>
      <p:sp>
        <p:nvSpPr>
          <p:cNvPr id="7" name="Text 5"/>
          <p:cNvSpPr txBox="1"/>
          <p:nvPr/>
        </p:nvSpPr>
        <p:spPr>
          <a:xfrm>
            <a:off x="4480560" y="1298448"/>
            <a:ext cx="3200400" cy="274320"/>
          </a:xfrm>
          <a:prstGeom prst="rect">
            <a:avLst/>
          </a:prstGeom>
          <a:noFill/>
          <a:ln/>
        </p:spPr>
        <p:txBody>
          <a:bodyPr wrap="square" lIns="0" tIns="0" rIns="0" bIns="0" rtlCol="0" anchor="t"/>
          <a:lstStyle/>
          <a:p>
            <a:pPr indent="0" marL="0">
              <a:buNone/>
            </a:pPr>
            <a:r>
              <a:rPr lang="en-US" sz="1200" b="1" dirty="0">
                <a:solidFill>
                  <a:schemeClr val="accent1"/>
                </a:solidFill>
              </a:rPr>
              <a:t>Precondition</a:t>
            </a:r>
            <a:endParaRPr lang="en-US" sz="1200" dirty="0"/>
          </a:p>
        </p:txBody>
      </p:sp>
      <p:sp>
        <p:nvSpPr>
          <p:cNvPr id="8" name="Text 6"/>
          <p:cNvSpPr txBox="1"/>
          <p:nvPr/>
        </p:nvSpPr>
        <p:spPr>
          <a:xfrm>
            <a:off x="4480560" y="1572768"/>
            <a:ext cx="3200400" cy="502920"/>
          </a:xfrm>
          <a:prstGeom prst="rect">
            <a:avLst/>
          </a:prstGeom>
          <a:noFill/>
          <a:ln/>
        </p:spPr>
        <p:txBody>
          <a:bodyPr wrap="square" lIns="0" tIns="0" rIns="0" bIns="0" rtlCol="0" anchor="t"/>
          <a:lstStyle/>
          <a:p>
            <a:pPr indent="0" marL="0">
              <a:buNone/>
            </a:pPr>
            <a:r>
              <a:rPr lang="en-US" sz="1400" dirty="0">
                <a:solidFill>
                  <a:schemeClr val="tx1"/>
                </a:solidFill>
              </a:rPr>
              <a:t>MFA session; scope covers areas</a:t>
            </a:r>
            <a:endParaRPr lang="en-US" sz="1400" dirty="0"/>
          </a:p>
        </p:txBody>
      </p:sp>
      <p:sp>
        <p:nvSpPr>
          <p:cNvPr id="9" name="Shape 7"/>
          <p:cNvSpPr/>
          <p:nvPr/>
        </p:nvSpPr>
        <p:spPr>
          <a:xfrm>
            <a:off x="8046720" y="1234440"/>
            <a:ext cx="3566160" cy="868680"/>
          </a:xfrm>
          <a:prstGeom prst="roundRect">
            <a:avLst>
              <a:gd name="adj" fmla="val 8421"/>
            </a:avLst>
          </a:prstGeom>
          <a:solidFill>
            <a:schemeClr val="bg2"/>
          </a:solidFill>
          <a:ln w="12700">
            <a:solidFill>
              <a:schemeClr val="bg2"/>
            </a:solidFill>
            <a:prstDash val="solid"/>
          </a:ln>
        </p:spPr>
      </p:sp>
      <p:sp>
        <p:nvSpPr>
          <p:cNvPr id="10" name="Text 8"/>
          <p:cNvSpPr txBox="1"/>
          <p:nvPr/>
        </p:nvSpPr>
        <p:spPr>
          <a:xfrm>
            <a:off x="8229600" y="1298448"/>
            <a:ext cx="3200400" cy="274320"/>
          </a:xfrm>
          <a:prstGeom prst="rect">
            <a:avLst/>
          </a:prstGeom>
          <a:noFill/>
          <a:ln/>
        </p:spPr>
        <p:txBody>
          <a:bodyPr wrap="square" lIns="0" tIns="0" rIns="0" bIns="0" rtlCol="0" anchor="t"/>
          <a:lstStyle/>
          <a:p>
            <a:pPr indent="0" marL="0">
              <a:buNone/>
            </a:pPr>
            <a:r>
              <a:rPr lang="en-US" sz="1200" b="1" dirty="0">
                <a:solidFill>
                  <a:schemeClr val="accent1"/>
                </a:solidFill>
              </a:rPr>
              <a:t>Trigger</a:t>
            </a:r>
            <a:endParaRPr lang="en-US" sz="1200" dirty="0"/>
          </a:p>
        </p:txBody>
      </p:sp>
      <p:sp>
        <p:nvSpPr>
          <p:cNvPr id="11" name="Text 9"/>
          <p:cNvSpPr txBox="1"/>
          <p:nvPr/>
        </p:nvSpPr>
        <p:spPr>
          <a:xfrm>
            <a:off x="8229600" y="1572768"/>
            <a:ext cx="3200400" cy="502920"/>
          </a:xfrm>
          <a:prstGeom prst="rect">
            <a:avLst/>
          </a:prstGeom>
          <a:noFill/>
          <a:ln/>
        </p:spPr>
        <p:txBody>
          <a:bodyPr wrap="square" lIns="0" tIns="0" rIns="0" bIns="0" rtlCol="0" anchor="t"/>
          <a:lstStyle/>
          <a:p>
            <a:pPr indent="0" marL="0">
              <a:buNone/>
            </a:pPr>
            <a:r>
              <a:rPr lang="en-US" sz="1400" dirty="0">
                <a:solidFill>
                  <a:schemeClr val="tx1"/>
                </a:solidFill>
              </a:rPr>
              <a:t>Proposal, or local knowledge of danger</a:t>
            </a:r>
            <a:endParaRPr lang="en-US" sz="1400" dirty="0"/>
          </a:p>
        </p:txBody>
      </p:sp>
      <p:sp>
        <p:nvSpPr>
          <p:cNvPr id="12" name="Text 10"/>
          <p:cNvSpPr txBox="1"/>
          <p:nvPr/>
        </p:nvSpPr>
        <p:spPr>
          <a:xfrm>
            <a:off x="548640" y="2240280"/>
            <a:ext cx="2743200" cy="320040"/>
          </a:xfrm>
          <a:prstGeom prst="rect">
            <a:avLst/>
          </a:prstGeom>
          <a:noFill/>
          <a:ln/>
        </p:spPr>
        <p:txBody>
          <a:bodyPr wrap="square" lIns="0" tIns="0" rIns="0" bIns="0" rtlCol="0" anchor="t"/>
          <a:lstStyle/>
          <a:p>
            <a:pPr indent="0" marL="0">
              <a:buNone/>
            </a:pPr>
            <a:r>
              <a:rPr lang="en-US" sz="1600" b="1" dirty="0">
                <a:solidFill>
                  <a:schemeClr val="tx2"/>
                </a:solidFill>
              </a:rPr>
              <a:t>Main flow</a:t>
            </a:r>
            <a:endParaRPr lang="en-US" sz="1600" dirty="0"/>
          </a:p>
        </p:txBody>
      </p:sp>
      <p:sp>
        <p:nvSpPr>
          <p:cNvPr id="13" name="Shape 11"/>
          <p:cNvSpPr/>
          <p:nvPr/>
        </p:nvSpPr>
        <p:spPr>
          <a:xfrm>
            <a:off x="548640" y="2606040"/>
            <a:ext cx="1463040" cy="1417320"/>
          </a:xfrm>
          <a:prstGeom prst="roundRect">
            <a:avLst>
              <a:gd name="adj" fmla="val 5161"/>
            </a:avLst>
          </a:prstGeom>
          <a:solidFill>
            <a:schemeClr val="tx2"/>
          </a:solidFill>
          <a:ln w="12700">
            <a:solidFill>
              <a:schemeClr val="tx2"/>
            </a:solidFill>
            <a:prstDash val="solid"/>
          </a:ln>
        </p:spPr>
      </p:sp>
      <p:sp>
        <p:nvSpPr>
          <p:cNvPr id="14" name="Text 12"/>
          <p:cNvSpPr txBox="1"/>
          <p:nvPr/>
        </p:nvSpPr>
        <p:spPr>
          <a:xfrm>
            <a:off x="685800" y="2670048"/>
            <a:ext cx="457200" cy="320040"/>
          </a:xfrm>
          <a:prstGeom prst="rect">
            <a:avLst/>
          </a:prstGeom>
          <a:noFill/>
          <a:ln/>
        </p:spPr>
        <p:txBody>
          <a:bodyPr wrap="square" lIns="0" tIns="0" rIns="0" bIns="0" rtlCol="0" anchor="t"/>
          <a:lstStyle/>
          <a:p>
            <a:pPr indent="0" marL="0">
              <a:buNone/>
            </a:pPr>
            <a:r>
              <a:rPr lang="en-US" sz="1600" b="1" dirty="0">
                <a:solidFill>
                  <a:schemeClr val="accent2"/>
                </a:solidFill>
              </a:rPr>
              <a:t>1</a:t>
            </a:r>
            <a:endParaRPr lang="en-US" sz="1600" dirty="0"/>
          </a:p>
        </p:txBody>
      </p:sp>
      <p:sp>
        <p:nvSpPr>
          <p:cNvPr id="15" name="Text 13"/>
          <p:cNvSpPr txBox="1"/>
          <p:nvPr/>
        </p:nvSpPr>
        <p:spPr>
          <a:xfrm>
            <a:off x="685800" y="2990088"/>
            <a:ext cx="1188720" cy="1005840"/>
          </a:xfrm>
          <a:prstGeom prst="rect">
            <a:avLst/>
          </a:prstGeom>
          <a:noFill/>
          <a:ln/>
        </p:spPr>
        <p:txBody>
          <a:bodyPr wrap="square" lIns="0" tIns="0" rIns="0" bIns="0" rtlCol="0" anchor="t"/>
          <a:lstStyle/>
          <a:p>
            <a:pPr indent="0" marL="0">
              <a:buNone/>
            </a:pPr>
            <a:r>
              <a:rPr lang="en-US" sz="1400" dirty="0">
                <a:solidFill>
                  <a:schemeClr val="bg1"/>
                </a:solidFill>
              </a:rPr>
              <a:t>Select areas, level, template</a:t>
            </a:r>
            <a:endParaRPr lang="en-US" sz="1400" dirty="0"/>
          </a:p>
        </p:txBody>
      </p:sp>
      <p:sp>
        <p:nvSpPr>
          <p:cNvPr id="16" name="Shape 14"/>
          <p:cNvSpPr/>
          <p:nvPr/>
        </p:nvSpPr>
        <p:spPr>
          <a:xfrm>
            <a:off x="2148840" y="2606040"/>
            <a:ext cx="1463040" cy="1417320"/>
          </a:xfrm>
          <a:prstGeom prst="roundRect">
            <a:avLst>
              <a:gd name="adj" fmla="val 5161"/>
            </a:avLst>
          </a:prstGeom>
          <a:solidFill>
            <a:schemeClr val="tx2"/>
          </a:solidFill>
          <a:ln w="12700">
            <a:solidFill>
              <a:schemeClr val="tx2"/>
            </a:solidFill>
            <a:prstDash val="solid"/>
          </a:ln>
        </p:spPr>
      </p:sp>
      <p:sp>
        <p:nvSpPr>
          <p:cNvPr id="17" name="Text 15"/>
          <p:cNvSpPr txBox="1"/>
          <p:nvPr/>
        </p:nvSpPr>
        <p:spPr>
          <a:xfrm>
            <a:off x="2286000" y="2670048"/>
            <a:ext cx="457200" cy="320040"/>
          </a:xfrm>
          <a:prstGeom prst="rect">
            <a:avLst/>
          </a:prstGeom>
          <a:noFill/>
          <a:ln/>
        </p:spPr>
        <p:txBody>
          <a:bodyPr wrap="square" lIns="0" tIns="0" rIns="0" bIns="0" rtlCol="0" anchor="t"/>
          <a:lstStyle/>
          <a:p>
            <a:pPr indent="0" marL="0">
              <a:buNone/>
            </a:pPr>
            <a:r>
              <a:rPr lang="en-US" sz="1600" b="1" dirty="0">
                <a:solidFill>
                  <a:schemeClr val="accent2"/>
                </a:solidFill>
              </a:rPr>
              <a:t>2</a:t>
            </a:r>
            <a:endParaRPr lang="en-US" sz="1600" dirty="0"/>
          </a:p>
        </p:txBody>
      </p:sp>
      <p:sp>
        <p:nvSpPr>
          <p:cNvPr id="18" name="Text 16"/>
          <p:cNvSpPr txBox="1"/>
          <p:nvPr/>
        </p:nvSpPr>
        <p:spPr>
          <a:xfrm>
            <a:off x="2286000" y="2990088"/>
            <a:ext cx="1188720" cy="1005840"/>
          </a:xfrm>
          <a:prstGeom prst="rect">
            <a:avLst/>
          </a:prstGeom>
          <a:noFill/>
          <a:ln/>
        </p:spPr>
        <p:txBody>
          <a:bodyPr wrap="square" lIns="0" tIns="0" rIns="0" bIns="0" rtlCol="0" anchor="t"/>
          <a:lstStyle/>
          <a:p>
            <a:pPr indent="0" marL="0">
              <a:buNone/>
            </a:pPr>
            <a:r>
              <a:rPr lang="en-US" sz="1400" dirty="0">
                <a:solidFill>
                  <a:schemeClr val="bg1"/>
                </a:solidFill>
              </a:rPr>
              <a:t>Message filled in every configured language</a:t>
            </a:r>
            <a:endParaRPr lang="en-US" sz="1400" dirty="0"/>
          </a:p>
        </p:txBody>
      </p:sp>
      <p:sp>
        <p:nvSpPr>
          <p:cNvPr id="19" name="Shape 17"/>
          <p:cNvSpPr/>
          <p:nvPr/>
        </p:nvSpPr>
        <p:spPr>
          <a:xfrm>
            <a:off x="3749040" y="2606040"/>
            <a:ext cx="1463040" cy="1417320"/>
          </a:xfrm>
          <a:prstGeom prst="roundRect">
            <a:avLst>
              <a:gd name="adj" fmla="val 5161"/>
            </a:avLst>
          </a:prstGeom>
          <a:solidFill>
            <a:schemeClr val="tx2"/>
          </a:solidFill>
          <a:ln w="12700">
            <a:solidFill>
              <a:schemeClr val="tx2"/>
            </a:solidFill>
            <a:prstDash val="solid"/>
          </a:ln>
        </p:spPr>
      </p:sp>
      <p:sp>
        <p:nvSpPr>
          <p:cNvPr id="20" name="Text 18"/>
          <p:cNvSpPr txBox="1"/>
          <p:nvPr/>
        </p:nvSpPr>
        <p:spPr>
          <a:xfrm>
            <a:off x="3886200" y="2670048"/>
            <a:ext cx="457200" cy="320040"/>
          </a:xfrm>
          <a:prstGeom prst="rect">
            <a:avLst/>
          </a:prstGeom>
          <a:noFill/>
          <a:ln/>
        </p:spPr>
        <p:txBody>
          <a:bodyPr wrap="square" lIns="0" tIns="0" rIns="0" bIns="0" rtlCol="0" anchor="t"/>
          <a:lstStyle/>
          <a:p>
            <a:pPr indent="0" marL="0">
              <a:buNone/>
            </a:pPr>
            <a:r>
              <a:rPr lang="en-US" sz="1600" b="1" dirty="0">
                <a:solidFill>
                  <a:schemeClr val="accent2"/>
                </a:solidFill>
              </a:rPr>
              <a:t>3</a:t>
            </a:r>
            <a:endParaRPr lang="en-US" sz="1600" dirty="0"/>
          </a:p>
        </p:txBody>
      </p:sp>
      <p:sp>
        <p:nvSpPr>
          <p:cNvPr id="21" name="Text 19"/>
          <p:cNvSpPr txBox="1"/>
          <p:nvPr/>
        </p:nvSpPr>
        <p:spPr>
          <a:xfrm>
            <a:off x="3886200" y="2990088"/>
            <a:ext cx="1188720" cy="1005840"/>
          </a:xfrm>
          <a:prstGeom prst="rect">
            <a:avLst/>
          </a:prstGeom>
          <a:noFill/>
          <a:ln/>
        </p:spPr>
        <p:txBody>
          <a:bodyPr wrap="square" lIns="0" tIns="0" rIns="0" bIns="0" rtlCol="0" anchor="t"/>
          <a:lstStyle/>
          <a:p>
            <a:pPr indent="0" marL="0">
              <a:buNone/>
            </a:pPr>
            <a:r>
              <a:rPr lang="en-US" sz="1400" dirty="0">
                <a:solidFill>
                  <a:schemeClr val="bg1"/>
                </a:solidFill>
              </a:rPr>
              <a:t>Preview recipients, contradiction check</a:t>
            </a:r>
            <a:endParaRPr lang="en-US" sz="1400" dirty="0"/>
          </a:p>
        </p:txBody>
      </p:sp>
      <p:sp>
        <p:nvSpPr>
          <p:cNvPr id="22" name="Shape 20"/>
          <p:cNvSpPr/>
          <p:nvPr/>
        </p:nvSpPr>
        <p:spPr>
          <a:xfrm>
            <a:off x="5349240" y="2606040"/>
            <a:ext cx="1463040" cy="1417320"/>
          </a:xfrm>
          <a:prstGeom prst="roundRect">
            <a:avLst>
              <a:gd name="adj" fmla="val 5161"/>
            </a:avLst>
          </a:prstGeom>
          <a:solidFill>
            <a:schemeClr val="tx2"/>
          </a:solidFill>
          <a:ln w="12700">
            <a:solidFill>
              <a:schemeClr val="tx2"/>
            </a:solidFill>
            <a:prstDash val="solid"/>
          </a:ln>
        </p:spPr>
      </p:sp>
      <p:sp>
        <p:nvSpPr>
          <p:cNvPr id="23" name="Text 21"/>
          <p:cNvSpPr txBox="1"/>
          <p:nvPr/>
        </p:nvSpPr>
        <p:spPr>
          <a:xfrm>
            <a:off x="5486400" y="2670048"/>
            <a:ext cx="457200" cy="320040"/>
          </a:xfrm>
          <a:prstGeom prst="rect">
            <a:avLst/>
          </a:prstGeom>
          <a:noFill/>
          <a:ln/>
        </p:spPr>
        <p:txBody>
          <a:bodyPr wrap="square" lIns="0" tIns="0" rIns="0" bIns="0" rtlCol="0" anchor="t"/>
          <a:lstStyle/>
          <a:p>
            <a:pPr indent="0" marL="0">
              <a:buNone/>
            </a:pPr>
            <a:r>
              <a:rPr lang="en-US" sz="1600" b="1" dirty="0">
                <a:solidFill>
                  <a:schemeClr val="accent2"/>
                </a:solidFill>
              </a:rPr>
              <a:t>4</a:t>
            </a:r>
            <a:endParaRPr lang="en-US" sz="1600" dirty="0"/>
          </a:p>
        </p:txBody>
      </p:sp>
      <p:sp>
        <p:nvSpPr>
          <p:cNvPr id="24" name="Text 22"/>
          <p:cNvSpPr txBox="1"/>
          <p:nvPr/>
        </p:nvSpPr>
        <p:spPr>
          <a:xfrm>
            <a:off x="5486400" y="2990088"/>
            <a:ext cx="1188720" cy="1005840"/>
          </a:xfrm>
          <a:prstGeom prst="rect">
            <a:avLst/>
          </a:prstGeom>
          <a:noFill/>
          <a:ln/>
        </p:spPr>
        <p:txBody>
          <a:bodyPr wrap="square" lIns="0" tIns="0" rIns="0" bIns="0" rtlCol="0" anchor="t"/>
          <a:lstStyle/>
          <a:p>
            <a:pPr indent="0" marL="0">
              <a:buNone/>
            </a:pPr>
            <a:r>
              <a:rPr lang="en-US" sz="1400" dirty="0">
                <a:solidFill>
                  <a:schemeClr val="bg1"/>
                </a:solidFill>
              </a:rPr>
              <a:t>Submit → PROPOSED</a:t>
            </a:r>
            <a:endParaRPr lang="en-US" sz="1400" dirty="0"/>
          </a:p>
        </p:txBody>
      </p:sp>
      <p:sp>
        <p:nvSpPr>
          <p:cNvPr id="25" name="Shape 23"/>
          <p:cNvSpPr/>
          <p:nvPr/>
        </p:nvSpPr>
        <p:spPr>
          <a:xfrm>
            <a:off x="6949440" y="2606040"/>
            <a:ext cx="1463040" cy="1417320"/>
          </a:xfrm>
          <a:prstGeom prst="roundRect">
            <a:avLst>
              <a:gd name="adj" fmla="val 5161"/>
            </a:avLst>
          </a:prstGeom>
          <a:solidFill>
            <a:schemeClr val="tx2"/>
          </a:solidFill>
          <a:ln w="12700">
            <a:solidFill>
              <a:schemeClr val="tx2"/>
            </a:solidFill>
            <a:prstDash val="solid"/>
          </a:ln>
        </p:spPr>
      </p:sp>
      <p:sp>
        <p:nvSpPr>
          <p:cNvPr id="26" name="Text 24"/>
          <p:cNvSpPr txBox="1"/>
          <p:nvPr/>
        </p:nvSpPr>
        <p:spPr>
          <a:xfrm>
            <a:off x="7086600" y="2670048"/>
            <a:ext cx="457200" cy="320040"/>
          </a:xfrm>
          <a:prstGeom prst="rect">
            <a:avLst/>
          </a:prstGeom>
          <a:noFill/>
          <a:ln/>
        </p:spPr>
        <p:txBody>
          <a:bodyPr wrap="square" lIns="0" tIns="0" rIns="0" bIns="0" rtlCol="0" anchor="t"/>
          <a:lstStyle/>
          <a:p>
            <a:pPr indent="0" marL="0">
              <a:buNone/>
            </a:pPr>
            <a:r>
              <a:rPr lang="en-US" sz="1600" b="1" dirty="0">
                <a:solidFill>
                  <a:schemeClr val="accent2"/>
                </a:solidFill>
              </a:rPr>
              <a:t>5</a:t>
            </a:r>
            <a:endParaRPr lang="en-US" sz="1600" dirty="0"/>
          </a:p>
        </p:txBody>
      </p:sp>
      <p:sp>
        <p:nvSpPr>
          <p:cNvPr id="27" name="Text 25"/>
          <p:cNvSpPr txBox="1"/>
          <p:nvPr/>
        </p:nvSpPr>
        <p:spPr>
          <a:xfrm>
            <a:off x="7086600" y="2990088"/>
            <a:ext cx="1188720" cy="1005840"/>
          </a:xfrm>
          <a:prstGeom prst="rect">
            <a:avLst/>
          </a:prstGeom>
          <a:noFill/>
          <a:ln/>
        </p:spPr>
        <p:txBody>
          <a:bodyPr wrap="square" lIns="0" tIns="0" rIns="0" bIns="0" rtlCol="0" anchor="t"/>
          <a:lstStyle/>
          <a:p>
            <a:pPr indent="0" marL="0">
              <a:buNone/>
            </a:pPr>
            <a:r>
              <a:rPr lang="en-US" sz="1400" dirty="0">
                <a:solidFill>
                  <a:schemeClr val="bg1"/>
                </a:solidFill>
              </a:rPr>
              <a:t>Approver(s) review evidence</a:t>
            </a:r>
            <a:endParaRPr lang="en-US" sz="1400" dirty="0"/>
          </a:p>
        </p:txBody>
      </p:sp>
      <p:sp>
        <p:nvSpPr>
          <p:cNvPr id="28" name="Shape 26"/>
          <p:cNvSpPr/>
          <p:nvPr/>
        </p:nvSpPr>
        <p:spPr>
          <a:xfrm>
            <a:off x="8549640" y="2606040"/>
            <a:ext cx="1463040" cy="1417320"/>
          </a:xfrm>
          <a:prstGeom prst="roundRect">
            <a:avLst>
              <a:gd name="adj" fmla="val 5161"/>
            </a:avLst>
          </a:prstGeom>
          <a:solidFill>
            <a:schemeClr val="tx2"/>
          </a:solidFill>
          <a:ln w="12700">
            <a:solidFill>
              <a:schemeClr val="tx2"/>
            </a:solidFill>
            <a:prstDash val="solid"/>
          </a:ln>
        </p:spPr>
      </p:sp>
      <p:sp>
        <p:nvSpPr>
          <p:cNvPr id="29" name="Text 27"/>
          <p:cNvSpPr txBox="1"/>
          <p:nvPr/>
        </p:nvSpPr>
        <p:spPr>
          <a:xfrm>
            <a:off x="8686800" y="2670048"/>
            <a:ext cx="457200" cy="320040"/>
          </a:xfrm>
          <a:prstGeom prst="rect">
            <a:avLst/>
          </a:prstGeom>
          <a:noFill/>
          <a:ln/>
        </p:spPr>
        <p:txBody>
          <a:bodyPr wrap="square" lIns="0" tIns="0" rIns="0" bIns="0" rtlCol="0" anchor="t"/>
          <a:lstStyle/>
          <a:p>
            <a:pPr indent="0" marL="0">
              <a:buNone/>
            </a:pPr>
            <a:r>
              <a:rPr lang="en-US" sz="1600" b="1" dirty="0">
                <a:solidFill>
                  <a:schemeClr val="accent2"/>
                </a:solidFill>
              </a:rPr>
              <a:t>6</a:t>
            </a:r>
            <a:endParaRPr lang="en-US" sz="1600" dirty="0"/>
          </a:p>
        </p:txBody>
      </p:sp>
      <p:sp>
        <p:nvSpPr>
          <p:cNvPr id="30" name="Text 28"/>
          <p:cNvSpPr txBox="1"/>
          <p:nvPr/>
        </p:nvSpPr>
        <p:spPr>
          <a:xfrm>
            <a:off x="8686800" y="2990088"/>
            <a:ext cx="1188720" cy="1005840"/>
          </a:xfrm>
          <a:prstGeom prst="rect">
            <a:avLst/>
          </a:prstGeom>
          <a:noFill/>
          <a:ln/>
        </p:spPr>
        <p:txBody>
          <a:bodyPr wrap="square" lIns="0" tIns="0" rIns="0" bIns="0" rtlCol="0" anchor="t"/>
          <a:lstStyle/>
          <a:p>
            <a:pPr indent="0" marL="0">
              <a:buNone/>
            </a:pPr>
            <a:r>
              <a:rPr lang="en-US" sz="1400" dirty="0">
                <a:solidFill>
                  <a:schemeClr val="bg1"/>
                </a:solidFill>
              </a:rPr>
              <a:t>ACTIVE → delivery (UC-01)</a:t>
            </a:r>
            <a:endParaRPr lang="en-US" sz="1400" dirty="0"/>
          </a:p>
        </p:txBody>
      </p:sp>
      <p:sp>
        <p:nvSpPr>
          <p:cNvPr id="31" name="Shape 29"/>
          <p:cNvSpPr/>
          <p:nvPr/>
        </p:nvSpPr>
        <p:spPr>
          <a:xfrm>
            <a:off x="10149840" y="2606040"/>
            <a:ext cx="1463040" cy="1417320"/>
          </a:xfrm>
          <a:prstGeom prst="roundRect">
            <a:avLst>
              <a:gd name="adj" fmla="val 5161"/>
            </a:avLst>
          </a:prstGeom>
          <a:solidFill>
            <a:schemeClr val="tx2"/>
          </a:solidFill>
          <a:ln w="12700">
            <a:solidFill>
              <a:schemeClr val="tx2"/>
            </a:solidFill>
            <a:prstDash val="solid"/>
          </a:ln>
        </p:spPr>
      </p:sp>
      <p:sp>
        <p:nvSpPr>
          <p:cNvPr id="32" name="Text 30"/>
          <p:cNvSpPr txBox="1"/>
          <p:nvPr/>
        </p:nvSpPr>
        <p:spPr>
          <a:xfrm>
            <a:off x="10287000" y="2670048"/>
            <a:ext cx="457200" cy="320040"/>
          </a:xfrm>
          <a:prstGeom prst="rect">
            <a:avLst/>
          </a:prstGeom>
          <a:noFill/>
          <a:ln/>
        </p:spPr>
        <p:txBody>
          <a:bodyPr wrap="square" lIns="0" tIns="0" rIns="0" bIns="0" rtlCol="0" anchor="t"/>
          <a:lstStyle/>
          <a:p>
            <a:pPr indent="0" marL="0">
              <a:buNone/>
            </a:pPr>
            <a:r>
              <a:rPr lang="en-US" sz="1600" b="1" dirty="0">
                <a:solidFill>
                  <a:schemeClr val="accent2"/>
                </a:solidFill>
              </a:rPr>
              <a:t>7</a:t>
            </a:r>
            <a:endParaRPr lang="en-US" sz="1600" dirty="0"/>
          </a:p>
        </p:txBody>
      </p:sp>
      <p:sp>
        <p:nvSpPr>
          <p:cNvPr id="33" name="Text 31"/>
          <p:cNvSpPr txBox="1"/>
          <p:nvPr/>
        </p:nvSpPr>
        <p:spPr>
          <a:xfrm>
            <a:off x="10287000" y="2990088"/>
            <a:ext cx="1188720" cy="1005840"/>
          </a:xfrm>
          <a:prstGeom prst="rect">
            <a:avLst/>
          </a:prstGeom>
          <a:noFill/>
          <a:ln/>
        </p:spPr>
        <p:txBody>
          <a:bodyPr wrap="square" lIns="0" tIns="0" rIns="0" bIns="0" rtlCol="0" anchor="t"/>
          <a:lstStyle/>
          <a:p>
            <a:pPr indent="0" marL="0">
              <a:buNone/>
            </a:pPr>
            <a:r>
              <a:rPr lang="en-US" sz="1400" dirty="0">
                <a:solidFill>
                  <a:schemeClr val="bg1"/>
                </a:solidFill>
              </a:rPr>
              <a:t>Track delivery and acks</a:t>
            </a:r>
            <a:endParaRPr lang="en-US" sz="1400" dirty="0"/>
          </a:p>
        </p:txBody>
      </p:sp>
      <p:sp>
        <p:nvSpPr>
          <p:cNvPr id="34" name="Shape 32"/>
          <p:cNvSpPr/>
          <p:nvPr/>
        </p:nvSpPr>
        <p:spPr>
          <a:xfrm>
            <a:off x="548640" y="4206240"/>
            <a:ext cx="5440680" cy="1463040"/>
          </a:xfrm>
          <a:prstGeom prst="roundRect">
            <a:avLst>
              <a:gd name="adj" fmla="val 5000"/>
            </a:avLst>
          </a:prstGeom>
          <a:solidFill>
            <a:schemeClr val="bg2"/>
          </a:solidFill>
          <a:ln w="12700">
            <a:solidFill>
              <a:schemeClr val="bg2"/>
            </a:solidFill>
            <a:prstDash val="solid"/>
          </a:ln>
        </p:spPr>
      </p:sp>
      <p:sp>
        <p:nvSpPr>
          <p:cNvPr id="35" name="Text 33"/>
          <p:cNvSpPr txBox="1"/>
          <p:nvPr/>
        </p:nvSpPr>
        <p:spPr>
          <a:xfrm>
            <a:off x="731520" y="4279392"/>
            <a:ext cx="5029200" cy="274320"/>
          </a:xfrm>
          <a:prstGeom prst="rect">
            <a:avLst/>
          </a:prstGeom>
          <a:noFill/>
          <a:ln/>
        </p:spPr>
        <p:txBody>
          <a:bodyPr wrap="square" lIns="0" tIns="0" rIns="0" bIns="0" rtlCol="0" anchor="t"/>
          <a:lstStyle/>
          <a:p>
            <a:pPr indent="0" marL="0">
              <a:buNone/>
            </a:pPr>
            <a:r>
              <a:rPr lang="en-US" sz="1400" b="1" dirty="0">
                <a:solidFill>
                  <a:schemeClr val="accent1"/>
                </a:solidFill>
              </a:rPr>
              <a:t>Alternative flows</a:t>
            </a:r>
            <a:endParaRPr lang="en-US" sz="1400" dirty="0"/>
          </a:p>
        </p:txBody>
      </p:sp>
      <p:sp>
        <p:nvSpPr>
          <p:cNvPr id="36" name="Text 34"/>
          <p:cNvSpPr txBox="1"/>
          <p:nvPr/>
        </p:nvSpPr>
        <p:spPr>
          <a:xfrm>
            <a:off x="731520" y="4572000"/>
            <a:ext cx="5074920" cy="1051560"/>
          </a:xfrm>
          <a:prstGeom prst="rect">
            <a:avLst/>
          </a:prstGeom>
          <a:noFill/>
          <a:ln/>
        </p:spPr>
        <p:txBody>
          <a:bodyPr wrap="square" lIns="0" tIns="0" rIns="0" bIns="0" rtlCol="0" anchor="t"/>
          <a:lstStyle/>
          <a:p>
            <a:pPr indent="0" marL="0">
              <a:buNone/>
            </a:pPr>
            <a:r>
              <a:rPr lang="en-US" sz="1400" dirty="0">
                <a:solidFill>
                  <a:schemeClr val="tx1"/>
                </a:solidFill>
              </a:rPr>
              <a:t>A1 Escalate existing warning → new version</a:t>
            </a:r>
            <a:endParaRPr lang="en-US" sz="1400" dirty="0"/>
          </a:p>
          <a:p>
            <a:pPr indent="0" marL="0">
              <a:buNone/>
            </a:pPr>
            <a:r>
              <a:rPr lang="en-US" sz="1400" dirty="0">
                <a:solidFill>
                  <a:schemeClr val="tx1"/>
                </a:solidFill>
              </a:rPr>
              <a:t>A2 Cancel → reason + all-clear to same people</a:t>
            </a:r>
            <a:endParaRPr lang="en-US" sz="1400" dirty="0"/>
          </a:p>
          <a:p>
            <a:pPr indent="0" marL="0">
              <a:buNone/>
            </a:pPr>
            <a:r>
              <a:rPr lang="en-US" sz="1400" dirty="0">
                <a:solidFill>
                  <a:schemeClr val="tx1"/>
                </a:solidFill>
              </a:rPr>
              <a:t>A3 Self-approval for WARNING only if policy allows</a:t>
            </a:r>
            <a:endParaRPr lang="en-US" sz="1400" dirty="0"/>
          </a:p>
        </p:txBody>
      </p:sp>
      <p:sp>
        <p:nvSpPr>
          <p:cNvPr id="37" name="Shape 35"/>
          <p:cNvSpPr/>
          <p:nvPr/>
        </p:nvSpPr>
        <p:spPr>
          <a:xfrm>
            <a:off x="6172200" y="4206240"/>
            <a:ext cx="5440680" cy="1463040"/>
          </a:xfrm>
          <a:prstGeom prst="roundRect">
            <a:avLst>
              <a:gd name="adj" fmla="val 5000"/>
            </a:avLst>
          </a:prstGeom>
          <a:solidFill>
            <a:schemeClr val="bg2"/>
          </a:solidFill>
          <a:ln w="12700">
            <a:solidFill>
              <a:schemeClr val="bg2"/>
            </a:solidFill>
            <a:prstDash val="solid"/>
          </a:ln>
        </p:spPr>
      </p:sp>
      <p:sp>
        <p:nvSpPr>
          <p:cNvPr id="38" name="Text 36"/>
          <p:cNvSpPr txBox="1"/>
          <p:nvPr/>
        </p:nvSpPr>
        <p:spPr>
          <a:xfrm>
            <a:off x="6355080" y="4279392"/>
            <a:ext cx="5029200" cy="274320"/>
          </a:xfrm>
          <a:prstGeom prst="rect">
            <a:avLst/>
          </a:prstGeom>
          <a:noFill/>
          <a:ln/>
        </p:spPr>
        <p:txBody>
          <a:bodyPr wrap="square" lIns="0" tIns="0" rIns="0" bIns="0" rtlCol="0" anchor="t"/>
          <a:lstStyle/>
          <a:p>
            <a:pPr indent="0" marL="0">
              <a:buNone/>
            </a:pPr>
            <a:r>
              <a:rPr lang="en-US" sz="1400" b="1" dirty="0">
                <a:solidFill>
                  <a:schemeClr val="accent3"/>
                </a:solidFill>
              </a:rPr>
              <a:t>Exception flows</a:t>
            </a:r>
            <a:endParaRPr lang="en-US" sz="1400" dirty="0"/>
          </a:p>
        </p:txBody>
      </p:sp>
      <p:sp>
        <p:nvSpPr>
          <p:cNvPr id="39" name="Text 37"/>
          <p:cNvSpPr txBox="1"/>
          <p:nvPr/>
        </p:nvSpPr>
        <p:spPr>
          <a:xfrm>
            <a:off x="6355080" y="4572000"/>
            <a:ext cx="5074920" cy="1051560"/>
          </a:xfrm>
          <a:prstGeom prst="rect">
            <a:avLst/>
          </a:prstGeom>
          <a:noFill/>
          <a:ln/>
        </p:spPr>
        <p:txBody>
          <a:bodyPr wrap="square" lIns="0" tIns="0" rIns="0" bIns="0" rtlCol="0" anchor="t"/>
          <a:lstStyle/>
          <a:p>
            <a:pPr indent="0" marL="0">
              <a:buNone/>
            </a:pPr>
            <a:r>
              <a:rPr lang="en-US" sz="1400" dirty="0">
                <a:solidFill>
                  <a:schemeClr val="tx1"/>
                </a:solidFill>
              </a:rPr>
              <a:t>E1 Contradiction → blocked with explanation</a:t>
            </a:r>
            <a:endParaRPr lang="en-US" sz="1400" dirty="0"/>
          </a:p>
          <a:p>
            <a:pPr indent="0" marL="0">
              <a:buNone/>
            </a:pPr>
            <a:r>
              <a:rPr lang="en-US" sz="1400" dirty="0">
                <a:solidFill>
                  <a:schemeClr val="tx1"/>
                </a:solidFill>
              </a:rPr>
              <a:t>E2 Second approver absent → timeout escalation</a:t>
            </a:r>
            <a:endParaRPr lang="en-US" sz="1400" dirty="0"/>
          </a:p>
          <a:p>
            <a:pPr indent="0" marL="0">
              <a:buNone/>
            </a:pPr>
            <a:r>
              <a:rPr lang="en-US" sz="1400" dirty="0">
                <a:solidFill>
                  <a:schemeClr val="tx1"/>
                </a:solidFill>
              </a:rPr>
              <a:t>E3 Rejected → reason recorded · E4 Exercise → prefix</a:t>
            </a:r>
            <a:endParaRPr lang="en-US" sz="1400" dirty="0"/>
          </a:p>
        </p:txBody>
      </p:sp>
      <p:sp>
        <p:nvSpPr>
          <p:cNvPr id="40" name="Text 38"/>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300" b="1" dirty="0">
                <a:solidFill>
                  <a:schemeClr val="tx2"/>
                </a:solidFill>
              </a:rPr>
              <a:t>Related requirements: </a:t>
            </a:r>
            <a:pPr indent="0" marL="0">
              <a:buNone/>
            </a:pPr>
            <a:r>
              <a:rPr lang="en-US" sz="1300" dirty="0">
                <a:solidFill>
                  <a:schemeClr val="tx2"/>
                </a:solidFill>
              </a:rPr>
              <a:t>FR-20–FR-23, FR-25, FR-28, FR-29, FR-53, SR-02, SR-07, SR-09, SR-12, SEC-01, SEC-05</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UC-11  System handles unavailable data</a:t>
            </a:r>
            <a:endParaRPr lang="en-US" sz="3200" dirty="0"/>
          </a:p>
        </p:txBody>
      </p:sp>
      <p:sp>
        <p:nvSpPr>
          <p:cNvPr id="3" name="Shape 1"/>
          <p:cNvSpPr/>
          <p:nvPr/>
        </p:nvSpPr>
        <p:spPr>
          <a:xfrm>
            <a:off x="548640" y="1234440"/>
            <a:ext cx="3566160" cy="868680"/>
          </a:xfrm>
          <a:prstGeom prst="roundRect">
            <a:avLst>
              <a:gd name="adj" fmla="val 8421"/>
            </a:avLst>
          </a:prstGeom>
          <a:solidFill>
            <a:schemeClr val="bg2"/>
          </a:solidFill>
          <a:ln w="12700">
            <a:solidFill>
              <a:schemeClr val="bg2"/>
            </a:solidFill>
            <a:prstDash val="solid"/>
          </a:ln>
        </p:spPr>
      </p:sp>
      <p:sp>
        <p:nvSpPr>
          <p:cNvPr id="4" name="Text 2"/>
          <p:cNvSpPr txBox="1"/>
          <p:nvPr/>
        </p:nvSpPr>
        <p:spPr>
          <a:xfrm>
            <a:off x="731520" y="1298448"/>
            <a:ext cx="3200400" cy="274320"/>
          </a:xfrm>
          <a:prstGeom prst="rect">
            <a:avLst/>
          </a:prstGeom>
          <a:noFill/>
          <a:ln/>
        </p:spPr>
        <p:txBody>
          <a:bodyPr wrap="square" lIns="0" tIns="0" rIns="0" bIns="0" rtlCol="0" anchor="t"/>
          <a:lstStyle/>
          <a:p>
            <a:pPr indent="0" marL="0">
              <a:buNone/>
            </a:pPr>
            <a:r>
              <a:rPr lang="en-US" sz="1200" b="1" dirty="0">
                <a:solidFill>
                  <a:schemeClr val="accent1"/>
                </a:solidFill>
              </a:rPr>
              <a:t>Actor</a:t>
            </a:r>
            <a:endParaRPr lang="en-US" sz="1200" dirty="0"/>
          </a:p>
        </p:txBody>
      </p:sp>
      <p:sp>
        <p:nvSpPr>
          <p:cNvPr id="5" name="Text 3"/>
          <p:cNvSpPr txBox="1"/>
          <p:nvPr/>
        </p:nvSpPr>
        <p:spPr>
          <a:xfrm>
            <a:off x="731520" y="1572768"/>
            <a:ext cx="3200400" cy="502920"/>
          </a:xfrm>
          <a:prstGeom prst="rect">
            <a:avLst/>
          </a:prstGeom>
          <a:noFill/>
          <a:ln/>
        </p:spPr>
        <p:txBody>
          <a:bodyPr wrap="square" lIns="0" tIns="0" rIns="0" bIns="0" rtlCol="0" anchor="t"/>
          <a:lstStyle/>
          <a:p>
            <a:pPr indent="0" marL="0">
              <a:buNone/>
            </a:pPr>
            <a:r>
              <a:rPr lang="en-US" sz="1400" dirty="0">
                <a:solidFill>
                  <a:schemeClr val="tx1"/>
                </a:solidFill>
              </a:rPr>
              <a:t>System (health monitor); operators</a:t>
            </a:r>
            <a:endParaRPr lang="en-US" sz="1400" dirty="0"/>
          </a:p>
        </p:txBody>
      </p:sp>
      <p:sp>
        <p:nvSpPr>
          <p:cNvPr id="6" name="Shape 4"/>
          <p:cNvSpPr/>
          <p:nvPr/>
        </p:nvSpPr>
        <p:spPr>
          <a:xfrm>
            <a:off x="4297680" y="1234440"/>
            <a:ext cx="3566160" cy="868680"/>
          </a:xfrm>
          <a:prstGeom prst="roundRect">
            <a:avLst>
              <a:gd name="adj" fmla="val 8421"/>
            </a:avLst>
          </a:prstGeom>
          <a:solidFill>
            <a:schemeClr val="bg2"/>
          </a:solidFill>
          <a:ln w="12700">
            <a:solidFill>
              <a:schemeClr val="bg2"/>
            </a:solidFill>
            <a:prstDash val="solid"/>
          </a:ln>
        </p:spPr>
      </p:sp>
      <p:sp>
        <p:nvSpPr>
          <p:cNvPr id="7" name="Text 5"/>
          <p:cNvSpPr txBox="1"/>
          <p:nvPr/>
        </p:nvSpPr>
        <p:spPr>
          <a:xfrm>
            <a:off x="4480560" y="1298448"/>
            <a:ext cx="3200400" cy="274320"/>
          </a:xfrm>
          <a:prstGeom prst="rect">
            <a:avLst/>
          </a:prstGeom>
          <a:noFill/>
          <a:ln/>
        </p:spPr>
        <p:txBody>
          <a:bodyPr wrap="square" lIns="0" tIns="0" rIns="0" bIns="0" rtlCol="0" anchor="t"/>
          <a:lstStyle/>
          <a:p>
            <a:pPr indent="0" marL="0">
              <a:buNone/>
            </a:pPr>
            <a:r>
              <a:rPr lang="en-US" sz="1200" b="1" dirty="0">
                <a:solidFill>
                  <a:schemeClr val="accent1"/>
                </a:solidFill>
              </a:rPr>
              <a:t>Precondition</a:t>
            </a:r>
            <a:endParaRPr lang="en-US" sz="1200" dirty="0"/>
          </a:p>
        </p:txBody>
      </p:sp>
      <p:sp>
        <p:nvSpPr>
          <p:cNvPr id="8" name="Text 6"/>
          <p:cNvSpPr txBox="1"/>
          <p:nvPr/>
        </p:nvSpPr>
        <p:spPr>
          <a:xfrm>
            <a:off x="4480560" y="1572768"/>
            <a:ext cx="3200400" cy="502920"/>
          </a:xfrm>
          <a:prstGeom prst="rect">
            <a:avLst/>
          </a:prstGeom>
          <a:noFill/>
          <a:ln/>
        </p:spPr>
        <p:txBody>
          <a:bodyPr wrap="square" lIns="0" tIns="0" rIns="0" bIns="0" rtlCol="0" anchor="t"/>
          <a:lstStyle/>
          <a:p>
            <a:pPr indent="0" marL="0">
              <a:buNone/>
            </a:pPr>
            <a:r>
              <a:rPr lang="en-US" sz="1400" dirty="0">
                <a:solidFill>
                  <a:schemeClr val="tx1"/>
                </a:solidFill>
              </a:rPr>
              <a:t>Staleness windows configured</a:t>
            </a:r>
            <a:endParaRPr lang="en-US" sz="1400" dirty="0"/>
          </a:p>
        </p:txBody>
      </p:sp>
      <p:sp>
        <p:nvSpPr>
          <p:cNvPr id="9" name="Shape 7"/>
          <p:cNvSpPr/>
          <p:nvPr/>
        </p:nvSpPr>
        <p:spPr>
          <a:xfrm>
            <a:off x="8046720" y="1234440"/>
            <a:ext cx="3566160" cy="868680"/>
          </a:xfrm>
          <a:prstGeom prst="roundRect">
            <a:avLst>
              <a:gd name="adj" fmla="val 8421"/>
            </a:avLst>
          </a:prstGeom>
          <a:solidFill>
            <a:schemeClr val="bg2"/>
          </a:solidFill>
          <a:ln w="12700">
            <a:solidFill>
              <a:schemeClr val="bg2"/>
            </a:solidFill>
            <a:prstDash val="solid"/>
          </a:ln>
        </p:spPr>
      </p:sp>
      <p:sp>
        <p:nvSpPr>
          <p:cNvPr id="10" name="Text 8"/>
          <p:cNvSpPr txBox="1"/>
          <p:nvPr/>
        </p:nvSpPr>
        <p:spPr>
          <a:xfrm>
            <a:off x="8229600" y="1298448"/>
            <a:ext cx="3200400" cy="274320"/>
          </a:xfrm>
          <a:prstGeom prst="rect">
            <a:avLst/>
          </a:prstGeom>
          <a:noFill/>
          <a:ln/>
        </p:spPr>
        <p:txBody>
          <a:bodyPr wrap="square" lIns="0" tIns="0" rIns="0" bIns="0" rtlCol="0" anchor="t"/>
          <a:lstStyle/>
          <a:p>
            <a:pPr indent="0" marL="0">
              <a:buNone/>
            </a:pPr>
            <a:r>
              <a:rPr lang="en-US" sz="1200" b="1" dirty="0">
                <a:solidFill>
                  <a:schemeClr val="accent1"/>
                </a:solidFill>
              </a:rPr>
              <a:t>Trigger</a:t>
            </a:r>
            <a:endParaRPr lang="en-US" sz="1200" dirty="0"/>
          </a:p>
        </p:txBody>
      </p:sp>
      <p:sp>
        <p:nvSpPr>
          <p:cNvPr id="11" name="Text 9"/>
          <p:cNvSpPr txBox="1"/>
          <p:nvPr/>
        </p:nvSpPr>
        <p:spPr>
          <a:xfrm>
            <a:off x="8229600" y="1572768"/>
            <a:ext cx="3200400" cy="502920"/>
          </a:xfrm>
          <a:prstGeom prst="rect">
            <a:avLst/>
          </a:prstGeom>
          <a:noFill/>
          <a:ln/>
        </p:spPr>
        <p:txBody>
          <a:bodyPr wrap="square" lIns="0" tIns="0" rIns="0" bIns="0" rtlCol="0" anchor="t"/>
          <a:lstStyle/>
          <a:p>
            <a:pPr indent="0" marL="0">
              <a:buNone/>
            </a:pPr>
            <a:r>
              <a:rPr lang="en-US" sz="1400" dirty="0">
                <a:solidFill>
                  <a:schemeClr val="tx1"/>
                </a:solidFill>
              </a:rPr>
              <a:t>No valid data within the window</a:t>
            </a:r>
            <a:endParaRPr lang="en-US" sz="1400" dirty="0"/>
          </a:p>
        </p:txBody>
      </p:sp>
      <p:sp>
        <p:nvSpPr>
          <p:cNvPr id="12" name="Text 10"/>
          <p:cNvSpPr txBox="1"/>
          <p:nvPr/>
        </p:nvSpPr>
        <p:spPr>
          <a:xfrm>
            <a:off x="548640" y="2240280"/>
            <a:ext cx="2743200" cy="320040"/>
          </a:xfrm>
          <a:prstGeom prst="rect">
            <a:avLst/>
          </a:prstGeom>
          <a:noFill/>
          <a:ln/>
        </p:spPr>
        <p:txBody>
          <a:bodyPr wrap="square" lIns="0" tIns="0" rIns="0" bIns="0" rtlCol="0" anchor="t"/>
          <a:lstStyle/>
          <a:p>
            <a:pPr indent="0" marL="0">
              <a:buNone/>
            </a:pPr>
            <a:r>
              <a:rPr lang="en-US" sz="1600" b="1" dirty="0">
                <a:solidFill>
                  <a:schemeClr val="tx2"/>
                </a:solidFill>
              </a:rPr>
              <a:t>Main flow</a:t>
            </a:r>
            <a:endParaRPr lang="en-US" sz="1600" dirty="0"/>
          </a:p>
        </p:txBody>
      </p:sp>
      <p:sp>
        <p:nvSpPr>
          <p:cNvPr id="13" name="Shape 11"/>
          <p:cNvSpPr/>
          <p:nvPr/>
        </p:nvSpPr>
        <p:spPr>
          <a:xfrm>
            <a:off x="548640" y="2606040"/>
            <a:ext cx="1729740" cy="1417320"/>
          </a:xfrm>
          <a:prstGeom prst="roundRect">
            <a:avLst>
              <a:gd name="adj" fmla="val 5161"/>
            </a:avLst>
          </a:prstGeom>
          <a:solidFill>
            <a:schemeClr val="tx2"/>
          </a:solidFill>
          <a:ln w="12700">
            <a:solidFill>
              <a:schemeClr val="tx2"/>
            </a:solidFill>
            <a:prstDash val="solid"/>
          </a:ln>
        </p:spPr>
      </p:sp>
      <p:sp>
        <p:nvSpPr>
          <p:cNvPr id="14" name="Text 12"/>
          <p:cNvSpPr txBox="1"/>
          <p:nvPr/>
        </p:nvSpPr>
        <p:spPr>
          <a:xfrm>
            <a:off x="685800" y="2670048"/>
            <a:ext cx="457200" cy="320040"/>
          </a:xfrm>
          <a:prstGeom prst="rect">
            <a:avLst/>
          </a:prstGeom>
          <a:noFill/>
          <a:ln/>
        </p:spPr>
        <p:txBody>
          <a:bodyPr wrap="square" lIns="0" tIns="0" rIns="0" bIns="0" rtlCol="0" anchor="t"/>
          <a:lstStyle/>
          <a:p>
            <a:pPr indent="0" marL="0">
              <a:buNone/>
            </a:pPr>
            <a:r>
              <a:rPr lang="en-US" sz="1600" b="1" dirty="0">
                <a:solidFill>
                  <a:schemeClr val="accent2"/>
                </a:solidFill>
              </a:rPr>
              <a:t>1</a:t>
            </a:r>
            <a:endParaRPr lang="en-US" sz="1600" dirty="0"/>
          </a:p>
        </p:txBody>
      </p:sp>
      <p:sp>
        <p:nvSpPr>
          <p:cNvPr id="15" name="Text 13"/>
          <p:cNvSpPr txBox="1"/>
          <p:nvPr/>
        </p:nvSpPr>
        <p:spPr>
          <a:xfrm>
            <a:off x="685800" y="2990088"/>
            <a:ext cx="1455420" cy="1005840"/>
          </a:xfrm>
          <a:prstGeom prst="rect">
            <a:avLst/>
          </a:prstGeom>
          <a:noFill/>
          <a:ln/>
        </p:spPr>
        <p:txBody>
          <a:bodyPr wrap="square" lIns="0" tIns="0" rIns="0" bIns="0" rtlCol="0" anchor="t"/>
          <a:lstStyle/>
          <a:p>
            <a:pPr indent="0" marL="0">
              <a:buNone/>
            </a:pPr>
            <a:r>
              <a:rPr lang="en-US" sz="1400" dirty="0">
                <a:solidFill>
                  <a:schemeClr val="bg1"/>
                </a:solidFill>
              </a:rPr>
              <a:t>Mark source stale; open quality event</a:t>
            </a:r>
            <a:endParaRPr lang="en-US" sz="1400" dirty="0"/>
          </a:p>
        </p:txBody>
      </p:sp>
      <p:sp>
        <p:nvSpPr>
          <p:cNvPr id="16" name="Shape 14"/>
          <p:cNvSpPr/>
          <p:nvPr/>
        </p:nvSpPr>
        <p:spPr>
          <a:xfrm>
            <a:off x="2415540" y="2606040"/>
            <a:ext cx="1729740" cy="1417320"/>
          </a:xfrm>
          <a:prstGeom prst="roundRect">
            <a:avLst>
              <a:gd name="adj" fmla="val 5161"/>
            </a:avLst>
          </a:prstGeom>
          <a:solidFill>
            <a:schemeClr val="tx2"/>
          </a:solidFill>
          <a:ln w="12700">
            <a:solidFill>
              <a:schemeClr val="tx2"/>
            </a:solidFill>
            <a:prstDash val="solid"/>
          </a:ln>
        </p:spPr>
      </p:sp>
      <p:sp>
        <p:nvSpPr>
          <p:cNvPr id="17" name="Text 15"/>
          <p:cNvSpPr txBox="1"/>
          <p:nvPr/>
        </p:nvSpPr>
        <p:spPr>
          <a:xfrm>
            <a:off x="2552700" y="2670048"/>
            <a:ext cx="457200" cy="320040"/>
          </a:xfrm>
          <a:prstGeom prst="rect">
            <a:avLst/>
          </a:prstGeom>
          <a:noFill/>
          <a:ln/>
        </p:spPr>
        <p:txBody>
          <a:bodyPr wrap="square" lIns="0" tIns="0" rIns="0" bIns="0" rtlCol="0" anchor="t"/>
          <a:lstStyle/>
          <a:p>
            <a:pPr indent="0" marL="0">
              <a:buNone/>
            </a:pPr>
            <a:r>
              <a:rPr lang="en-US" sz="1600" b="1" dirty="0">
                <a:solidFill>
                  <a:schemeClr val="accent2"/>
                </a:solidFill>
              </a:rPr>
              <a:t>2</a:t>
            </a:r>
            <a:endParaRPr lang="en-US" sz="1600" dirty="0"/>
          </a:p>
        </p:txBody>
      </p:sp>
      <p:sp>
        <p:nvSpPr>
          <p:cNvPr id="18" name="Text 16"/>
          <p:cNvSpPr txBox="1"/>
          <p:nvPr/>
        </p:nvSpPr>
        <p:spPr>
          <a:xfrm>
            <a:off x="2552700" y="2990088"/>
            <a:ext cx="1455420" cy="1005840"/>
          </a:xfrm>
          <a:prstGeom prst="rect">
            <a:avLst/>
          </a:prstGeom>
          <a:noFill/>
          <a:ln/>
        </p:spPr>
        <p:txBody>
          <a:bodyPr wrap="square" lIns="0" tIns="0" rIns="0" bIns="0" rtlCol="0" anchor="t"/>
          <a:lstStyle/>
          <a:p>
            <a:pPr indent="0" marL="0">
              <a:buNone/>
            </a:pPr>
            <a:r>
              <a:rPr lang="en-US" sz="1400" dirty="0">
                <a:solidFill>
                  <a:schemeClr val="bg1"/>
                </a:solidFill>
              </a:rPr>
              <a:t>Hold last level; confidence LOW</a:t>
            </a:r>
            <a:endParaRPr lang="en-US" sz="1400" dirty="0"/>
          </a:p>
        </p:txBody>
      </p:sp>
      <p:sp>
        <p:nvSpPr>
          <p:cNvPr id="19" name="Shape 17"/>
          <p:cNvSpPr/>
          <p:nvPr/>
        </p:nvSpPr>
        <p:spPr>
          <a:xfrm>
            <a:off x="4282440" y="2606040"/>
            <a:ext cx="1729740" cy="1417320"/>
          </a:xfrm>
          <a:prstGeom prst="roundRect">
            <a:avLst>
              <a:gd name="adj" fmla="val 5161"/>
            </a:avLst>
          </a:prstGeom>
          <a:solidFill>
            <a:schemeClr val="tx2"/>
          </a:solidFill>
          <a:ln w="12700">
            <a:solidFill>
              <a:schemeClr val="tx2"/>
            </a:solidFill>
            <a:prstDash val="solid"/>
          </a:ln>
        </p:spPr>
      </p:sp>
      <p:sp>
        <p:nvSpPr>
          <p:cNvPr id="20" name="Text 18"/>
          <p:cNvSpPr txBox="1"/>
          <p:nvPr/>
        </p:nvSpPr>
        <p:spPr>
          <a:xfrm>
            <a:off x="4419600" y="2670048"/>
            <a:ext cx="457200" cy="320040"/>
          </a:xfrm>
          <a:prstGeom prst="rect">
            <a:avLst/>
          </a:prstGeom>
          <a:noFill/>
          <a:ln/>
        </p:spPr>
        <p:txBody>
          <a:bodyPr wrap="square" lIns="0" tIns="0" rIns="0" bIns="0" rtlCol="0" anchor="t"/>
          <a:lstStyle/>
          <a:p>
            <a:pPr indent="0" marL="0">
              <a:buNone/>
            </a:pPr>
            <a:r>
              <a:rPr lang="en-US" sz="1600" b="1" dirty="0">
                <a:solidFill>
                  <a:schemeClr val="accent2"/>
                </a:solidFill>
              </a:rPr>
              <a:t>3</a:t>
            </a:r>
            <a:endParaRPr lang="en-US" sz="1600" dirty="0"/>
          </a:p>
        </p:txBody>
      </p:sp>
      <p:sp>
        <p:nvSpPr>
          <p:cNvPr id="21" name="Text 19"/>
          <p:cNvSpPr txBox="1"/>
          <p:nvPr/>
        </p:nvSpPr>
        <p:spPr>
          <a:xfrm>
            <a:off x="4419600" y="2990088"/>
            <a:ext cx="1455420" cy="1005840"/>
          </a:xfrm>
          <a:prstGeom prst="rect">
            <a:avLst/>
          </a:prstGeom>
          <a:noFill/>
          <a:ln/>
        </p:spPr>
        <p:txBody>
          <a:bodyPr wrap="square" lIns="0" tIns="0" rIns="0" bIns="0" rtlCol="0" anchor="t"/>
          <a:lstStyle/>
          <a:p>
            <a:pPr indent="0" marL="0">
              <a:buNone/>
            </a:pPr>
            <a:r>
              <a:rPr lang="en-US" sz="1400" dirty="0">
                <a:solidFill>
                  <a:schemeClr val="bg1"/>
                </a:solidFill>
              </a:rPr>
              <a:t>Use upstream and rainfall inputs</a:t>
            </a:r>
            <a:endParaRPr lang="en-US" sz="1400" dirty="0"/>
          </a:p>
        </p:txBody>
      </p:sp>
      <p:sp>
        <p:nvSpPr>
          <p:cNvPr id="22" name="Shape 20"/>
          <p:cNvSpPr/>
          <p:nvPr/>
        </p:nvSpPr>
        <p:spPr>
          <a:xfrm>
            <a:off x="6149340" y="2606040"/>
            <a:ext cx="1729740" cy="1417320"/>
          </a:xfrm>
          <a:prstGeom prst="roundRect">
            <a:avLst>
              <a:gd name="adj" fmla="val 5161"/>
            </a:avLst>
          </a:prstGeom>
          <a:solidFill>
            <a:schemeClr val="tx2"/>
          </a:solidFill>
          <a:ln w="12700">
            <a:solidFill>
              <a:schemeClr val="tx2"/>
            </a:solidFill>
            <a:prstDash val="solid"/>
          </a:ln>
        </p:spPr>
      </p:sp>
      <p:sp>
        <p:nvSpPr>
          <p:cNvPr id="23" name="Text 21"/>
          <p:cNvSpPr txBox="1"/>
          <p:nvPr/>
        </p:nvSpPr>
        <p:spPr>
          <a:xfrm>
            <a:off x="6286500" y="2670048"/>
            <a:ext cx="457200" cy="320040"/>
          </a:xfrm>
          <a:prstGeom prst="rect">
            <a:avLst/>
          </a:prstGeom>
          <a:noFill/>
          <a:ln/>
        </p:spPr>
        <p:txBody>
          <a:bodyPr wrap="square" lIns="0" tIns="0" rIns="0" bIns="0" rtlCol="0" anchor="t"/>
          <a:lstStyle/>
          <a:p>
            <a:pPr indent="0" marL="0">
              <a:buNone/>
            </a:pPr>
            <a:r>
              <a:rPr lang="en-US" sz="1600" b="1" dirty="0">
                <a:solidFill>
                  <a:schemeClr val="accent2"/>
                </a:solidFill>
              </a:rPr>
              <a:t>4</a:t>
            </a:r>
            <a:endParaRPr lang="en-US" sz="1600" dirty="0"/>
          </a:p>
        </p:txBody>
      </p:sp>
      <p:sp>
        <p:nvSpPr>
          <p:cNvPr id="24" name="Text 22"/>
          <p:cNvSpPr txBox="1"/>
          <p:nvPr/>
        </p:nvSpPr>
        <p:spPr>
          <a:xfrm>
            <a:off x="6286500" y="2990088"/>
            <a:ext cx="1455420" cy="1005840"/>
          </a:xfrm>
          <a:prstGeom prst="rect">
            <a:avLst/>
          </a:prstGeom>
          <a:noFill/>
          <a:ln/>
        </p:spPr>
        <p:txBody>
          <a:bodyPr wrap="square" lIns="0" tIns="0" rIns="0" bIns="0" rtlCol="0" anchor="t"/>
          <a:lstStyle/>
          <a:p>
            <a:pPr indent="0" marL="0">
              <a:buNone/>
            </a:pPr>
            <a:r>
              <a:rPr lang="en-US" sz="1400" dirty="0">
                <a:solidFill>
                  <a:schemeClr val="bg1"/>
                </a:solidFill>
              </a:rPr>
              <a:t>Alert operators and admin</a:t>
            </a:r>
            <a:endParaRPr lang="en-US" sz="1400" dirty="0"/>
          </a:p>
        </p:txBody>
      </p:sp>
      <p:sp>
        <p:nvSpPr>
          <p:cNvPr id="25" name="Shape 23"/>
          <p:cNvSpPr/>
          <p:nvPr/>
        </p:nvSpPr>
        <p:spPr>
          <a:xfrm>
            <a:off x="8016240" y="2606040"/>
            <a:ext cx="1729740" cy="1417320"/>
          </a:xfrm>
          <a:prstGeom prst="roundRect">
            <a:avLst>
              <a:gd name="adj" fmla="val 5161"/>
            </a:avLst>
          </a:prstGeom>
          <a:solidFill>
            <a:schemeClr val="tx2"/>
          </a:solidFill>
          <a:ln w="12700">
            <a:solidFill>
              <a:schemeClr val="tx2"/>
            </a:solidFill>
            <a:prstDash val="solid"/>
          </a:ln>
        </p:spPr>
      </p:sp>
      <p:sp>
        <p:nvSpPr>
          <p:cNvPr id="26" name="Text 24"/>
          <p:cNvSpPr txBox="1"/>
          <p:nvPr/>
        </p:nvSpPr>
        <p:spPr>
          <a:xfrm>
            <a:off x="8153400" y="2670048"/>
            <a:ext cx="457200" cy="320040"/>
          </a:xfrm>
          <a:prstGeom prst="rect">
            <a:avLst/>
          </a:prstGeom>
          <a:noFill/>
          <a:ln/>
        </p:spPr>
        <p:txBody>
          <a:bodyPr wrap="square" lIns="0" tIns="0" rIns="0" bIns="0" rtlCol="0" anchor="t"/>
          <a:lstStyle/>
          <a:p>
            <a:pPr indent="0" marL="0">
              <a:buNone/>
            </a:pPr>
            <a:r>
              <a:rPr lang="en-US" sz="1600" b="1" dirty="0">
                <a:solidFill>
                  <a:schemeClr val="accent2"/>
                </a:solidFill>
              </a:rPr>
              <a:t>5</a:t>
            </a:r>
            <a:endParaRPr lang="en-US" sz="1600" dirty="0"/>
          </a:p>
        </p:txBody>
      </p:sp>
      <p:sp>
        <p:nvSpPr>
          <p:cNvPr id="27" name="Text 25"/>
          <p:cNvSpPr txBox="1"/>
          <p:nvPr/>
        </p:nvSpPr>
        <p:spPr>
          <a:xfrm>
            <a:off x="8153400" y="2990088"/>
            <a:ext cx="1455420" cy="1005840"/>
          </a:xfrm>
          <a:prstGeom prst="rect">
            <a:avLst/>
          </a:prstGeom>
          <a:noFill/>
          <a:ln/>
        </p:spPr>
        <p:txBody>
          <a:bodyPr wrap="square" lIns="0" tIns="0" rIns="0" bIns="0" rtlCol="0" anchor="t"/>
          <a:lstStyle/>
          <a:p>
            <a:pPr indent="0" marL="0">
              <a:buNone/>
            </a:pPr>
            <a:r>
              <a:rPr lang="en-US" sz="1400" dirty="0">
                <a:solidFill>
                  <a:schemeClr val="bg1"/>
                </a:solidFill>
              </a:rPr>
              <a:t>Citizens see “data delayed”</a:t>
            </a:r>
            <a:endParaRPr lang="en-US" sz="1400" dirty="0"/>
          </a:p>
        </p:txBody>
      </p:sp>
      <p:sp>
        <p:nvSpPr>
          <p:cNvPr id="28" name="Shape 26"/>
          <p:cNvSpPr/>
          <p:nvPr/>
        </p:nvSpPr>
        <p:spPr>
          <a:xfrm>
            <a:off x="9883140" y="2606040"/>
            <a:ext cx="1729740" cy="1417320"/>
          </a:xfrm>
          <a:prstGeom prst="roundRect">
            <a:avLst>
              <a:gd name="adj" fmla="val 5161"/>
            </a:avLst>
          </a:prstGeom>
          <a:solidFill>
            <a:schemeClr val="tx2"/>
          </a:solidFill>
          <a:ln w="12700">
            <a:solidFill>
              <a:schemeClr val="tx2"/>
            </a:solidFill>
            <a:prstDash val="solid"/>
          </a:ln>
        </p:spPr>
      </p:sp>
      <p:sp>
        <p:nvSpPr>
          <p:cNvPr id="29" name="Text 27"/>
          <p:cNvSpPr txBox="1"/>
          <p:nvPr/>
        </p:nvSpPr>
        <p:spPr>
          <a:xfrm>
            <a:off x="10020300" y="2670048"/>
            <a:ext cx="457200" cy="320040"/>
          </a:xfrm>
          <a:prstGeom prst="rect">
            <a:avLst/>
          </a:prstGeom>
          <a:noFill/>
          <a:ln/>
        </p:spPr>
        <p:txBody>
          <a:bodyPr wrap="square" lIns="0" tIns="0" rIns="0" bIns="0" rtlCol="0" anchor="t"/>
          <a:lstStyle/>
          <a:p>
            <a:pPr indent="0" marL="0">
              <a:buNone/>
            </a:pPr>
            <a:r>
              <a:rPr lang="en-US" sz="1600" b="1" dirty="0">
                <a:solidFill>
                  <a:schemeClr val="accent2"/>
                </a:solidFill>
              </a:rPr>
              <a:t>6</a:t>
            </a:r>
            <a:endParaRPr lang="en-US" sz="1600" dirty="0"/>
          </a:p>
        </p:txBody>
      </p:sp>
      <p:sp>
        <p:nvSpPr>
          <p:cNvPr id="30" name="Text 28"/>
          <p:cNvSpPr txBox="1"/>
          <p:nvPr/>
        </p:nvSpPr>
        <p:spPr>
          <a:xfrm>
            <a:off x="10020300" y="2990088"/>
            <a:ext cx="1455420" cy="1005840"/>
          </a:xfrm>
          <a:prstGeom prst="rect">
            <a:avLst/>
          </a:prstGeom>
          <a:noFill/>
          <a:ln/>
        </p:spPr>
        <p:txBody>
          <a:bodyPr wrap="square" lIns="0" tIns="0" rIns="0" bIns="0" rtlCol="0" anchor="t"/>
          <a:lstStyle/>
          <a:p>
            <a:pPr indent="0" marL="0">
              <a:buNone/>
            </a:pPr>
            <a:r>
              <a:rPr lang="en-US" sz="1400" dirty="0">
                <a:solidFill>
                  <a:schemeClr val="bg1"/>
                </a:solidFill>
              </a:rPr>
              <a:t>On recovery: close event, recompute</a:t>
            </a:r>
            <a:endParaRPr lang="en-US" sz="1400" dirty="0"/>
          </a:p>
        </p:txBody>
      </p:sp>
      <p:sp>
        <p:nvSpPr>
          <p:cNvPr id="31" name="Shape 29"/>
          <p:cNvSpPr/>
          <p:nvPr/>
        </p:nvSpPr>
        <p:spPr>
          <a:xfrm>
            <a:off x="548640" y="4206240"/>
            <a:ext cx="5440680" cy="1463040"/>
          </a:xfrm>
          <a:prstGeom prst="roundRect">
            <a:avLst>
              <a:gd name="adj" fmla="val 5000"/>
            </a:avLst>
          </a:prstGeom>
          <a:solidFill>
            <a:schemeClr val="bg2"/>
          </a:solidFill>
          <a:ln w="12700">
            <a:solidFill>
              <a:schemeClr val="bg2"/>
            </a:solidFill>
            <a:prstDash val="solid"/>
          </a:ln>
        </p:spPr>
      </p:sp>
      <p:sp>
        <p:nvSpPr>
          <p:cNvPr id="32" name="Text 30"/>
          <p:cNvSpPr txBox="1"/>
          <p:nvPr/>
        </p:nvSpPr>
        <p:spPr>
          <a:xfrm>
            <a:off x="731520" y="4279392"/>
            <a:ext cx="5029200" cy="274320"/>
          </a:xfrm>
          <a:prstGeom prst="rect">
            <a:avLst/>
          </a:prstGeom>
          <a:noFill/>
          <a:ln/>
        </p:spPr>
        <p:txBody>
          <a:bodyPr wrap="square" lIns="0" tIns="0" rIns="0" bIns="0" rtlCol="0" anchor="t"/>
          <a:lstStyle/>
          <a:p>
            <a:pPr indent="0" marL="0">
              <a:buNone/>
            </a:pPr>
            <a:r>
              <a:rPr lang="en-US" sz="1400" b="1" dirty="0">
                <a:solidFill>
                  <a:schemeClr val="accent1"/>
                </a:solidFill>
              </a:rPr>
              <a:t>Alternative flows</a:t>
            </a:r>
            <a:endParaRPr lang="en-US" sz="1400" dirty="0"/>
          </a:p>
        </p:txBody>
      </p:sp>
      <p:sp>
        <p:nvSpPr>
          <p:cNvPr id="33" name="Text 31"/>
          <p:cNvSpPr txBox="1"/>
          <p:nvPr/>
        </p:nvSpPr>
        <p:spPr>
          <a:xfrm>
            <a:off x="731520" y="4572000"/>
            <a:ext cx="5074920" cy="1051560"/>
          </a:xfrm>
          <a:prstGeom prst="rect">
            <a:avLst/>
          </a:prstGeom>
          <a:noFill/>
          <a:ln/>
        </p:spPr>
        <p:txBody>
          <a:bodyPr wrap="square" lIns="0" tIns="0" rIns="0" bIns="0" rtlCol="0" anchor="t"/>
          <a:lstStyle/>
          <a:p>
            <a:pPr indent="0" marL="0">
              <a:buNone/>
            </a:pPr>
            <a:r>
              <a:rPr lang="en-US" sz="1400" dirty="0">
                <a:solidFill>
                  <a:schemeClr val="tx1"/>
                </a:solidFill>
              </a:rPr>
              <a:t>A1 Area was NORMAL, no other signal → UNKNOWN for operators</a:t>
            </a:r>
            <a:endParaRPr lang="en-US" sz="1400" dirty="0"/>
          </a:p>
          <a:p>
            <a:pPr indent="0" marL="0">
              <a:buNone/>
            </a:pPr>
            <a:r>
              <a:rPr lang="en-US" sz="1400" dirty="0">
                <a:solidFill>
                  <a:schemeClr val="tx1"/>
                </a:solidFill>
              </a:rPr>
              <a:t>A2 Long outage in monsoon → request manual gauge readings</a:t>
            </a:r>
            <a:endParaRPr lang="en-US" sz="1400" dirty="0"/>
          </a:p>
        </p:txBody>
      </p:sp>
      <p:sp>
        <p:nvSpPr>
          <p:cNvPr id="34" name="Shape 32"/>
          <p:cNvSpPr/>
          <p:nvPr/>
        </p:nvSpPr>
        <p:spPr>
          <a:xfrm>
            <a:off x="6172200" y="4206240"/>
            <a:ext cx="5440680" cy="1463040"/>
          </a:xfrm>
          <a:prstGeom prst="roundRect">
            <a:avLst>
              <a:gd name="adj" fmla="val 5000"/>
            </a:avLst>
          </a:prstGeom>
          <a:solidFill>
            <a:schemeClr val="bg2"/>
          </a:solidFill>
          <a:ln w="12700">
            <a:solidFill>
              <a:schemeClr val="bg2"/>
            </a:solidFill>
            <a:prstDash val="solid"/>
          </a:ln>
        </p:spPr>
      </p:sp>
      <p:sp>
        <p:nvSpPr>
          <p:cNvPr id="35" name="Text 33"/>
          <p:cNvSpPr txBox="1"/>
          <p:nvPr/>
        </p:nvSpPr>
        <p:spPr>
          <a:xfrm>
            <a:off x="6355080" y="4279392"/>
            <a:ext cx="5029200" cy="274320"/>
          </a:xfrm>
          <a:prstGeom prst="rect">
            <a:avLst/>
          </a:prstGeom>
          <a:noFill/>
          <a:ln/>
        </p:spPr>
        <p:txBody>
          <a:bodyPr wrap="square" lIns="0" tIns="0" rIns="0" bIns="0" rtlCol="0" anchor="t"/>
          <a:lstStyle/>
          <a:p>
            <a:pPr indent="0" marL="0">
              <a:buNone/>
            </a:pPr>
            <a:r>
              <a:rPr lang="en-US" sz="1400" b="1" dirty="0">
                <a:solidFill>
                  <a:schemeClr val="accent3"/>
                </a:solidFill>
              </a:rPr>
              <a:t>Exception flows</a:t>
            </a:r>
            <a:endParaRPr lang="en-US" sz="1400" dirty="0"/>
          </a:p>
        </p:txBody>
      </p:sp>
      <p:sp>
        <p:nvSpPr>
          <p:cNvPr id="36" name="Text 34"/>
          <p:cNvSpPr txBox="1"/>
          <p:nvPr/>
        </p:nvSpPr>
        <p:spPr>
          <a:xfrm>
            <a:off x="6355080" y="4572000"/>
            <a:ext cx="5074920" cy="1051560"/>
          </a:xfrm>
          <a:prstGeom prst="rect">
            <a:avLst/>
          </a:prstGeom>
          <a:noFill/>
          <a:ln/>
        </p:spPr>
        <p:txBody>
          <a:bodyPr wrap="square" lIns="0" tIns="0" rIns="0" bIns="0" rtlCol="0" anchor="t"/>
          <a:lstStyle/>
          <a:p>
            <a:pPr indent="0" marL="0">
              <a:buNone/>
            </a:pPr>
            <a:r>
              <a:rPr lang="en-US" sz="1400" dirty="0">
                <a:solidFill>
                  <a:schemeClr val="tx1"/>
                </a:solidFill>
              </a:rPr>
              <a:t>E1 All sources down → system-wide banner and manual procedures</a:t>
            </a:r>
            <a:endParaRPr lang="en-US" sz="1400" dirty="0"/>
          </a:p>
        </p:txBody>
      </p:sp>
      <p:sp>
        <p:nvSpPr>
          <p:cNvPr id="37" name="Text 35"/>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300" b="1" dirty="0">
                <a:solidFill>
                  <a:schemeClr val="tx2"/>
                </a:solidFill>
              </a:rPr>
              <a:t>Related requirements: </a:t>
            </a:r>
            <a:pPr indent="0" marL="0">
              <a:buNone/>
            </a:pPr>
            <a:r>
              <a:rPr lang="en-US" sz="1300" dirty="0">
                <a:solidFill>
                  <a:schemeClr val="tx2"/>
                </a:solidFill>
              </a:rPr>
              <a:t>FR-07, FR-15, FR-48, SR-06, NFR-R2 — scenario test ST-04</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User stories (24 total — examples)</a:t>
            </a:r>
            <a:endParaRPr lang="en-US" sz="3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822960"/>
                <a:gridCol w="8778240"/>
                <a:gridCol w="1463040"/>
              </a:tblGrid>
              <a:tr h="475488">
                <a:tc>
                  <a:txBody>
                    <a:bodyPr/>
                    <a:lstStyle/>
                    <a:p>
                      <a:pPr indent="0" marL="0">
                        <a:buNone/>
                      </a:pPr>
                      <a:r>
                        <a:rPr lang="en-US" sz="1400" b="1" dirty="0">
                          <a:solidFill>
                            <a:schemeClr val="bg1"/>
                          </a:solidFill>
                        </a:rPr>
                        <a:t>ID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User story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475488">
                <a:tc>
                  <a:txBody>
                    <a:bodyPr/>
                    <a:lstStyle/>
                    <a:p>
                      <a:pPr indent="0" marL="0">
                        <a:buNone/>
                      </a:pPr>
                      <a:r>
                        <a:rPr lang="en-US" sz="1400" b="1" dirty="0">
                          <a:solidFill>
                            <a:schemeClr val="accent1"/>
                          </a:solidFill>
                        </a:rPr>
                        <a:t>US-01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As a riverside resident, I want a warning in my language when my ward is at risk, so I can move my family early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FR-30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accent1"/>
                          </a:solidFill>
                        </a:rPr>
                        <a:t>US-02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As a feature-phone user, I want warnings by SMS, so I get them without internet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FR-35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accent1"/>
                          </a:solidFill>
                        </a:rPr>
                        <a:t>US-03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As a son working abroad, I want to subscribe to my father's ward, so I can call him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FR-32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accent1"/>
                          </a:solidFill>
                        </a:rPr>
                        <a:t>US-06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As a wheelchair user, I want accessible shelters and step-free routes, so I can reach safety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FR-39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accent1"/>
                          </a:solidFill>
                        </a:rPr>
                        <a:t>US-10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As a ward focal person, I want a proposal with evidence, so I approve quickly but responsibly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FR-18, 20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accent1"/>
                          </a:solidFill>
                        </a:rPr>
                        <a:t>US-12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As an operator, I want to cancel a wrong warning and correct the same people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FR-25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accent1"/>
                          </a:solidFill>
                        </a:rPr>
                        <a:t>US-16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As an admin, I want to know when a gauge goes silent, so silence isn't read as safety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FR-07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accent1"/>
                          </a:solidFill>
                        </a:rPr>
                        <a:t>US-21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As the national hydromet authority, I want the system never to contradict our warning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FR-28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200" dirty="0">
                <a:solidFill>
                  <a:schemeClr val="accent6"/>
                </a:solidFill>
              </a:rPr>
              <a:t>Key stories carry Gherkin acceptance tests, e.g. “Given a gauge stops while Ward 3 is at WARNING, then Ward 3 stays at WARNING with LOW confidence”.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Failure scenarios F1–F10</a:t>
            </a:r>
            <a:endParaRPr lang="en-US" sz="32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594360"/>
                <a:gridCol w="2743200"/>
                <a:gridCol w="548640"/>
                <a:gridCol w="640080"/>
                <a:gridCol w="4800600"/>
                <a:gridCol w="1737360"/>
              </a:tblGrid>
              <a:tr h="411480">
                <a:tc>
                  <a:txBody>
                    <a:bodyPr/>
                    <a:lstStyle/>
                    <a:p>
                      <a:pPr indent="0" marL="0">
                        <a:buNone/>
                      </a:pPr>
                      <a:r>
                        <a:rPr lang="en-US" sz="1400" b="1" dirty="0">
                          <a:solidFill>
                            <a:schemeClr val="bg1"/>
                          </a:solidFill>
                        </a:rPr>
                        <a: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Scenario</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Sev</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Prob</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Key mitigation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411480">
                <a:tc>
                  <a:txBody>
                    <a:bodyPr/>
                    <a:lstStyle/>
                    <a:p>
                      <a:pPr indent="0" marL="0">
                        <a:buNone/>
                      </a:pPr>
                      <a:r>
                        <a:rPr lang="en-US" sz="1400" b="1" dirty="0">
                          <a:solidFill>
                            <a:schemeClr val="tx1"/>
                          </a:solidFill>
                        </a:rPr>
                        <a:t>F1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Internet fails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H</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PWA offline cache, SMS, static CDN page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FR-47, FR-50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F2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Mobile network fails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3"/>
                          </a:solidFill>
                        </a:rPr>
                        <a:t>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Early WATCH, sirens, volunteers, re-send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SR-01, FR-57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F3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Electricity fails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H</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Cloud hosting, low-power app, charge advice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NFR-A2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F4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Weather API down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Circuit breaker, cached forecast, hold level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NFR-R2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F5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River data unavailable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3"/>
                          </a:solidFill>
                        </a:rPr>
                        <a:t>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Hold level, LOW confidence, manual readings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FR-07, SR-06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F6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Incorrect data</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3"/>
                          </a:solidFill>
                        </a:rPr>
                        <a:t>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Range / spike checks, human approval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FR-06, FR-08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F7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Conflicting sources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Conservative level, operator resolves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FR-09, SR-07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F8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False flood prediction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H</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Tiered levels, approval, hysteresis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FR-26, SR-08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F9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Flood not detected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3"/>
                          </a:solidFill>
                        </a:rPr>
                        <a:t>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Upstream + rain rules, reports, manual alert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FR-37, FR-53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F10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Warning delayed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3"/>
                          </a:solidFill>
                        </a:rPr>
                        <a:t>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Auto WATCH, timeout escalation, priority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FR-21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200" dirty="0">
                <a:solidFill>
                  <a:schemeClr val="accent6"/>
                </a:solidFill>
              </a:rPr>
              <a:t>Severity 4 catastrophic … 1 minor · Probability H / M / L per monsoon season — qualitative estimates [A]; detection, recovery, owner in docs/06</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Failure scenarios F11–F20</a:t>
            </a:r>
            <a:endParaRPr lang="en-US" sz="3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594360"/>
                <a:gridCol w="2743200"/>
                <a:gridCol w="548640"/>
                <a:gridCol w="640080"/>
                <a:gridCol w="4800600"/>
                <a:gridCol w="1737360"/>
              </a:tblGrid>
              <a:tr h="411480">
                <a:tc>
                  <a:txBody>
                    <a:bodyPr/>
                    <a:lstStyle/>
                    <a:p>
                      <a:pPr indent="0" marL="0">
                        <a:buNone/>
                      </a:pPr>
                      <a:r>
                        <a:rPr lang="en-US" sz="1400" b="1" dirty="0">
                          <a:solidFill>
                            <a:schemeClr val="bg1"/>
                          </a:solidFill>
                        </a:rPr>
                        <a: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Scenario</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Sev</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Prob</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Key mitigation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Requirements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411480">
                <a:tc>
                  <a:txBody>
                    <a:bodyPr/>
                    <a:lstStyle/>
                    <a:p>
                      <a:pPr indent="0" marL="0">
                        <a:buNone/>
                      </a:pPr>
                      <a:r>
                        <a:rPr lang="en-US" sz="1400" b="1" dirty="0">
                          <a:solidFill>
                            <a:schemeClr val="tx1"/>
                          </a:solidFill>
                        </a:rPr>
                        <a:t>F11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Warning not delivered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3"/>
                          </a:solidFill>
                        </a:rPr>
                        <a:t>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Retries, SMS fallback, undelivered stats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SR-01, FR-49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F12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Route blocked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3"/>
                          </a:solidFill>
                        </a:rPr>
                        <a:t>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Hazard-aware routing, alternative, re-route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SR-03, FR-45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F13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Shelter unavailable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Live status, exclude unsafe, alternative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SR-05, FR-55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F14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GPS inaccurate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Confirm on map if accuracy &gt; 100 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FR-34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F15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Server crash in emergency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3"/>
                          </a:solidFill>
                        </a:rPr>
                        <a:t>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Restart + recompute ≤ 2 min, static fallback</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NFR-R4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F16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Cyberattack: fake warning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3"/>
                          </a:solidFill>
                        </a:rPr>
                        <a:t>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MFA, RLS, two-person rule, rate limits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SR-02, SEC-05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F17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Admin issues wrong warning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rPr>
                        <a:t>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Preview, 2nd approver, cancel + correction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FR-25, SR-09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F18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Levels misunderstood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rPr>
                        <a:t>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H</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Action-first text, icons, local languages, testing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FR-29, NFR-U1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F19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Warning fatigue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3"/>
                          </a:solidFill>
                        </a:rPr>
                        <a:t>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M</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Notify on change, hysteresis, tuning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FR-26, FR-62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F20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coverage in mountains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3"/>
                          </a:solidFill>
                        </a:rPr>
                        <a:t>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H</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Coverage flags, community EWS, sirens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FR-16, NFR-I3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200" dirty="0">
                <a:solidFill>
                  <a:schemeClr val="accent6"/>
                </a:solidFill>
              </a:rPr>
              <a:t>Severity 4 catastrophic … 1 minor · Probability H / M / L per monsoon season — qualitative estimates [A]; detection, recovery, owner in docs/06</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Risk matrix and residual risk</a:t>
            </a:r>
            <a:endParaRPr lang="en-US" sz="3200" dirty="0"/>
          </a:p>
        </p:txBody>
      </p:sp>
      <p:sp>
        <p:nvSpPr>
          <p:cNvPr id="3" name="Text 1"/>
          <p:cNvSpPr txBox="1"/>
          <p:nvPr/>
        </p:nvSpPr>
        <p:spPr>
          <a:xfrm>
            <a:off x="1371600" y="1261872"/>
            <a:ext cx="1874520" cy="274320"/>
          </a:xfrm>
          <a:prstGeom prst="rect">
            <a:avLst/>
          </a:prstGeom>
          <a:noFill/>
          <a:ln/>
        </p:spPr>
        <p:txBody>
          <a:bodyPr wrap="square" lIns="0" tIns="0" rIns="0" bIns="0" rtlCol="0" anchor="t"/>
          <a:lstStyle/>
          <a:p>
            <a:pPr algn="ctr" indent="0" marL="0">
              <a:buNone/>
            </a:pPr>
            <a:r>
              <a:rPr lang="en-US" sz="1300" b="1" dirty="0">
                <a:solidFill>
                  <a:schemeClr val="accent6"/>
                </a:solidFill>
              </a:rPr>
              <a:t>Low</a:t>
            </a:r>
            <a:endParaRPr lang="en-US" sz="1300" dirty="0"/>
          </a:p>
        </p:txBody>
      </p:sp>
      <p:sp>
        <p:nvSpPr>
          <p:cNvPr id="4" name="Text 2"/>
          <p:cNvSpPr txBox="1"/>
          <p:nvPr/>
        </p:nvSpPr>
        <p:spPr>
          <a:xfrm>
            <a:off x="3337560" y="1261872"/>
            <a:ext cx="1874520" cy="274320"/>
          </a:xfrm>
          <a:prstGeom prst="rect">
            <a:avLst/>
          </a:prstGeom>
          <a:noFill/>
          <a:ln/>
        </p:spPr>
        <p:txBody>
          <a:bodyPr wrap="square" lIns="0" tIns="0" rIns="0" bIns="0" rtlCol="0" anchor="t"/>
          <a:lstStyle/>
          <a:p>
            <a:pPr algn="ctr" indent="0" marL="0">
              <a:buNone/>
            </a:pPr>
            <a:r>
              <a:rPr lang="en-US" sz="1300" b="1" dirty="0">
                <a:solidFill>
                  <a:schemeClr val="accent6"/>
                </a:solidFill>
              </a:rPr>
              <a:t>Medium</a:t>
            </a:r>
            <a:endParaRPr lang="en-US" sz="1300" dirty="0"/>
          </a:p>
        </p:txBody>
      </p:sp>
      <p:sp>
        <p:nvSpPr>
          <p:cNvPr id="5" name="Text 3"/>
          <p:cNvSpPr txBox="1"/>
          <p:nvPr/>
        </p:nvSpPr>
        <p:spPr>
          <a:xfrm>
            <a:off x="5303520" y="1261872"/>
            <a:ext cx="1874520" cy="274320"/>
          </a:xfrm>
          <a:prstGeom prst="rect">
            <a:avLst/>
          </a:prstGeom>
          <a:noFill/>
          <a:ln/>
        </p:spPr>
        <p:txBody>
          <a:bodyPr wrap="square" lIns="0" tIns="0" rIns="0" bIns="0" rtlCol="0" anchor="t"/>
          <a:lstStyle/>
          <a:p>
            <a:pPr algn="ctr" indent="0" marL="0">
              <a:buNone/>
            </a:pPr>
            <a:r>
              <a:rPr lang="en-US" sz="1300" b="1" dirty="0">
                <a:solidFill>
                  <a:schemeClr val="accent6"/>
                </a:solidFill>
              </a:rPr>
              <a:t>High</a:t>
            </a:r>
            <a:endParaRPr lang="en-US" sz="1300" dirty="0"/>
          </a:p>
        </p:txBody>
      </p:sp>
      <p:sp>
        <p:nvSpPr>
          <p:cNvPr id="6" name="Text 4"/>
          <p:cNvSpPr txBox="1"/>
          <p:nvPr/>
        </p:nvSpPr>
        <p:spPr>
          <a:xfrm>
            <a:off x="548640" y="1600200"/>
            <a:ext cx="777240" cy="1280160"/>
          </a:xfrm>
          <a:prstGeom prst="rect">
            <a:avLst/>
          </a:prstGeom>
          <a:noFill/>
          <a:ln/>
        </p:spPr>
        <p:txBody>
          <a:bodyPr wrap="square" lIns="0" tIns="0" rIns="0" bIns="0" rtlCol="0" anchor="ctr"/>
          <a:lstStyle/>
          <a:p>
            <a:pPr indent="0" marL="0">
              <a:buNone/>
            </a:pPr>
            <a:r>
              <a:rPr lang="en-US" sz="1300" b="1" dirty="0">
                <a:solidFill>
                  <a:schemeClr val="accent6"/>
                </a:solidFill>
              </a:rPr>
              <a:t>Sev 4</a:t>
            </a:r>
            <a:endParaRPr lang="en-US" sz="1300" dirty="0"/>
          </a:p>
        </p:txBody>
      </p:sp>
      <p:sp>
        <p:nvSpPr>
          <p:cNvPr id="7" name="Shape 5"/>
          <p:cNvSpPr/>
          <p:nvPr/>
        </p:nvSpPr>
        <p:spPr>
          <a:xfrm>
            <a:off x="1371600" y="1600200"/>
            <a:ext cx="1874520" cy="1280160"/>
          </a:xfrm>
          <a:prstGeom prst="roundRect">
            <a:avLst>
              <a:gd name="adj" fmla="val 4286"/>
            </a:avLst>
          </a:prstGeom>
          <a:solidFill>
            <a:schemeClr val="accent2"/>
          </a:solidFill>
          <a:ln w="12700">
            <a:solidFill>
              <a:schemeClr val="accent2"/>
            </a:solidFill>
            <a:prstDash val="solid"/>
          </a:ln>
        </p:spPr>
      </p:sp>
      <p:sp>
        <p:nvSpPr>
          <p:cNvPr id="8" name="Text 6"/>
          <p:cNvSpPr txBox="1"/>
          <p:nvPr/>
        </p:nvSpPr>
        <p:spPr>
          <a:xfrm>
            <a:off x="1463040" y="1600200"/>
            <a:ext cx="1691640" cy="1280160"/>
          </a:xfrm>
          <a:prstGeom prst="rect">
            <a:avLst/>
          </a:prstGeom>
          <a:noFill/>
          <a:ln/>
        </p:spPr>
        <p:txBody>
          <a:bodyPr wrap="square" lIns="0" tIns="0" rIns="0" bIns="0" rtlCol="0" anchor="ctr"/>
          <a:lstStyle/>
          <a:p>
            <a:pPr algn="ctr" indent="0" marL="0">
              <a:buNone/>
            </a:pPr>
            <a:r>
              <a:rPr lang="en-US" sz="1400" b="1" dirty="0">
                <a:solidFill>
                  <a:schemeClr val="tx1"/>
                </a:solidFill>
              </a:rPr>
              <a:t>F15, F16</a:t>
            </a:r>
            <a:endParaRPr lang="en-US" sz="1400" dirty="0"/>
          </a:p>
        </p:txBody>
      </p:sp>
      <p:sp>
        <p:nvSpPr>
          <p:cNvPr id="9" name="Shape 7"/>
          <p:cNvSpPr/>
          <p:nvPr/>
        </p:nvSpPr>
        <p:spPr>
          <a:xfrm>
            <a:off x="3337560" y="1600200"/>
            <a:ext cx="1874520" cy="1280160"/>
          </a:xfrm>
          <a:prstGeom prst="roundRect">
            <a:avLst>
              <a:gd name="adj" fmla="val 4286"/>
            </a:avLst>
          </a:prstGeom>
          <a:solidFill>
            <a:schemeClr val="accent3"/>
          </a:solidFill>
          <a:ln w="12700">
            <a:solidFill>
              <a:schemeClr val="accent3"/>
            </a:solidFill>
            <a:prstDash val="solid"/>
          </a:ln>
        </p:spPr>
      </p:sp>
      <p:sp>
        <p:nvSpPr>
          <p:cNvPr id="10" name="Text 8"/>
          <p:cNvSpPr txBox="1"/>
          <p:nvPr/>
        </p:nvSpPr>
        <p:spPr>
          <a:xfrm>
            <a:off x="3429000" y="1600200"/>
            <a:ext cx="1691640" cy="1280160"/>
          </a:xfrm>
          <a:prstGeom prst="rect">
            <a:avLst/>
          </a:prstGeom>
          <a:noFill/>
          <a:ln/>
        </p:spPr>
        <p:txBody>
          <a:bodyPr wrap="square" lIns="0" tIns="0" rIns="0" bIns="0" rtlCol="0" anchor="ctr"/>
          <a:lstStyle/>
          <a:p>
            <a:pPr algn="ctr" indent="0" marL="0">
              <a:buNone/>
            </a:pPr>
            <a:r>
              <a:rPr lang="en-US" sz="1400" b="1" dirty="0">
                <a:solidFill>
                  <a:schemeClr val="bg1"/>
                </a:solidFill>
              </a:rPr>
              <a:t>F2, F5, F6, F9, F10, F11, F12, F19</a:t>
            </a:r>
            <a:endParaRPr lang="en-US" sz="1400" dirty="0"/>
          </a:p>
        </p:txBody>
      </p:sp>
      <p:sp>
        <p:nvSpPr>
          <p:cNvPr id="11" name="Shape 9"/>
          <p:cNvSpPr/>
          <p:nvPr/>
        </p:nvSpPr>
        <p:spPr>
          <a:xfrm>
            <a:off x="5303520" y="1600200"/>
            <a:ext cx="1874520" cy="1280160"/>
          </a:xfrm>
          <a:prstGeom prst="roundRect">
            <a:avLst>
              <a:gd name="adj" fmla="val 4286"/>
            </a:avLst>
          </a:prstGeom>
          <a:solidFill>
            <a:schemeClr val="accent3"/>
          </a:solidFill>
          <a:ln w="12700">
            <a:solidFill>
              <a:schemeClr val="accent3"/>
            </a:solidFill>
            <a:prstDash val="solid"/>
          </a:ln>
        </p:spPr>
      </p:sp>
      <p:sp>
        <p:nvSpPr>
          <p:cNvPr id="12" name="Text 10"/>
          <p:cNvSpPr txBox="1"/>
          <p:nvPr/>
        </p:nvSpPr>
        <p:spPr>
          <a:xfrm>
            <a:off x="5394960" y="1600200"/>
            <a:ext cx="1691640" cy="1280160"/>
          </a:xfrm>
          <a:prstGeom prst="rect">
            <a:avLst/>
          </a:prstGeom>
          <a:noFill/>
          <a:ln/>
        </p:spPr>
        <p:txBody>
          <a:bodyPr wrap="square" lIns="0" tIns="0" rIns="0" bIns="0" rtlCol="0" anchor="ctr"/>
          <a:lstStyle/>
          <a:p>
            <a:pPr algn="ctr" indent="0" marL="0">
              <a:buNone/>
            </a:pPr>
            <a:r>
              <a:rPr lang="en-US" sz="1400" b="1" dirty="0">
                <a:solidFill>
                  <a:schemeClr val="bg1"/>
                </a:solidFill>
              </a:rPr>
              <a:t>F20</a:t>
            </a:r>
            <a:endParaRPr lang="en-US" sz="1400" dirty="0"/>
          </a:p>
        </p:txBody>
      </p:sp>
      <p:sp>
        <p:nvSpPr>
          <p:cNvPr id="13" name="Text 11"/>
          <p:cNvSpPr txBox="1"/>
          <p:nvPr/>
        </p:nvSpPr>
        <p:spPr>
          <a:xfrm>
            <a:off x="548640" y="2971800"/>
            <a:ext cx="777240" cy="1280160"/>
          </a:xfrm>
          <a:prstGeom prst="rect">
            <a:avLst/>
          </a:prstGeom>
          <a:noFill/>
          <a:ln/>
        </p:spPr>
        <p:txBody>
          <a:bodyPr wrap="square" lIns="0" tIns="0" rIns="0" bIns="0" rtlCol="0" anchor="ctr"/>
          <a:lstStyle/>
          <a:p>
            <a:pPr indent="0" marL="0">
              <a:buNone/>
            </a:pPr>
            <a:r>
              <a:rPr lang="en-US" sz="1300" b="1" dirty="0">
                <a:solidFill>
                  <a:schemeClr val="accent6"/>
                </a:solidFill>
              </a:rPr>
              <a:t>Sev 3</a:t>
            </a:r>
            <a:endParaRPr lang="en-US" sz="1300" dirty="0"/>
          </a:p>
        </p:txBody>
      </p:sp>
      <p:sp>
        <p:nvSpPr>
          <p:cNvPr id="14" name="Shape 12"/>
          <p:cNvSpPr/>
          <p:nvPr/>
        </p:nvSpPr>
        <p:spPr>
          <a:xfrm>
            <a:off x="1371600" y="2971800"/>
            <a:ext cx="1874520" cy="1280160"/>
          </a:xfrm>
          <a:prstGeom prst="roundRect">
            <a:avLst>
              <a:gd name="adj" fmla="val 4286"/>
            </a:avLst>
          </a:prstGeom>
          <a:solidFill>
            <a:schemeClr val="accent4"/>
          </a:solidFill>
          <a:ln w="12700">
            <a:solidFill>
              <a:schemeClr val="accent4"/>
            </a:solidFill>
            <a:prstDash val="solid"/>
          </a:ln>
        </p:spPr>
      </p:sp>
      <p:sp>
        <p:nvSpPr>
          <p:cNvPr id="15" name="Text 13"/>
          <p:cNvSpPr txBox="1"/>
          <p:nvPr/>
        </p:nvSpPr>
        <p:spPr>
          <a:xfrm>
            <a:off x="1463040" y="2971800"/>
            <a:ext cx="1691640" cy="1280160"/>
          </a:xfrm>
          <a:prstGeom prst="rect">
            <a:avLst/>
          </a:prstGeom>
          <a:noFill/>
          <a:ln/>
        </p:spPr>
        <p:txBody>
          <a:bodyPr wrap="square" lIns="0" tIns="0" rIns="0" bIns="0" rtlCol="0" anchor="ctr"/>
          <a:lstStyle/>
          <a:p>
            <a:pPr algn="ctr" indent="0" marL="0">
              <a:buNone/>
            </a:pPr>
            <a:r>
              <a:rPr lang="en-US" sz="1400" b="1" dirty="0">
                <a:solidFill>
                  <a:schemeClr val="tx1"/>
                </a:solidFill>
              </a:rPr>
              <a:t>—</a:t>
            </a:r>
            <a:endParaRPr lang="en-US" sz="1400" dirty="0"/>
          </a:p>
        </p:txBody>
      </p:sp>
      <p:sp>
        <p:nvSpPr>
          <p:cNvPr id="16" name="Shape 14"/>
          <p:cNvSpPr/>
          <p:nvPr/>
        </p:nvSpPr>
        <p:spPr>
          <a:xfrm>
            <a:off x="3337560" y="2971800"/>
            <a:ext cx="1874520" cy="1280160"/>
          </a:xfrm>
          <a:prstGeom prst="roundRect">
            <a:avLst>
              <a:gd name="adj" fmla="val 4286"/>
            </a:avLst>
          </a:prstGeom>
          <a:solidFill>
            <a:schemeClr val="accent2"/>
          </a:solidFill>
          <a:ln w="12700">
            <a:solidFill>
              <a:schemeClr val="accent2"/>
            </a:solidFill>
            <a:prstDash val="solid"/>
          </a:ln>
        </p:spPr>
      </p:sp>
      <p:sp>
        <p:nvSpPr>
          <p:cNvPr id="17" name="Text 15"/>
          <p:cNvSpPr txBox="1"/>
          <p:nvPr/>
        </p:nvSpPr>
        <p:spPr>
          <a:xfrm>
            <a:off x="3429000" y="2971800"/>
            <a:ext cx="1691640" cy="1280160"/>
          </a:xfrm>
          <a:prstGeom prst="rect">
            <a:avLst/>
          </a:prstGeom>
          <a:noFill/>
          <a:ln/>
        </p:spPr>
        <p:txBody>
          <a:bodyPr wrap="square" lIns="0" tIns="0" rIns="0" bIns="0" rtlCol="0" anchor="ctr"/>
          <a:lstStyle/>
          <a:p>
            <a:pPr algn="ctr" indent="0" marL="0">
              <a:buNone/>
            </a:pPr>
            <a:r>
              <a:rPr lang="en-US" sz="1400" b="1" dirty="0">
                <a:solidFill>
                  <a:schemeClr val="tx1"/>
                </a:solidFill>
              </a:rPr>
              <a:t>F7, F13, F14, F17</a:t>
            </a:r>
            <a:endParaRPr lang="en-US" sz="1400" dirty="0"/>
          </a:p>
        </p:txBody>
      </p:sp>
      <p:sp>
        <p:nvSpPr>
          <p:cNvPr id="18" name="Shape 16"/>
          <p:cNvSpPr/>
          <p:nvPr/>
        </p:nvSpPr>
        <p:spPr>
          <a:xfrm>
            <a:off x="5303520" y="2971800"/>
            <a:ext cx="1874520" cy="1280160"/>
          </a:xfrm>
          <a:prstGeom prst="roundRect">
            <a:avLst>
              <a:gd name="adj" fmla="val 4286"/>
            </a:avLst>
          </a:prstGeom>
          <a:solidFill>
            <a:schemeClr val="accent3"/>
          </a:solidFill>
          <a:ln w="12700">
            <a:solidFill>
              <a:schemeClr val="accent3"/>
            </a:solidFill>
            <a:prstDash val="solid"/>
          </a:ln>
        </p:spPr>
      </p:sp>
      <p:sp>
        <p:nvSpPr>
          <p:cNvPr id="19" name="Text 17"/>
          <p:cNvSpPr txBox="1"/>
          <p:nvPr/>
        </p:nvSpPr>
        <p:spPr>
          <a:xfrm>
            <a:off x="5394960" y="2971800"/>
            <a:ext cx="1691640" cy="1280160"/>
          </a:xfrm>
          <a:prstGeom prst="rect">
            <a:avLst/>
          </a:prstGeom>
          <a:noFill/>
          <a:ln/>
        </p:spPr>
        <p:txBody>
          <a:bodyPr wrap="square" lIns="0" tIns="0" rIns="0" bIns="0" rtlCol="0" anchor="ctr"/>
          <a:lstStyle/>
          <a:p>
            <a:pPr algn="ctr" indent="0" marL="0">
              <a:buNone/>
            </a:pPr>
            <a:r>
              <a:rPr lang="en-US" sz="1400" b="1" dirty="0">
                <a:solidFill>
                  <a:schemeClr val="bg1"/>
                </a:solidFill>
              </a:rPr>
              <a:t>F1, F3, F8, F18</a:t>
            </a:r>
            <a:endParaRPr lang="en-US" sz="1400" dirty="0"/>
          </a:p>
        </p:txBody>
      </p:sp>
      <p:sp>
        <p:nvSpPr>
          <p:cNvPr id="20" name="Text 18"/>
          <p:cNvSpPr txBox="1"/>
          <p:nvPr/>
        </p:nvSpPr>
        <p:spPr>
          <a:xfrm>
            <a:off x="548640" y="4343400"/>
            <a:ext cx="777240" cy="1280160"/>
          </a:xfrm>
          <a:prstGeom prst="rect">
            <a:avLst/>
          </a:prstGeom>
          <a:noFill/>
          <a:ln/>
        </p:spPr>
        <p:txBody>
          <a:bodyPr wrap="square" lIns="0" tIns="0" rIns="0" bIns="0" rtlCol="0" anchor="ctr"/>
          <a:lstStyle/>
          <a:p>
            <a:pPr indent="0" marL="0">
              <a:buNone/>
            </a:pPr>
            <a:r>
              <a:rPr lang="en-US" sz="1300" b="1" dirty="0">
                <a:solidFill>
                  <a:schemeClr val="accent6"/>
                </a:solidFill>
              </a:rPr>
              <a:t>Sev 2</a:t>
            </a:r>
            <a:endParaRPr lang="en-US" sz="1300" dirty="0"/>
          </a:p>
        </p:txBody>
      </p:sp>
      <p:sp>
        <p:nvSpPr>
          <p:cNvPr id="21" name="Shape 19"/>
          <p:cNvSpPr/>
          <p:nvPr/>
        </p:nvSpPr>
        <p:spPr>
          <a:xfrm>
            <a:off x="1371600" y="4343400"/>
            <a:ext cx="1874520" cy="1280160"/>
          </a:xfrm>
          <a:prstGeom prst="roundRect">
            <a:avLst>
              <a:gd name="adj" fmla="val 4286"/>
            </a:avLst>
          </a:prstGeom>
          <a:solidFill>
            <a:schemeClr val="accent5"/>
          </a:solidFill>
          <a:ln w="12700">
            <a:solidFill>
              <a:schemeClr val="accent5"/>
            </a:solidFill>
            <a:prstDash val="solid"/>
          </a:ln>
        </p:spPr>
      </p:sp>
      <p:sp>
        <p:nvSpPr>
          <p:cNvPr id="22" name="Text 20"/>
          <p:cNvSpPr txBox="1"/>
          <p:nvPr/>
        </p:nvSpPr>
        <p:spPr>
          <a:xfrm>
            <a:off x="1463040" y="4343400"/>
            <a:ext cx="1691640" cy="1280160"/>
          </a:xfrm>
          <a:prstGeom prst="rect">
            <a:avLst/>
          </a:prstGeom>
          <a:noFill/>
          <a:ln/>
        </p:spPr>
        <p:txBody>
          <a:bodyPr wrap="square" lIns="0" tIns="0" rIns="0" bIns="0" rtlCol="0" anchor="ctr"/>
          <a:lstStyle/>
          <a:p>
            <a:pPr algn="ctr" indent="0" marL="0">
              <a:buNone/>
            </a:pPr>
            <a:r>
              <a:rPr lang="en-US" sz="1400" b="1" dirty="0">
                <a:solidFill>
                  <a:schemeClr val="tx1"/>
                </a:solidFill>
              </a:rPr>
              <a:t>—</a:t>
            </a:r>
            <a:endParaRPr lang="en-US" sz="1400" dirty="0"/>
          </a:p>
        </p:txBody>
      </p:sp>
      <p:sp>
        <p:nvSpPr>
          <p:cNvPr id="23" name="Shape 21"/>
          <p:cNvSpPr/>
          <p:nvPr/>
        </p:nvSpPr>
        <p:spPr>
          <a:xfrm>
            <a:off x="3337560" y="4343400"/>
            <a:ext cx="1874520" cy="1280160"/>
          </a:xfrm>
          <a:prstGeom prst="roundRect">
            <a:avLst>
              <a:gd name="adj" fmla="val 4286"/>
            </a:avLst>
          </a:prstGeom>
          <a:solidFill>
            <a:schemeClr val="accent4"/>
          </a:solidFill>
          <a:ln w="12700">
            <a:solidFill>
              <a:schemeClr val="accent4"/>
            </a:solidFill>
            <a:prstDash val="solid"/>
          </a:ln>
        </p:spPr>
      </p:sp>
      <p:sp>
        <p:nvSpPr>
          <p:cNvPr id="24" name="Text 22"/>
          <p:cNvSpPr txBox="1"/>
          <p:nvPr/>
        </p:nvSpPr>
        <p:spPr>
          <a:xfrm>
            <a:off x="3429000" y="4343400"/>
            <a:ext cx="1691640" cy="1280160"/>
          </a:xfrm>
          <a:prstGeom prst="rect">
            <a:avLst/>
          </a:prstGeom>
          <a:noFill/>
          <a:ln/>
        </p:spPr>
        <p:txBody>
          <a:bodyPr wrap="square" lIns="0" tIns="0" rIns="0" bIns="0" rtlCol="0" anchor="ctr"/>
          <a:lstStyle/>
          <a:p>
            <a:pPr algn="ctr" indent="0" marL="0">
              <a:buNone/>
            </a:pPr>
            <a:r>
              <a:rPr lang="en-US" sz="1400" b="1" dirty="0">
                <a:solidFill>
                  <a:schemeClr val="tx1"/>
                </a:solidFill>
              </a:rPr>
              <a:t>F4</a:t>
            </a:r>
            <a:endParaRPr lang="en-US" sz="1400" dirty="0"/>
          </a:p>
        </p:txBody>
      </p:sp>
      <p:sp>
        <p:nvSpPr>
          <p:cNvPr id="25" name="Shape 23"/>
          <p:cNvSpPr/>
          <p:nvPr/>
        </p:nvSpPr>
        <p:spPr>
          <a:xfrm>
            <a:off x="5303520" y="4343400"/>
            <a:ext cx="1874520" cy="1280160"/>
          </a:xfrm>
          <a:prstGeom prst="roundRect">
            <a:avLst>
              <a:gd name="adj" fmla="val 4286"/>
            </a:avLst>
          </a:prstGeom>
          <a:solidFill>
            <a:schemeClr val="accent2"/>
          </a:solidFill>
          <a:ln w="12700">
            <a:solidFill>
              <a:schemeClr val="accent2"/>
            </a:solidFill>
            <a:prstDash val="solid"/>
          </a:ln>
        </p:spPr>
      </p:sp>
      <p:sp>
        <p:nvSpPr>
          <p:cNvPr id="26" name="Text 24"/>
          <p:cNvSpPr txBox="1"/>
          <p:nvPr/>
        </p:nvSpPr>
        <p:spPr>
          <a:xfrm>
            <a:off x="5394960" y="4343400"/>
            <a:ext cx="1691640" cy="1280160"/>
          </a:xfrm>
          <a:prstGeom prst="rect">
            <a:avLst/>
          </a:prstGeom>
          <a:noFill/>
          <a:ln/>
        </p:spPr>
        <p:txBody>
          <a:bodyPr wrap="square" lIns="0" tIns="0" rIns="0" bIns="0" rtlCol="0" anchor="ctr"/>
          <a:lstStyle/>
          <a:p>
            <a:pPr algn="ctr" indent="0" marL="0">
              <a:buNone/>
            </a:pPr>
            <a:r>
              <a:rPr lang="en-US" sz="1400" b="1" dirty="0">
                <a:solidFill>
                  <a:schemeClr val="tx1"/>
                </a:solidFill>
              </a:rPr>
              <a:t>—</a:t>
            </a:r>
            <a:endParaRPr lang="en-US" sz="1400" dirty="0"/>
          </a:p>
        </p:txBody>
      </p:sp>
      <p:sp>
        <p:nvSpPr>
          <p:cNvPr id="27" name="Text 25"/>
          <p:cNvSpPr txBox="1"/>
          <p:nvPr/>
        </p:nvSpPr>
        <p:spPr>
          <a:xfrm>
            <a:off x="1371600" y="5852160"/>
            <a:ext cx="5806440" cy="274320"/>
          </a:xfrm>
          <a:prstGeom prst="rect">
            <a:avLst/>
          </a:prstGeom>
          <a:noFill/>
          <a:ln/>
        </p:spPr>
        <p:txBody>
          <a:bodyPr wrap="square" lIns="0" tIns="0" rIns="0" bIns="0" rtlCol="0" anchor="t"/>
          <a:lstStyle/>
          <a:p>
            <a:pPr algn="ctr" indent="0" marL="0">
              <a:buNone/>
            </a:pPr>
            <a:r>
              <a:rPr lang="en-US" sz="1200" dirty="0">
                <a:solidFill>
                  <a:schemeClr val="accent6"/>
                </a:solidFill>
              </a:rPr>
              <a:t>Probability →</a:t>
            </a:r>
            <a:endParaRPr lang="en-US" sz="1200" dirty="0"/>
          </a:p>
        </p:txBody>
      </p:sp>
      <p:sp>
        <p:nvSpPr>
          <p:cNvPr id="28" name="Shape 26"/>
          <p:cNvSpPr/>
          <p:nvPr/>
        </p:nvSpPr>
        <p:spPr>
          <a:xfrm>
            <a:off x="7543800" y="1280160"/>
            <a:ext cx="4069080" cy="4754880"/>
          </a:xfrm>
          <a:prstGeom prst="roundRect">
            <a:avLst>
              <a:gd name="adj" fmla="val 1798"/>
            </a:avLst>
          </a:prstGeom>
          <a:solidFill>
            <a:schemeClr val="tx2"/>
          </a:solidFill>
          <a:ln w="12700">
            <a:solidFill>
              <a:schemeClr val="tx2"/>
            </a:solidFill>
            <a:prstDash val="solid"/>
          </a:ln>
        </p:spPr>
      </p:sp>
      <p:sp>
        <p:nvSpPr>
          <p:cNvPr id="29" name="Text 27"/>
          <p:cNvSpPr txBox="1"/>
          <p:nvPr/>
        </p:nvSpPr>
        <p:spPr>
          <a:xfrm>
            <a:off x="7818120" y="1463040"/>
            <a:ext cx="3566160" cy="411480"/>
          </a:xfrm>
          <a:prstGeom prst="rect">
            <a:avLst/>
          </a:prstGeom>
          <a:noFill/>
          <a:ln/>
        </p:spPr>
        <p:txBody>
          <a:bodyPr wrap="square" lIns="0" tIns="0" rIns="0" bIns="0" rtlCol="0" anchor="t"/>
          <a:lstStyle/>
          <a:p>
            <a:pPr indent="0" marL="0">
              <a:buNone/>
            </a:pPr>
            <a:r>
              <a:rPr lang="en-US" sz="2000" b="1" dirty="0">
                <a:solidFill>
                  <a:schemeClr val="accent2"/>
                </a:solidFill>
              </a:rPr>
              <a:t>Residual risk</a:t>
            </a:r>
            <a:endParaRPr lang="en-US" sz="2000" dirty="0"/>
          </a:p>
        </p:txBody>
      </p:sp>
      <p:sp>
        <p:nvSpPr>
          <p:cNvPr id="30" name="Text 28"/>
          <p:cNvSpPr txBox="1"/>
          <p:nvPr/>
        </p:nvSpPr>
        <p:spPr>
          <a:xfrm>
            <a:off x="7818120" y="1965960"/>
            <a:ext cx="3566160" cy="3931920"/>
          </a:xfrm>
          <a:prstGeom prst="rect">
            <a:avLst/>
          </a:prstGeom>
          <a:noFill/>
          <a:ln/>
        </p:spPr>
        <p:txBody>
          <a:bodyPr wrap="square" lIns="0" tIns="0" rIns="0" bIns="0" rtlCol="0" anchor="t"/>
          <a:lstStyle/>
          <a:p>
            <a:pPr indent="0" marL="0">
              <a:buNone/>
            </a:pPr>
            <a:r>
              <a:rPr lang="en-US" sz="1400" dirty="0">
                <a:solidFill>
                  <a:schemeClr val="bg1"/>
                </a:solidFill>
              </a:rPr>
              <a:t>Mitigation moves most scenarios to ALARP (as low as reasonably practicable).</a:t>
            </a:r>
            <a:endParaRPr lang="en-US" sz="1400" dirty="0"/>
          </a:p>
          <a:p>
            <a:pPr indent="0" marL="0">
              <a:buNone/>
            </a:pPr>
            <a:r>
              <a:rPr lang="en-US" sz="800" dirty="0">
                <a:solidFill>
                  <a:schemeClr val="bg1"/>
                </a:solidFill>
              </a:rPr>
              <a:t> </a:t>
            </a:r>
            <a:endParaRPr lang="en-US" sz="1400" dirty="0"/>
          </a:p>
          <a:p>
            <a:pPr indent="0" marL="0">
              <a:buNone/>
            </a:pPr>
            <a:r>
              <a:rPr lang="en-US" sz="1400" b="1" dirty="0">
                <a:solidFill>
                  <a:schemeClr val="bg1"/>
                </a:solidFill>
              </a:rPr>
              <a:t>F9 (fast flash floods) and F20 (no coverage) cannot be made acceptable by software alone.</a:t>
            </a:r>
            <a:endParaRPr lang="en-US" sz="1400" dirty="0"/>
          </a:p>
          <a:p>
            <a:pPr indent="0" marL="0">
              <a:buNone/>
            </a:pPr>
            <a:r>
              <a:rPr lang="en-US" sz="800" dirty="0">
                <a:solidFill>
                  <a:schemeClr val="bg1"/>
                </a:solidFill>
              </a:rPr>
              <a:t> </a:t>
            </a:r>
            <a:endParaRPr lang="en-US" sz="1400" dirty="0"/>
          </a:p>
          <a:p>
            <a:pPr indent="0" marL="0">
              <a:buNone/>
            </a:pPr>
            <a:r>
              <a:rPr lang="en-US" sz="1400" dirty="0">
                <a:solidFill>
                  <a:schemeClr val="bg1"/>
                </a:solidFill>
              </a:rPr>
              <a:t>Key RE finding: some safety goals must be assigned to human and organisational agents — community warning systems, volunteers, sirens, radio — and the limitation is stated openly (SR-10).</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Conflicting requirements and how RE resolves them</a:t>
            </a:r>
            <a:endParaRPr lang="en-US" sz="3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91840"/>
                <a:gridCol w="4846320"/>
                <a:gridCol w="2926080"/>
              </a:tblGrid>
              <a:tr h="457200">
                <a:tc>
                  <a:txBody>
                    <a:bodyPr/>
                    <a:lstStyle/>
                    <a:p>
                      <a:pPr indent="0" marL="0">
                        <a:buNone/>
                      </a:pPr>
                      <a:r>
                        <a:rPr lang="en-US" sz="1400" b="1" dirty="0">
                          <a:solidFill>
                            <a:schemeClr val="bg1"/>
                          </a:solidFill>
                        </a:rPr>
                        <a:t>Conflict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Resolution in the requirements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 technique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tx1"/>
                          </a:solidFill>
                        </a:rPr>
                        <a:t>C1 Early warning vs false alarms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Tiered levels; stronger evidence + approval higher up</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1"/>
                          </a:solidFill>
                        </a:rPr>
                        <a:t>Goal / obstacle analysis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C2 Automation vs human authority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Graduated autonomy + timeout escalation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1"/>
                          </a:solidFill>
                        </a:rPr>
                        <a:t>Trade-off workshop, ADR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C3 Privacy vs location tracking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Area subscriptions; consented location only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1"/>
                          </a:solidFill>
                        </a:rPr>
                        <a:t>Privacy impact assessment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C4 Accuracy vs speed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Bounded validation; LOW confidence, not waiting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1"/>
                          </a:solidFill>
                        </a:rPr>
                        <a:t>Quantified NFRs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C5 Rich data vs simple UI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Role-based views, progressive disclosure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1"/>
                          </a:solidFill>
                        </a:rPr>
                        <a:t>Personas, prototyping</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C6 Central vs local authority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Official warning sets a floor; local may add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1"/>
                          </a:solidFill>
                        </a:rPr>
                        <a:t>Viewpoints, RACI</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C7 Coverage vs infrastructure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Channel-agnostic core, SMS, volunteers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1"/>
                          </a:solidFill>
                        </a:rPr>
                        <a:t>Responsibility assignment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C8 Frequent alerts vs fatigue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Notify on change only; CRITICAL unmutable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1"/>
                          </a:solidFill>
                        </a:rPr>
                        <a:t>Scenario simulation</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486400"/>
            <a:ext cx="11064240" cy="594360"/>
          </a:xfrm>
          <a:prstGeom prst="rect">
            <a:avLst/>
          </a:prstGeom>
          <a:noFill/>
          <a:ln/>
        </p:spPr>
        <p:txBody>
          <a:bodyPr wrap="square" lIns="0" tIns="0" rIns="0" bIns="0" rtlCol="0" anchor="t"/>
          <a:lstStyle/>
          <a:p>
            <a:pPr indent="0" marL="0">
              <a:buNone/>
            </a:pPr>
            <a:r>
              <a:rPr lang="en-US" sz="1300" dirty="0">
                <a:solidFill>
                  <a:schemeClr val="tx2"/>
                </a:solidFill>
              </a:rPr>
              <a:t>Process: detect (conflict matrix, viewpoints) → analyse (data / interest / value / authority) → negotiate (WinWin with scenarios) → decide and record (ADR) → make configurable where context-dependent → validate.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Global by design: core vs configurable requirements</a:t>
            </a:r>
            <a:endParaRPr lang="en-US" sz="3200" dirty="0"/>
          </a:p>
        </p:txBody>
      </p:sp>
      <p:sp>
        <p:nvSpPr>
          <p:cNvPr id="3" name="Shape 1"/>
          <p:cNvSpPr/>
          <p:nvPr/>
        </p:nvSpPr>
        <p:spPr>
          <a:xfrm>
            <a:off x="548640" y="1280160"/>
            <a:ext cx="5349240" cy="4069080"/>
          </a:xfrm>
          <a:prstGeom prst="roundRect">
            <a:avLst>
              <a:gd name="adj" fmla="val 1798"/>
            </a:avLst>
          </a:prstGeom>
          <a:solidFill>
            <a:schemeClr val="bg2"/>
          </a:solidFill>
          <a:ln w="12700">
            <a:solidFill>
              <a:schemeClr val="bg2"/>
            </a:solidFill>
            <a:prstDash val="solid"/>
          </a:ln>
        </p:spPr>
      </p:sp>
      <p:sp>
        <p:nvSpPr>
          <p:cNvPr id="4" name="Shape 2"/>
          <p:cNvSpPr/>
          <p:nvPr/>
        </p:nvSpPr>
        <p:spPr>
          <a:xfrm>
            <a:off x="822960" y="1463040"/>
            <a:ext cx="502920" cy="502920"/>
          </a:xfrm>
          <a:prstGeom prst="ellipse">
            <a:avLst/>
          </a:prstGeom>
          <a:solidFill>
            <a:schemeClr val="tx2"/>
          </a:solidFill>
          <a:ln w="12700">
            <a:solidFill>
              <a:schemeClr val="tx2"/>
            </a:solidFill>
            <a:prstDash val="solid"/>
          </a:ln>
        </p:spPr>
      </p:sp>
      <p:pic>
        <p:nvPicPr>
          <p:cNvPr id="5" name="Image 0" descr="preencoded.png">    </p:cNvPr>
          <p:cNvPicPr>
            <a:picLocks noChangeAspect="1"/>
          </p:cNvPicPr>
          <p:nvPr/>
        </p:nvPicPr>
        <p:blipFill>
          <a:blip r:embed="rId1"/>
          <a:stretch>
            <a:fillRect/>
          </a:stretch>
        </p:blipFill>
        <p:spPr>
          <a:xfrm>
            <a:off x="943661" y="1583741"/>
            <a:ext cx="261518" cy="261518"/>
          </a:xfrm>
          <a:prstGeom prst="rect">
            <a:avLst/>
          </a:prstGeom>
        </p:spPr>
      </p:pic>
      <p:sp>
        <p:nvSpPr>
          <p:cNvPr id="6" name="Text 3"/>
          <p:cNvSpPr txBox="1"/>
          <p:nvPr/>
        </p:nvSpPr>
        <p:spPr>
          <a:xfrm>
            <a:off x="1463040" y="1508760"/>
            <a:ext cx="4297680" cy="411480"/>
          </a:xfrm>
          <a:prstGeom prst="rect">
            <a:avLst/>
          </a:prstGeom>
          <a:noFill/>
          <a:ln/>
        </p:spPr>
        <p:txBody>
          <a:bodyPr wrap="square" lIns="0" tIns="0" rIns="0" bIns="0" rtlCol="0" anchor="t"/>
          <a:lstStyle/>
          <a:p>
            <a:pPr indent="0" marL="0">
              <a:buNone/>
            </a:pPr>
            <a:r>
              <a:rPr lang="en-US" sz="1800" b="1" dirty="0">
                <a:solidFill>
                  <a:schemeClr val="tx2"/>
                </a:solidFill>
              </a:rPr>
              <a:t>Core — never configurable</a:t>
            </a:r>
            <a:endParaRPr lang="en-US" sz="1800" dirty="0"/>
          </a:p>
        </p:txBody>
      </p:sp>
      <p:sp>
        <p:nvSpPr>
          <p:cNvPr id="7" name="Text 4"/>
          <p:cNvSpPr txBox="1"/>
          <p:nvPr/>
        </p:nvSpPr>
        <p:spPr>
          <a:xfrm>
            <a:off x="822960" y="2103120"/>
            <a:ext cx="4892040" cy="31546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Data validation and staleness detection</a:t>
            </a:r>
            <a:endParaRPr lang="en-US" sz="1400" dirty="0"/>
          </a:p>
          <a:p>
            <a:pPr marL="342900" indent="-342900">
              <a:spcAft>
                <a:spcPts val="300"/>
              </a:spcAft>
              <a:buSzPct val="100000"/>
              <a:buChar char="•"/>
            </a:pPr>
            <a:r>
              <a:rPr lang="en-US" sz="1400" dirty="0">
                <a:solidFill>
                  <a:schemeClr val="tx1"/>
                </a:solidFill>
              </a:rPr>
              <a:t>Data loss never lowers risk</a:t>
            </a:r>
            <a:endParaRPr lang="en-US" sz="1400" dirty="0"/>
          </a:p>
          <a:p>
            <a:pPr marL="342900" indent="-342900">
              <a:spcAft>
                <a:spcPts val="300"/>
              </a:spcAft>
              <a:buSzPct val="100000"/>
              <a:buChar char="•"/>
            </a:pPr>
            <a:r>
              <a:rPr lang="en-US" sz="1400" dirty="0">
                <a:solidFill>
                  <a:schemeClr val="tx1"/>
                </a:solidFill>
              </a:rPr>
              <a:t>One active warning; no contradiction</a:t>
            </a:r>
            <a:endParaRPr lang="en-US" sz="1400" dirty="0"/>
          </a:p>
          <a:p>
            <a:pPr marL="342900" indent="-342900">
              <a:spcAft>
                <a:spcPts val="300"/>
              </a:spcAft>
              <a:buSzPct val="100000"/>
              <a:buChar char="•"/>
            </a:pPr>
            <a:r>
              <a:rPr lang="en-US" sz="1400" dirty="0">
                <a:solidFill>
                  <a:schemeClr val="tx1"/>
                </a:solidFill>
              </a:rPr>
              <a:t>Human approval for the highest level</a:t>
            </a:r>
            <a:endParaRPr lang="en-US" sz="1400" dirty="0"/>
          </a:p>
          <a:p>
            <a:pPr marL="342900" indent="-342900">
              <a:spcAft>
                <a:spcPts val="300"/>
              </a:spcAft>
              <a:buSzPct val="100000"/>
              <a:buChar char="•"/>
            </a:pPr>
            <a:r>
              <a:rPr lang="en-US" sz="1400" dirty="0">
                <a:solidFill>
                  <a:schemeClr val="tx1"/>
                </a:solidFill>
              </a:rPr>
              <a:t>Corrections to the same recipients</a:t>
            </a:r>
            <a:endParaRPr lang="en-US" sz="1400" dirty="0"/>
          </a:p>
          <a:p>
            <a:pPr marL="342900" indent="-342900">
              <a:spcAft>
                <a:spcPts val="300"/>
              </a:spcAft>
              <a:buSzPct val="100000"/>
              <a:buChar char="•"/>
            </a:pPr>
            <a:r>
              <a:rPr lang="en-US" sz="1400" dirty="0">
                <a:solidFill>
                  <a:schemeClr val="tx1"/>
                </a:solidFill>
              </a:rPr>
              <a:t>Safe routing and shelter filters</a:t>
            </a:r>
            <a:endParaRPr lang="en-US" sz="1400" dirty="0"/>
          </a:p>
          <a:p>
            <a:pPr marL="342900" indent="-342900">
              <a:spcAft>
                <a:spcPts val="300"/>
              </a:spcAft>
              <a:buSzPct val="100000"/>
              <a:buChar char="•"/>
            </a:pPr>
            <a:r>
              <a:rPr lang="en-US" sz="1400" dirty="0">
                <a:solidFill>
                  <a:schemeClr val="tx1"/>
                </a:solidFill>
              </a:rPr>
              <a:t>Audit log</a:t>
            </a:r>
            <a:endParaRPr lang="en-US" sz="1400" dirty="0"/>
          </a:p>
          <a:p>
            <a:pPr marL="342900" indent="-342900">
              <a:spcAft>
                <a:spcPts val="300"/>
              </a:spcAft>
              <a:buSzPct val="100000"/>
              <a:buChar char="•"/>
            </a:pPr>
            <a:r>
              <a:rPr lang="en-US" sz="1400" dirty="0">
                <a:solidFill>
                  <a:schemeClr val="tx1"/>
                </a:solidFill>
              </a:rPr>
              <a:t>Security and privacy baselines</a:t>
            </a:r>
            <a:endParaRPr lang="en-US" sz="1400" dirty="0"/>
          </a:p>
          <a:p>
            <a:pPr marL="342900" indent="-342900">
              <a:spcAft>
                <a:spcPts val="300"/>
              </a:spcAft>
              <a:buSzPct val="100000"/>
              <a:buChar char="•"/>
            </a:pPr>
            <a:r>
              <a:rPr lang="en-US" sz="1400" dirty="0">
                <a:solidFill>
                  <a:schemeClr val="tx1"/>
                </a:solidFill>
              </a:rPr>
              <a:t>Disclaimer and exercise labelling</a:t>
            </a:r>
            <a:endParaRPr lang="en-US" sz="1400" dirty="0"/>
          </a:p>
        </p:txBody>
      </p:sp>
      <p:sp>
        <p:nvSpPr>
          <p:cNvPr id="8" name="Shape 5"/>
          <p:cNvSpPr/>
          <p:nvPr/>
        </p:nvSpPr>
        <p:spPr>
          <a:xfrm>
            <a:off x="6263640" y="1280160"/>
            <a:ext cx="5349240" cy="4069080"/>
          </a:xfrm>
          <a:prstGeom prst="roundRect">
            <a:avLst>
              <a:gd name="adj" fmla="val 1798"/>
            </a:avLst>
          </a:prstGeom>
          <a:solidFill>
            <a:schemeClr val="bg2"/>
          </a:solidFill>
          <a:ln w="12700">
            <a:solidFill>
              <a:schemeClr val="bg2"/>
            </a:solidFill>
            <a:prstDash val="solid"/>
          </a:ln>
        </p:spPr>
      </p:sp>
      <p:sp>
        <p:nvSpPr>
          <p:cNvPr id="9" name="Shape 6"/>
          <p:cNvSpPr/>
          <p:nvPr/>
        </p:nvSpPr>
        <p:spPr>
          <a:xfrm>
            <a:off x="6537960" y="1463040"/>
            <a:ext cx="502920" cy="50292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6658661" y="1583741"/>
            <a:ext cx="261518" cy="261518"/>
          </a:xfrm>
          <a:prstGeom prst="rect">
            <a:avLst/>
          </a:prstGeom>
        </p:spPr>
      </p:pic>
      <p:sp>
        <p:nvSpPr>
          <p:cNvPr id="11" name="Text 7"/>
          <p:cNvSpPr txBox="1"/>
          <p:nvPr/>
        </p:nvSpPr>
        <p:spPr>
          <a:xfrm>
            <a:off x="7178040" y="1508760"/>
            <a:ext cx="4297680" cy="411480"/>
          </a:xfrm>
          <a:prstGeom prst="rect">
            <a:avLst/>
          </a:prstGeom>
          <a:noFill/>
          <a:ln/>
        </p:spPr>
        <p:txBody>
          <a:bodyPr wrap="square" lIns="0" tIns="0" rIns="0" bIns="0" rtlCol="0" anchor="t"/>
          <a:lstStyle/>
          <a:p>
            <a:pPr indent="0" marL="0">
              <a:buNone/>
            </a:pPr>
            <a:r>
              <a:rPr lang="en-US" sz="1800" b="1" dirty="0">
                <a:solidFill>
                  <a:schemeClr val="tx2"/>
                </a:solidFill>
              </a:rPr>
              <a:t>Configurable — per deployment</a:t>
            </a:r>
            <a:endParaRPr lang="en-US" sz="1800" dirty="0"/>
          </a:p>
        </p:txBody>
      </p:sp>
      <p:sp>
        <p:nvSpPr>
          <p:cNvPr id="12" name="Text 8"/>
          <p:cNvSpPr txBox="1"/>
          <p:nvPr/>
        </p:nvSpPr>
        <p:spPr>
          <a:xfrm>
            <a:off x="6537960" y="2103120"/>
            <a:ext cx="4892040" cy="31546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Country Deployment Profile and admin hierarchy</a:t>
            </a:r>
            <a:endParaRPr lang="en-US" sz="1400" dirty="0"/>
          </a:p>
          <a:p>
            <a:pPr marL="342900" indent="-342900">
              <a:spcAft>
                <a:spcPts val="300"/>
              </a:spcAft>
              <a:buSzPct val="100000"/>
              <a:buChar char="•"/>
            </a:pPr>
            <a:r>
              <a:rPr lang="en-US" sz="1400" dirty="0">
                <a:solidFill>
                  <a:schemeClr val="tx1"/>
                </a:solidFill>
              </a:rPr>
              <a:t>Area granularity (ward or river reach)</a:t>
            </a:r>
            <a:endParaRPr lang="en-US" sz="1400" dirty="0"/>
          </a:p>
          <a:p>
            <a:pPr marL="342900" indent="-342900">
              <a:spcAft>
                <a:spcPts val="300"/>
              </a:spcAft>
              <a:buSzPct val="100000"/>
              <a:buChar char="•"/>
            </a:pPr>
            <a:r>
              <a:rPr lang="en-US" sz="1400" dirty="0">
                <a:solidFill>
                  <a:schemeClr val="tx1"/>
                </a:solidFill>
              </a:rPr>
              <a:t>Hazards and thresholds</a:t>
            </a:r>
            <a:endParaRPr lang="en-US" sz="1400" dirty="0"/>
          </a:p>
          <a:p>
            <a:pPr marL="342900" indent="-342900">
              <a:spcAft>
                <a:spcPts val="300"/>
              </a:spcAft>
              <a:buSzPct val="100000"/>
              <a:buChar char="•"/>
            </a:pPr>
            <a:r>
              <a:rPr lang="en-US" sz="1400" dirty="0">
                <a:solidFill>
                  <a:schemeClr val="tx1"/>
                </a:solidFill>
              </a:rPr>
              <a:t>Languages</a:t>
            </a:r>
            <a:endParaRPr lang="en-US" sz="1400" dirty="0"/>
          </a:p>
          <a:p>
            <a:pPr marL="342900" indent="-342900">
              <a:spcAft>
                <a:spcPts val="300"/>
              </a:spcAft>
              <a:buSzPct val="100000"/>
              <a:buChar char="•"/>
            </a:pPr>
            <a:r>
              <a:rPr lang="en-US" sz="1400" dirty="0">
                <a:solidFill>
                  <a:schemeClr val="tx1"/>
                </a:solidFill>
              </a:rPr>
              <a:t>Channels and fallbacks</a:t>
            </a:r>
            <a:endParaRPr lang="en-US" sz="1400" dirty="0"/>
          </a:p>
          <a:p>
            <a:pPr marL="342900" indent="-342900">
              <a:spcAft>
                <a:spcPts val="300"/>
              </a:spcAft>
              <a:buSzPct val="100000"/>
              <a:buChar char="•"/>
            </a:pPr>
            <a:r>
              <a:rPr lang="en-US" sz="1400" dirty="0">
                <a:solidFill>
                  <a:schemeClr val="tx1"/>
                </a:solidFill>
              </a:rPr>
              <a:t>Approval tiers, timeouts, auto-publish</a:t>
            </a:r>
            <a:endParaRPr lang="en-US" sz="1400" dirty="0"/>
          </a:p>
          <a:p>
            <a:pPr marL="342900" indent="-342900">
              <a:spcAft>
                <a:spcPts val="300"/>
              </a:spcAft>
              <a:buSzPct val="100000"/>
              <a:buChar char="•"/>
            </a:pPr>
            <a:r>
              <a:rPr lang="en-US" sz="1400" dirty="0">
                <a:solidFill>
                  <a:schemeClr val="tx1"/>
                </a:solidFill>
              </a:rPr>
              <a:t>Poll intervals and retention periods</a:t>
            </a:r>
            <a:endParaRPr lang="en-US" sz="1400" dirty="0"/>
          </a:p>
          <a:p>
            <a:pPr marL="342900" indent="-342900">
              <a:spcAft>
                <a:spcPts val="300"/>
              </a:spcAft>
              <a:buSzPct val="100000"/>
              <a:buChar char="•"/>
            </a:pPr>
            <a:r>
              <a:rPr lang="en-US" sz="1400" dirty="0">
                <a:solidFill>
                  <a:schemeClr val="tx1"/>
                </a:solidFill>
              </a:rPr>
              <a:t>Routing defaults, emergency numbers</a:t>
            </a:r>
            <a:endParaRPr lang="en-US" sz="1400" dirty="0"/>
          </a:p>
          <a:p>
            <a:pPr marL="342900" indent="-342900">
              <a:spcAft>
                <a:spcPts val="300"/>
              </a:spcAft>
              <a:buSzPct val="100000"/>
              <a:buChar char="•"/>
            </a:pPr>
            <a:r>
              <a:rPr lang="en-US" sz="1400" dirty="0">
                <a:solidFill>
                  <a:schemeClr val="tx1"/>
                </a:solidFill>
              </a:rPr>
              <a:t>Rural vs urban shelter types</a:t>
            </a:r>
            <a:endParaRPr lang="en-US" sz="1400" dirty="0"/>
          </a:p>
        </p:txBody>
      </p:sp>
      <p:sp>
        <p:nvSpPr>
          <p:cNvPr id="13" name="Shape 9"/>
          <p:cNvSpPr/>
          <p:nvPr/>
        </p:nvSpPr>
        <p:spPr>
          <a:xfrm>
            <a:off x="548640" y="5532120"/>
            <a:ext cx="11064240" cy="594360"/>
          </a:xfrm>
          <a:prstGeom prst="roundRect">
            <a:avLst>
              <a:gd name="adj" fmla="val 12308"/>
            </a:avLst>
          </a:prstGeom>
          <a:solidFill>
            <a:schemeClr val="tx2"/>
          </a:solidFill>
          <a:ln w="12700">
            <a:solidFill>
              <a:schemeClr val="tx2"/>
            </a:solidFill>
            <a:prstDash val="solid"/>
          </a:ln>
        </p:spPr>
      </p:sp>
      <p:sp>
        <p:nvSpPr>
          <p:cNvPr id="14" name="Text 10"/>
          <p:cNvSpPr txBox="1"/>
          <p:nvPr/>
        </p:nvSpPr>
        <p:spPr>
          <a:xfrm>
            <a:off x="777240" y="5532120"/>
            <a:ext cx="10607040" cy="594360"/>
          </a:xfrm>
          <a:prstGeom prst="rect">
            <a:avLst/>
          </a:prstGeom>
          <a:noFill/>
          <a:ln/>
        </p:spPr>
        <p:txBody>
          <a:bodyPr wrap="square" lIns="0" tIns="0" rIns="0" bIns="0" rtlCol="0" anchor="ctr"/>
          <a:lstStyle/>
          <a:p>
            <a:pPr indent="0" marL="0">
              <a:buNone/>
            </a:pPr>
            <a:r>
              <a:rPr lang="en-US" sz="1400" dirty="0">
                <a:solidFill>
                  <a:schemeClr val="bg1"/>
                </a:solidFill>
              </a:rPr>
              <a:t>Principle [D]: safety invariants are fixed; context is configuration — validated, versioned, two-person approved and testable by replay.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Requirements engineering lifecycle applied</a:t>
            </a:r>
            <a:endParaRPr lang="en-US" sz="3200" dirty="0"/>
          </a:p>
        </p:txBody>
      </p:sp>
      <p:sp>
        <p:nvSpPr>
          <p:cNvPr id="3" name="Shape 1"/>
          <p:cNvSpPr/>
          <p:nvPr/>
        </p:nvSpPr>
        <p:spPr>
          <a:xfrm>
            <a:off x="1188720" y="1371600"/>
            <a:ext cx="548640" cy="548640"/>
          </a:xfrm>
          <a:prstGeom prst="ellipse">
            <a:avLst/>
          </a:prstGeom>
          <a:solidFill>
            <a:schemeClr val="tx2"/>
          </a:solidFill>
          <a:ln w="12700">
            <a:solidFill>
              <a:schemeClr val="tx2"/>
            </a:solidFill>
            <a:prstDash val="solid"/>
          </a:ln>
        </p:spPr>
      </p:sp>
      <p:sp>
        <p:nvSpPr>
          <p:cNvPr id="4" name="Text 2"/>
          <p:cNvSpPr txBox="1"/>
          <p:nvPr/>
        </p:nvSpPr>
        <p:spPr>
          <a:xfrm>
            <a:off x="1188720" y="13716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594360" y="2011680"/>
            <a:ext cx="1737360" cy="548640"/>
          </a:xfrm>
          <a:prstGeom prst="rect">
            <a:avLst/>
          </a:prstGeom>
          <a:noFill/>
          <a:ln/>
        </p:spPr>
        <p:txBody>
          <a:bodyPr wrap="square" lIns="0" tIns="0" rIns="0" bIns="0" rtlCol="0" anchor="t"/>
          <a:lstStyle/>
          <a:p>
            <a:pPr algn="ctr" indent="0" marL="0">
              <a:buNone/>
            </a:pPr>
            <a:r>
              <a:rPr lang="en-US" sz="1400" b="1" dirty="0">
                <a:solidFill>
                  <a:schemeClr val="tx2"/>
                </a:solidFill>
              </a:rPr>
              <a:t>Elicitation</a:t>
            </a:r>
            <a:endParaRPr lang="en-US" sz="1400" dirty="0"/>
          </a:p>
        </p:txBody>
      </p:sp>
      <p:sp>
        <p:nvSpPr>
          <p:cNvPr id="6" name="Text 4"/>
          <p:cNvSpPr txBox="1"/>
          <p:nvPr/>
        </p:nvSpPr>
        <p:spPr>
          <a:xfrm>
            <a:off x="594360" y="2560320"/>
            <a:ext cx="1737360" cy="731520"/>
          </a:xfrm>
          <a:prstGeom prst="rect">
            <a:avLst/>
          </a:prstGeom>
          <a:noFill/>
          <a:ln/>
        </p:spPr>
        <p:txBody>
          <a:bodyPr wrap="square" lIns="0" tIns="0" rIns="0" bIns="0" rtlCol="0" anchor="t"/>
          <a:lstStyle/>
          <a:p>
            <a:pPr algn="ctr" indent="0" marL="0">
              <a:buNone/>
            </a:pPr>
            <a:r>
              <a:rPr lang="en-US" sz="1200" dirty="0">
                <a:solidFill>
                  <a:schemeClr val="accent6"/>
                </a:solidFill>
              </a:rPr>
              <a:t>Interviews, questionnaire, focus groups</a:t>
            </a:r>
            <a:endParaRPr lang="en-US" sz="1200" dirty="0"/>
          </a:p>
        </p:txBody>
      </p:sp>
      <p:sp>
        <p:nvSpPr>
          <p:cNvPr id="7" name="Shape 5"/>
          <p:cNvSpPr/>
          <p:nvPr/>
        </p:nvSpPr>
        <p:spPr>
          <a:xfrm>
            <a:off x="3035808" y="1371600"/>
            <a:ext cx="548640" cy="548640"/>
          </a:xfrm>
          <a:prstGeom prst="ellipse">
            <a:avLst/>
          </a:prstGeom>
          <a:solidFill>
            <a:schemeClr val="tx2"/>
          </a:solidFill>
          <a:ln w="12700">
            <a:solidFill>
              <a:schemeClr val="tx2"/>
            </a:solidFill>
            <a:prstDash val="solid"/>
          </a:ln>
        </p:spPr>
      </p:sp>
      <p:sp>
        <p:nvSpPr>
          <p:cNvPr id="8" name="Text 6"/>
          <p:cNvSpPr txBox="1"/>
          <p:nvPr/>
        </p:nvSpPr>
        <p:spPr>
          <a:xfrm>
            <a:off x="3035808" y="13716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2441448" y="2011680"/>
            <a:ext cx="1737360" cy="548640"/>
          </a:xfrm>
          <a:prstGeom prst="rect">
            <a:avLst/>
          </a:prstGeom>
          <a:noFill/>
          <a:ln/>
        </p:spPr>
        <p:txBody>
          <a:bodyPr wrap="square" lIns="0" tIns="0" rIns="0" bIns="0" rtlCol="0" anchor="t"/>
          <a:lstStyle/>
          <a:p>
            <a:pPr algn="ctr" indent="0" marL="0">
              <a:buNone/>
            </a:pPr>
            <a:r>
              <a:rPr lang="en-US" sz="1400" b="1" dirty="0">
                <a:solidFill>
                  <a:schemeClr val="tx2"/>
                </a:solidFill>
              </a:rPr>
              <a:t>Stakeholder analysis</a:t>
            </a:r>
            <a:endParaRPr lang="en-US" sz="1400" dirty="0"/>
          </a:p>
        </p:txBody>
      </p:sp>
      <p:sp>
        <p:nvSpPr>
          <p:cNvPr id="10" name="Text 8"/>
          <p:cNvSpPr txBox="1"/>
          <p:nvPr/>
        </p:nvSpPr>
        <p:spPr>
          <a:xfrm>
            <a:off x="2441448" y="2560320"/>
            <a:ext cx="1737360" cy="731520"/>
          </a:xfrm>
          <a:prstGeom prst="rect">
            <a:avLst/>
          </a:prstGeom>
          <a:noFill/>
          <a:ln/>
        </p:spPr>
        <p:txBody>
          <a:bodyPr wrap="square" lIns="0" tIns="0" rIns="0" bIns="0" rtlCol="0" anchor="t"/>
          <a:lstStyle/>
          <a:p>
            <a:pPr algn="ctr" indent="0" marL="0">
              <a:buNone/>
            </a:pPr>
            <a:r>
              <a:rPr lang="en-US" sz="1200" dirty="0">
                <a:solidFill>
                  <a:schemeClr val="accent6"/>
                </a:solidFill>
              </a:rPr>
              <a:t>Onion model, power / interest</a:t>
            </a:r>
            <a:endParaRPr lang="en-US" sz="1200" dirty="0"/>
          </a:p>
        </p:txBody>
      </p:sp>
      <p:sp>
        <p:nvSpPr>
          <p:cNvPr id="11" name="Shape 9"/>
          <p:cNvSpPr/>
          <p:nvPr/>
        </p:nvSpPr>
        <p:spPr>
          <a:xfrm>
            <a:off x="4882896" y="1371600"/>
            <a:ext cx="548640" cy="548640"/>
          </a:xfrm>
          <a:prstGeom prst="ellipse">
            <a:avLst/>
          </a:prstGeom>
          <a:solidFill>
            <a:schemeClr val="tx2"/>
          </a:solidFill>
          <a:ln w="12700">
            <a:solidFill>
              <a:schemeClr val="tx2"/>
            </a:solidFill>
            <a:prstDash val="solid"/>
          </a:ln>
        </p:spPr>
      </p:sp>
      <p:sp>
        <p:nvSpPr>
          <p:cNvPr id="12" name="Text 10"/>
          <p:cNvSpPr txBox="1"/>
          <p:nvPr/>
        </p:nvSpPr>
        <p:spPr>
          <a:xfrm>
            <a:off x="4882896" y="13716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4288536" y="2011680"/>
            <a:ext cx="1737360" cy="548640"/>
          </a:xfrm>
          <a:prstGeom prst="rect">
            <a:avLst/>
          </a:prstGeom>
          <a:noFill/>
          <a:ln/>
        </p:spPr>
        <p:txBody>
          <a:bodyPr wrap="square" lIns="0" tIns="0" rIns="0" bIns="0" rtlCol="0" anchor="t"/>
          <a:lstStyle/>
          <a:p>
            <a:pPr algn="ctr" indent="0" marL="0">
              <a:buNone/>
            </a:pPr>
            <a:r>
              <a:rPr lang="en-US" sz="1400" b="1" dirty="0">
                <a:solidFill>
                  <a:schemeClr val="tx2"/>
                </a:solidFill>
              </a:rPr>
              <a:t>Analysis &amp; modelling</a:t>
            </a:r>
            <a:endParaRPr lang="en-US" sz="1400" dirty="0"/>
          </a:p>
        </p:txBody>
      </p:sp>
      <p:sp>
        <p:nvSpPr>
          <p:cNvPr id="14" name="Text 12"/>
          <p:cNvSpPr txBox="1"/>
          <p:nvPr/>
        </p:nvSpPr>
        <p:spPr>
          <a:xfrm>
            <a:off x="4288536" y="2560320"/>
            <a:ext cx="1737360" cy="731520"/>
          </a:xfrm>
          <a:prstGeom prst="rect">
            <a:avLst/>
          </a:prstGeom>
          <a:noFill/>
          <a:ln/>
        </p:spPr>
        <p:txBody>
          <a:bodyPr wrap="square" lIns="0" tIns="0" rIns="0" bIns="0" rtlCol="0" anchor="t"/>
          <a:lstStyle/>
          <a:p>
            <a:pPr algn="ctr" indent="0" marL="0">
              <a:buNone/>
            </a:pPr>
            <a:r>
              <a:rPr lang="en-US" sz="1200" dirty="0">
                <a:solidFill>
                  <a:schemeClr val="accent6"/>
                </a:solidFill>
              </a:rPr>
              <a:t>Goals, use cases, misuse cases</a:t>
            </a:r>
            <a:endParaRPr lang="en-US" sz="1200" dirty="0"/>
          </a:p>
        </p:txBody>
      </p:sp>
      <p:sp>
        <p:nvSpPr>
          <p:cNvPr id="15" name="Shape 13"/>
          <p:cNvSpPr/>
          <p:nvPr/>
        </p:nvSpPr>
        <p:spPr>
          <a:xfrm>
            <a:off x="6729984" y="1371600"/>
            <a:ext cx="548640" cy="548640"/>
          </a:xfrm>
          <a:prstGeom prst="ellipse">
            <a:avLst/>
          </a:prstGeom>
          <a:solidFill>
            <a:schemeClr val="tx2"/>
          </a:solidFill>
          <a:ln w="12700">
            <a:solidFill>
              <a:schemeClr val="tx2"/>
            </a:solidFill>
            <a:prstDash val="solid"/>
          </a:ln>
        </p:spPr>
      </p:sp>
      <p:sp>
        <p:nvSpPr>
          <p:cNvPr id="16" name="Text 14"/>
          <p:cNvSpPr txBox="1"/>
          <p:nvPr/>
        </p:nvSpPr>
        <p:spPr>
          <a:xfrm>
            <a:off x="6729984" y="13716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6135624" y="2011680"/>
            <a:ext cx="1737360" cy="548640"/>
          </a:xfrm>
          <a:prstGeom prst="rect">
            <a:avLst/>
          </a:prstGeom>
          <a:noFill/>
          <a:ln/>
        </p:spPr>
        <p:txBody>
          <a:bodyPr wrap="square" lIns="0" tIns="0" rIns="0" bIns="0" rtlCol="0" anchor="t"/>
          <a:lstStyle/>
          <a:p>
            <a:pPr algn="ctr" indent="0" marL="0">
              <a:buNone/>
            </a:pPr>
            <a:r>
              <a:rPr lang="en-US" sz="1400" b="1" dirty="0">
                <a:solidFill>
                  <a:schemeClr val="tx2"/>
                </a:solidFill>
              </a:rPr>
              <a:t>Classification</a:t>
            </a:r>
            <a:endParaRPr lang="en-US" sz="1400" dirty="0"/>
          </a:p>
        </p:txBody>
      </p:sp>
      <p:sp>
        <p:nvSpPr>
          <p:cNvPr id="18" name="Text 16"/>
          <p:cNvSpPr txBox="1"/>
          <p:nvPr/>
        </p:nvSpPr>
        <p:spPr>
          <a:xfrm>
            <a:off x="6135624" y="2560320"/>
            <a:ext cx="1737360" cy="731520"/>
          </a:xfrm>
          <a:prstGeom prst="rect">
            <a:avLst/>
          </a:prstGeom>
          <a:noFill/>
          <a:ln/>
        </p:spPr>
        <p:txBody>
          <a:bodyPr wrap="square" lIns="0" tIns="0" rIns="0" bIns="0" rtlCol="0" anchor="t"/>
          <a:lstStyle/>
          <a:p>
            <a:pPr algn="ctr" indent="0" marL="0">
              <a:buNone/>
            </a:pPr>
            <a:r>
              <a:rPr lang="en-US" sz="1200" dirty="0">
                <a:solidFill>
                  <a:schemeClr val="accent6"/>
                </a:solidFill>
              </a:rPr>
              <a:t>FR / NFR (ISO 25010), core vs config</a:t>
            </a:r>
            <a:endParaRPr lang="en-US" sz="1200" dirty="0"/>
          </a:p>
        </p:txBody>
      </p:sp>
      <p:sp>
        <p:nvSpPr>
          <p:cNvPr id="19" name="Shape 17"/>
          <p:cNvSpPr/>
          <p:nvPr/>
        </p:nvSpPr>
        <p:spPr>
          <a:xfrm>
            <a:off x="8577072" y="1371600"/>
            <a:ext cx="548640" cy="548640"/>
          </a:xfrm>
          <a:prstGeom prst="ellipse">
            <a:avLst/>
          </a:prstGeom>
          <a:solidFill>
            <a:schemeClr val="tx2"/>
          </a:solidFill>
          <a:ln w="12700">
            <a:solidFill>
              <a:schemeClr val="tx2"/>
            </a:solidFill>
            <a:prstDash val="solid"/>
          </a:ln>
        </p:spPr>
      </p:sp>
      <p:sp>
        <p:nvSpPr>
          <p:cNvPr id="20" name="Text 18"/>
          <p:cNvSpPr txBox="1"/>
          <p:nvPr/>
        </p:nvSpPr>
        <p:spPr>
          <a:xfrm>
            <a:off x="8577072" y="13716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Text 19"/>
          <p:cNvSpPr txBox="1"/>
          <p:nvPr/>
        </p:nvSpPr>
        <p:spPr>
          <a:xfrm>
            <a:off x="7982712" y="2011680"/>
            <a:ext cx="1737360" cy="548640"/>
          </a:xfrm>
          <a:prstGeom prst="rect">
            <a:avLst/>
          </a:prstGeom>
          <a:noFill/>
          <a:ln/>
        </p:spPr>
        <p:txBody>
          <a:bodyPr wrap="square" lIns="0" tIns="0" rIns="0" bIns="0" rtlCol="0" anchor="t"/>
          <a:lstStyle/>
          <a:p>
            <a:pPr algn="ctr" indent="0" marL="0">
              <a:buNone/>
            </a:pPr>
            <a:r>
              <a:rPr lang="en-US" sz="1400" b="1" dirty="0">
                <a:solidFill>
                  <a:schemeClr val="tx2"/>
                </a:solidFill>
              </a:rPr>
              <a:t>Prioritization</a:t>
            </a:r>
            <a:endParaRPr lang="en-US" sz="1400" dirty="0"/>
          </a:p>
        </p:txBody>
      </p:sp>
      <p:sp>
        <p:nvSpPr>
          <p:cNvPr id="22" name="Text 20"/>
          <p:cNvSpPr txBox="1"/>
          <p:nvPr/>
        </p:nvSpPr>
        <p:spPr>
          <a:xfrm>
            <a:off x="7982712" y="2560320"/>
            <a:ext cx="1737360" cy="731520"/>
          </a:xfrm>
          <a:prstGeom prst="rect">
            <a:avLst/>
          </a:prstGeom>
          <a:noFill/>
          <a:ln/>
        </p:spPr>
        <p:txBody>
          <a:bodyPr wrap="square" lIns="0" tIns="0" rIns="0" bIns="0" rtlCol="0" anchor="t"/>
          <a:lstStyle/>
          <a:p>
            <a:pPr algn="ctr" indent="0" marL="0">
              <a:buNone/>
            </a:pPr>
            <a:r>
              <a:rPr lang="en-US" sz="1200" dirty="0">
                <a:solidFill>
                  <a:schemeClr val="accent6"/>
                </a:solidFill>
              </a:rPr>
              <a:t>Weighted MoSCoW</a:t>
            </a:r>
            <a:endParaRPr lang="en-US" sz="1200" dirty="0"/>
          </a:p>
        </p:txBody>
      </p:sp>
      <p:sp>
        <p:nvSpPr>
          <p:cNvPr id="23" name="Shape 21"/>
          <p:cNvSpPr/>
          <p:nvPr/>
        </p:nvSpPr>
        <p:spPr>
          <a:xfrm>
            <a:off x="10424160" y="1371600"/>
            <a:ext cx="548640" cy="548640"/>
          </a:xfrm>
          <a:prstGeom prst="ellipse">
            <a:avLst/>
          </a:prstGeom>
          <a:solidFill>
            <a:schemeClr val="tx2"/>
          </a:solidFill>
          <a:ln w="12700">
            <a:solidFill>
              <a:schemeClr val="tx2"/>
            </a:solidFill>
            <a:prstDash val="solid"/>
          </a:ln>
        </p:spPr>
      </p:sp>
      <p:sp>
        <p:nvSpPr>
          <p:cNvPr id="24" name="Text 22"/>
          <p:cNvSpPr txBox="1"/>
          <p:nvPr/>
        </p:nvSpPr>
        <p:spPr>
          <a:xfrm>
            <a:off x="10424160" y="13716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5" name="Text 23"/>
          <p:cNvSpPr txBox="1"/>
          <p:nvPr/>
        </p:nvSpPr>
        <p:spPr>
          <a:xfrm>
            <a:off x="9829800" y="2011680"/>
            <a:ext cx="1737360" cy="548640"/>
          </a:xfrm>
          <a:prstGeom prst="rect">
            <a:avLst/>
          </a:prstGeom>
          <a:noFill/>
          <a:ln/>
        </p:spPr>
        <p:txBody>
          <a:bodyPr wrap="square" lIns="0" tIns="0" rIns="0" bIns="0" rtlCol="0" anchor="t"/>
          <a:lstStyle/>
          <a:p>
            <a:pPr algn="ctr" indent="0" marL="0">
              <a:buNone/>
            </a:pPr>
            <a:r>
              <a:rPr lang="en-US" sz="1400" b="1" dirty="0">
                <a:solidFill>
                  <a:schemeClr val="tx2"/>
                </a:solidFill>
              </a:rPr>
              <a:t>Conflict resolution</a:t>
            </a:r>
            <a:endParaRPr lang="en-US" sz="1400" dirty="0"/>
          </a:p>
        </p:txBody>
      </p:sp>
      <p:sp>
        <p:nvSpPr>
          <p:cNvPr id="26" name="Text 24"/>
          <p:cNvSpPr txBox="1"/>
          <p:nvPr/>
        </p:nvSpPr>
        <p:spPr>
          <a:xfrm>
            <a:off x="9829800" y="2560320"/>
            <a:ext cx="1737360" cy="731520"/>
          </a:xfrm>
          <a:prstGeom prst="rect">
            <a:avLst/>
          </a:prstGeom>
          <a:noFill/>
          <a:ln/>
        </p:spPr>
        <p:txBody>
          <a:bodyPr wrap="square" lIns="0" tIns="0" rIns="0" bIns="0" rtlCol="0" anchor="t"/>
          <a:lstStyle/>
          <a:p>
            <a:pPr algn="ctr" indent="0" marL="0">
              <a:buNone/>
            </a:pPr>
            <a:r>
              <a:rPr lang="en-US" sz="1200" dirty="0">
                <a:solidFill>
                  <a:schemeClr val="accent6"/>
                </a:solidFill>
              </a:rPr>
              <a:t>Conflict matrix, WinWin, ADRs</a:t>
            </a:r>
            <a:endParaRPr lang="en-US" sz="1200" dirty="0"/>
          </a:p>
        </p:txBody>
      </p:sp>
      <p:sp>
        <p:nvSpPr>
          <p:cNvPr id="27" name="Shape 25"/>
          <p:cNvSpPr/>
          <p:nvPr/>
        </p:nvSpPr>
        <p:spPr>
          <a:xfrm>
            <a:off x="2103120" y="3657600"/>
            <a:ext cx="548640" cy="548640"/>
          </a:xfrm>
          <a:prstGeom prst="ellipse">
            <a:avLst/>
          </a:prstGeom>
          <a:solidFill>
            <a:schemeClr val="accent1"/>
          </a:solidFill>
          <a:ln w="12700">
            <a:solidFill>
              <a:schemeClr val="accent1"/>
            </a:solidFill>
            <a:prstDash val="solid"/>
          </a:ln>
        </p:spPr>
      </p:sp>
      <p:sp>
        <p:nvSpPr>
          <p:cNvPr id="28" name="Text 26"/>
          <p:cNvSpPr txBox="1"/>
          <p:nvPr/>
        </p:nvSpPr>
        <p:spPr>
          <a:xfrm>
            <a:off x="2103120" y="36576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9" name="Text 27"/>
          <p:cNvSpPr txBox="1"/>
          <p:nvPr/>
        </p:nvSpPr>
        <p:spPr>
          <a:xfrm>
            <a:off x="1508760" y="4297680"/>
            <a:ext cx="1737360" cy="548640"/>
          </a:xfrm>
          <a:prstGeom prst="rect">
            <a:avLst/>
          </a:prstGeom>
          <a:noFill/>
          <a:ln/>
        </p:spPr>
        <p:txBody>
          <a:bodyPr wrap="square" lIns="0" tIns="0" rIns="0" bIns="0" rtlCol="0" anchor="t"/>
          <a:lstStyle/>
          <a:p>
            <a:pPr algn="ctr" indent="0" marL="0">
              <a:buNone/>
            </a:pPr>
            <a:r>
              <a:rPr lang="en-US" sz="1400" b="1" dirty="0">
                <a:solidFill>
                  <a:schemeClr val="tx2"/>
                </a:solidFill>
              </a:rPr>
              <a:t>Specification</a:t>
            </a:r>
            <a:endParaRPr lang="en-US" sz="1400" dirty="0"/>
          </a:p>
        </p:txBody>
      </p:sp>
      <p:sp>
        <p:nvSpPr>
          <p:cNvPr id="30" name="Text 28"/>
          <p:cNvSpPr txBox="1"/>
          <p:nvPr/>
        </p:nvSpPr>
        <p:spPr>
          <a:xfrm>
            <a:off x="1508760" y="4846320"/>
            <a:ext cx="1737360" cy="731520"/>
          </a:xfrm>
          <a:prstGeom prst="rect">
            <a:avLst/>
          </a:prstGeom>
          <a:noFill/>
          <a:ln/>
        </p:spPr>
        <p:txBody>
          <a:bodyPr wrap="square" lIns="0" tIns="0" rIns="0" bIns="0" rtlCol="0" anchor="t"/>
          <a:lstStyle/>
          <a:p>
            <a:pPr algn="ctr" indent="0" marL="0">
              <a:buNone/>
            </a:pPr>
            <a:r>
              <a:rPr lang="en-US" sz="1200" dirty="0">
                <a:solidFill>
                  <a:schemeClr val="accent6"/>
                </a:solidFill>
              </a:rPr>
              <a:t>IEEE 29148, EARS, Gherkin</a:t>
            </a:r>
            <a:endParaRPr lang="en-US" sz="1200" dirty="0"/>
          </a:p>
        </p:txBody>
      </p:sp>
      <p:sp>
        <p:nvSpPr>
          <p:cNvPr id="31" name="Shape 29"/>
          <p:cNvSpPr/>
          <p:nvPr/>
        </p:nvSpPr>
        <p:spPr>
          <a:xfrm>
            <a:off x="3950208" y="3657600"/>
            <a:ext cx="548640" cy="548640"/>
          </a:xfrm>
          <a:prstGeom prst="ellipse">
            <a:avLst/>
          </a:prstGeom>
          <a:solidFill>
            <a:schemeClr val="accent1"/>
          </a:solidFill>
          <a:ln w="12700">
            <a:solidFill>
              <a:schemeClr val="accent1"/>
            </a:solidFill>
            <a:prstDash val="solid"/>
          </a:ln>
        </p:spPr>
      </p:sp>
      <p:sp>
        <p:nvSpPr>
          <p:cNvPr id="32" name="Text 30"/>
          <p:cNvSpPr txBox="1"/>
          <p:nvPr/>
        </p:nvSpPr>
        <p:spPr>
          <a:xfrm>
            <a:off x="3950208" y="36576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33" name="Text 31"/>
          <p:cNvSpPr txBox="1"/>
          <p:nvPr/>
        </p:nvSpPr>
        <p:spPr>
          <a:xfrm>
            <a:off x="3355848" y="4297680"/>
            <a:ext cx="1737360" cy="548640"/>
          </a:xfrm>
          <a:prstGeom prst="rect">
            <a:avLst/>
          </a:prstGeom>
          <a:noFill/>
          <a:ln/>
        </p:spPr>
        <p:txBody>
          <a:bodyPr wrap="square" lIns="0" tIns="0" rIns="0" bIns="0" rtlCol="0" anchor="t"/>
          <a:lstStyle/>
          <a:p>
            <a:pPr algn="ctr" indent="0" marL="0">
              <a:buNone/>
            </a:pPr>
            <a:r>
              <a:rPr lang="en-US" sz="1400" b="1" dirty="0">
                <a:solidFill>
                  <a:schemeClr val="tx2"/>
                </a:solidFill>
              </a:rPr>
              <a:t>Validation</a:t>
            </a:r>
            <a:endParaRPr lang="en-US" sz="1400" dirty="0"/>
          </a:p>
        </p:txBody>
      </p:sp>
      <p:sp>
        <p:nvSpPr>
          <p:cNvPr id="34" name="Text 32"/>
          <p:cNvSpPr txBox="1"/>
          <p:nvPr/>
        </p:nvSpPr>
        <p:spPr>
          <a:xfrm>
            <a:off x="3355848" y="4846320"/>
            <a:ext cx="1737360" cy="731520"/>
          </a:xfrm>
          <a:prstGeom prst="rect">
            <a:avLst/>
          </a:prstGeom>
          <a:noFill/>
          <a:ln/>
        </p:spPr>
        <p:txBody>
          <a:bodyPr wrap="square" lIns="0" tIns="0" rIns="0" bIns="0" rtlCol="0" anchor="t"/>
          <a:lstStyle/>
          <a:p>
            <a:pPr algn="ctr" indent="0" marL="0">
              <a:buNone/>
            </a:pPr>
            <a:r>
              <a:rPr lang="en-US" sz="1200" dirty="0">
                <a:solidFill>
                  <a:schemeClr val="accent6"/>
                </a:solidFill>
              </a:rPr>
              <a:t>Walkthroughs, prototypes, usability</a:t>
            </a:r>
            <a:endParaRPr lang="en-US" sz="1200" dirty="0"/>
          </a:p>
        </p:txBody>
      </p:sp>
      <p:sp>
        <p:nvSpPr>
          <p:cNvPr id="35" name="Shape 33"/>
          <p:cNvSpPr/>
          <p:nvPr/>
        </p:nvSpPr>
        <p:spPr>
          <a:xfrm>
            <a:off x="5797296" y="3657600"/>
            <a:ext cx="548640" cy="548640"/>
          </a:xfrm>
          <a:prstGeom prst="ellipse">
            <a:avLst/>
          </a:prstGeom>
          <a:solidFill>
            <a:schemeClr val="accent1"/>
          </a:solidFill>
          <a:ln w="12700">
            <a:solidFill>
              <a:schemeClr val="accent1"/>
            </a:solidFill>
            <a:prstDash val="solid"/>
          </a:ln>
        </p:spPr>
      </p:sp>
      <p:sp>
        <p:nvSpPr>
          <p:cNvPr id="36" name="Text 34"/>
          <p:cNvSpPr txBox="1"/>
          <p:nvPr/>
        </p:nvSpPr>
        <p:spPr>
          <a:xfrm>
            <a:off x="5797296" y="36576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37" name="Text 35"/>
          <p:cNvSpPr txBox="1"/>
          <p:nvPr/>
        </p:nvSpPr>
        <p:spPr>
          <a:xfrm>
            <a:off x="5202936" y="4297680"/>
            <a:ext cx="1737360" cy="548640"/>
          </a:xfrm>
          <a:prstGeom prst="rect">
            <a:avLst/>
          </a:prstGeom>
          <a:noFill/>
          <a:ln/>
        </p:spPr>
        <p:txBody>
          <a:bodyPr wrap="square" lIns="0" tIns="0" rIns="0" bIns="0" rtlCol="0" anchor="t"/>
          <a:lstStyle/>
          <a:p>
            <a:pPr algn="ctr" indent="0" marL="0">
              <a:buNone/>
            </a:pPr>
            <a:r>
              <a:rPr lang="en-US" sz="1400" b="1" dirty="0">
                <a:solidFill>
                  <a:schemeClr val="tx2"/>
                </a:solidFill>
              </a:rPr>
              <a:t>Verification</a:t>
            </a:r>
            <a:endParaRPr lang="en-US" sz="1400" dirty="0"/>
          </a:p>
        </p:txBody>
      </p:sp>
      <p:sp>
        <p:nvSpPr>
          <p:cNvPr id="38" name="Text 36"/>
          <p:cNvSpPr txBox="1"/>
          <p:nvPr/>
        </p:nvSpPr>
        <p:spPr>
          <a:xfrm>
            <a:off x="5202936" y="4846320"/>
            <a:ext cx="1737360" cy="731520"/>
          </a:xfrm>
          <a:prstGeom prst="rect">
            <a:avLst/>
          </a:prstGeom>
          <a:noFill/>
          <a:ln/>
        </p:spPr>
        <p:txBody>
          <a:bodyPr wrap="square" lIns="0" tIns="0" rIns="0" bIns="0" rtlCol="0" anchor="t"/>
          <a:lstStyle/>
          <a:p>
            <a:pPr algn="ctr" indent="0" marL="0">
              <a:buNone/>
            </a:pPr>
            <a:r>
              <a:rPr lang="en-US" sz="1200" dirty="0">
                <a:solidFill>
                  <a:schemeClr val="accent6"/>
                </a:solidFill>
              </a:rPr>
              <a:t>Requirement-tagged tests</a:t>
            </a:r>
            <a:endParaRPr lang="en-US" sz="1200" dirty="0"/>
          </a:p>
        </p:txBody>
      </p:sp>
      <p:sp>
        <p:nvSpPr>
          <p:cNvPr id="39" name="Shape 37"/>
          <p:cNvSpPr/>
          <p:nvPr/>
        </p:nvSpPr>
        <p:spPr>
          <a:xfrm>
            <a:off x="7644384" y="3657600"/>
            <a:ext cx="548640" cy="548640"/>
          </a:xfrm>
          <a:prstGeom prst="ellipse">
            <a:avLst/>
          </a:prstGeom>
          <a:solidFill>
            <a:schemeClr val="accent1"/>
          </a:solidFill>
          <a:ln w="12700">
            <a:solidFill>
              <a:schemeClr val="accent1"/>
            </a:solidFill>
            <a:prstDash val="solid"/>
          </a:ln>
        </p:spPr>
      </p:sp>
      <p:sp>
        <p:nvSpPr>
          <p:cNvPr id="40" name="Text 38"/>
          <p:cNvSpPr txBox="1"/>
          <p:nvPr/>
        </p:nvSpPr>
        <p:spPr>
          <a:xfrm>
            <a:off x="7644384" y="36576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41" name="Text 39"/>
          <p:cNvSpPr txBox="1"/>
          <p:nvPr/>
        </p:nvSpPr>
        <p:spPr>
          <a:xfrm>
            <a:off x="7050024" y="4297680"/>
            <a:ext cx="1737360" cy="548640"/>
          </a:xfrm>
          <a:prstGeom prst="rect">
            <a:avLst/>
          </a:prstGeom>
          <a:noFill/>
          <a:ln/>
        </p:spPr>
        <p:txBody>
          <a:bodyPr wrap="square" lIns="0" tIns="0" rIns="0" bIns="0" rtlCol="0" anchor="t"/>
          <a:lstStyle/>
          <a:p>
            <a:pPr algn="ctr" indent="0" marL="0">
              <a:buNone/>
            </a:pPr>
            <a:r>
              <a:rPr lang="en-US" sz="1400" b="1" dirty="0">
                <a:solidFill>
                  <a:schemeClr val="tx2"/>
                </a:solidFill>
              </a:rPr>
              <a:t>Requirements mgmt</a:t>
            </a:r>
            <a:endParaRPr lang="en-US" sz="1400" dirty="0"/>
          </a:p>
        </p:txBody>
      </p:sp>
      <p:sp>
        <p:nvSpPr>
          <p:cNvPr id="42" name="Text 40"/>
          <p:cNvSpPr txBox="1"/>
          <p:nvPr/>
        </p:nvSpPr>
        <p:spPr>
          <a:xfrm>
            <a:off x="7050024" y="4846320"/>
            <a:ext cx="1737360" cy="731520"/>
          </a:xfrm>
          <a:prstGeom prst="rect">
            <a:avLst/>
          </a:prstGeom>
          <a:noFill/>
          <a:ln/>
        </p:spPr>
        <p:txBody>
          <a:bodyPr wrap="square" lIns="0" tIns="0" rIns="0" bIns="0" rtlCol="0" anchor="t"/>
          <a:lstStyle/>
          <a:p>
            <a:pPr algn="ctr" indent="0" marL="0">
              <a:buNone/>
            </a:pPr>
            <a:r>
              <a:rPr lang="en-US" sz="1200" dirty="0">
                <a:solidFill>
                  <a:schemeClr val="accent6"/>
                </a:solidFill>
              </a:rPr>
              <a:t>Git baselines, RTM in CI</a:t>
            </a:r>
            <a:endParaRPr lang="en-US" sz="1200" dirty="0"/>
          </a:p>
        </p:txBody>
      </p:sp>
      <p:sp>
        <p:nvSpPr>
          <p:cNvPr id="43" name="Shape 41"/>
          <p:cNvSpPr/>
          <p:nvPr/>
        </p:nvSpPr>
        <p:spPr>
          <a:xfrm>
            <a:off x="9491472" y="3657600"/>
            <a:ext cx="548640" cy="548640"/>
          </a:xfrm>
          <a:prstGeom prst="ellipse">
            <a:avLst/>
          </a:prstGeom>
          <a:solidFill>
            <a:schemeClr val="accent1"/>
          </a:solidFill>
          <a:ln w="12700">
            <a:solidFill>
              <a:schemeClr val="accent1"/>
            </a:solidFill>
            <a:prstDash val="solid"/>
          </a:ln>
        </p:spPr>
      </p:sp>
      <p:sp>
        <p:nvSpPr>
          <p:cNvPr id="44" name="Text 42"/>
          <p:cNvSpPr txBox="1"/>
          <p:nvPr/>
        </p:nvSpPr>
        <p:spPr>
          <a:xfrm>
            <a:off x="9491472" y="36576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11</a:t>
            </a:r>
            <a:endParaRPr lang="en-US" sz="1600" dirty="0"/>
          </a:p>
        </p:txBody>
      </p:sp>
      <p:sp>
        <p:nvSpPr>
          <p:cNvPr id="45" name="Text 43"/>
          <p:cNvSpPr txBox="1"/>
          <p:nvPr/>
        </p:nvSpPr>
        <p:spPr>
          <a:xfrm>
            <a:off x="8897112" y="4297680"/>
            <a:ext cx="1737360" cy="548640"/>
          </a:xfrm>
          <a:prstGeom prst="rect">
            <a:avLst/>
          </a:prstGeom>
          <a:noFill/>
          <a:ln/>
        </p:spPr>
        <p:txBody>
          <a:bodyPr wrap="square" lIns="0" tIns="0" rIns="0" bIns="0" rtlCol="0" anchor="t"/>
          <a:lstStyle/>
          <a:p>
            <a:pPr algn="ctr" indent="0" marL="0">
              <a:buNone/>
            </a:pPr>
            <a:r>
              <a:rPr lang="en-US" sz="1400" b="1" dirty="0">
                <a:solidFill>
                  <a:schemeClr val="tx2"/>
                </a:solidFill>
              </a:rPr>
              <a:t>Change mgmt</a:t>
            </a:r>
            <a:endParaRPr lang="en-US" sz="1400" dirty="0"/>
          </a:p>
        </p:txBody>
      </p:sp>
      <p:sp>
        <p:nvSpPr>
          <p:cNvPr id="46" name="Text 44"/>
          <p:cNvSpPr txBox="1"/>
          <p:nvPr/>
        </p:nvSpPr>
        <p:spPr>
          <a:xfrm>
            <a:off x="8897112" y="4846320"/>
            <a:ext cx="1737360" cy="731520"/>
          </a:xfrm>
          <a:prstGeom prst="rect">
            <a:avLst/>
          </a:prstGeom>
          <a:noFill/>
          <a:ln/>
        </p:spPr>
        <p:txBody>
          <a:bodyPr wrap="square" lIns="0" tIns="0" rIns="0" bIns="0" rtlCol="0" anchor="t"/>
          <a:lstStyle/>
          <a:p>
            <a:pPr algn="ctr" indent="0" marL="0">
              <a:buNone/>
            </a:pPr>
            <a:r>
              <a:rPr lang="en-US" sz="1200" dirty="0">
                <a:solidFill>
                  <a:schemeClr val="accent6"/>
                </a:solidFill>
              </a:rPr>
              <a:t>Change requests, CCB</a:t>
            </a:r>
            <a:endParaRPr lang="en-US" sz="1200" dirty="0"/>
          </a:p>
        </p:txBody>
      </p:sp>
      <p:sp>
        <p:nvSpPr>
          <p:cNvPr id="47" name="Shape 45"/>
          <p:cNvSpPr/>
          <p:nvPr/>
        </p:nvSpPr>
        <p:spPr>
          <a:xfrm>
            <a:off x="548640" y="5623560"/>
            <a:ext cx="11064240" cy="502920"/>
          </a:xfrm>
          <a:prstGeom prst="roundRect">
            <a:avLst>
              <a:gd name="adj" fmla="val 14545"/>
            </a:avLst>
          </a:prstGeom>
          <a:solidFill>
            <a:schemeClr val="bg2"/>
          </a:solidFill>
          <a:ln w="12700">
            <a:solidFill>
              <a:schemeClr val="bg2"/>
            </a:solidFill>
            <a:prstDash val="solid"/>
          </a:ln>
        </p:spPr>
      </p:sp>
      <p:sp>
        <p:nvSpPr>
          <p:cNvPr id="48" name="Text 46"/>
          <p:cNvSpPr txBox="1"/>
          <p:nvPr/>
        </p:nvSpPr>
        <p:spPr>
          <a:xfrm>
            <a:off x="777240" y="5623560"/>
            <a:ext cx="10607040" cy="502920"/>
          </a:xfrm>
          <a:prstGeom prst="rect">
            <a:avLst/>
          </a:prstGeom>
          <a:noFill/>
          <a:ln/>
        </p:spPr>
        <p:txBody>
          <a:bodyPr wrap="square" lIns="0" tIns="0" rIns="0" bIns="0" rtlCol="0" anchor="ctr"/>
          <a:lstStyle/>
          <a:p>
            <a:pPr indent="0" marL="0">
              <a:buNone/>
            </a:pPr>
            <a:r>
              <a:rPr lang="en-US" sz="1300" dirty="0">
                <a:solidFill>
                  <a:schemeClr val="tx1"/>
                </a:solidFill>
              </a:rPr>
              <a:t>Iterative: weekly baselines (v1.0 week 1 → v1.1 week 2 → v2.0 week 4); volatile items (thresholds, policies, languages) are configuration, so change rarely needs redesign.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4-week delivery plan</a:t>
            </a:r>
            <a:endParaRPr lang="en-US" sz="3200" dirty="0"/>
          </a:p>
        </p:txBody>
      </p:sp>
      <p:sp>
        <p:nvSpPr>
          <p:cNvPr id="3" name="Shape 1"/>
          <p:cNvSpPr/>
          <p:nvPr/>
        </p:nvSpPr>
        <p:spPr>
          <a:xfrm>
            <a:off x="640080" y="1508760"/>
            <a:ext cx="365760" cy="365760"/>
          </a:xfrm>
          <a:prstGeom prst="ellipse">
            <a:avLst/>
          </a:prstGeom>
          <a:solidFill>
            <a:schemeClr val="accent1"/>
          </a:solidFill>
          <a:ln w="12700">
            <a:solidFill>
              <a:schemeClr val="accent1"/>
            </a:solidFill>
            <a:prstDash val="solid"/>
          </a:ln>
        </p:spPr>
      </p:sp>
      <p:sp>
        <p:nvSpPr>
          <p:cNvPr id="4" name="Shape 2"/>
          <p:cNvSpPr/>
          <p:nvPr/>
        </p:nvSpPr>
        <p:spPr>
          <a:xfrm>
            <a:off x="1965960" y="1691640"/>
            <a:ext cx="1517904" cy="0"/>
          </a:xfrm>
          <a:prstGeom prst="line">
            <a:avLst/>
          </a:prstGeom>
          <a:noFill/>
          <a:ln w="25400">
            <a:solidFill>
              <a:schemeClr val="accent1"/>
            </a:solidFill>
            <a:prstDash val="solid"/>
          </a:ln>
        </p:spPr>
      </p:sp>
      <p:sp>
        <p:nvSpPr>
          <p:cNvPr id="5" name="Text 3"/>
          <p:cNvSpPr txBox="1"/>
          <p:nvPr/>
        </p:nvSpPr>
        <p:spPr>
          <a:xfrm>
            <a:off x="1097280" y="1536192"/>
            <a:ext cx="1828800" cy="320040"/>
          </a:xfrm>
          <a:prstGeom prst="rect">
            <a:avLst/>
          </a:prstGeom>
          <a:noFill/>
          <a:ln/>
        </p:spPr>
        <p:txBody>
          <a:bodyPr wrap="square" lIns="0" tIns="0" rIns="0" bIns="0" rtlCol="0" anchor="t"/>
          <a:lstStyle/>
          <a:p>
            <a:pPr indent="0" marL="0">
              <a:buNone/>
            </a:pPr>
            <a:r>
              <a:rPr lang="en-US" sz="1600" b="1" dirty="0">
                <a:solidFill>
                  <a:schemeClr val="accent1"/>
                </a:solidFill>
              </a:rPr>
              <a:t>Week 1</a:t>
            </a:r>
            <a:endParaRPr lang="en-US" sz="1600" dirty="0"/>
          </a:p>
        </p:txBody>
      </p:sp>
      <p:sp>
        <p:nvSpPr>
          <p:cNvPr id="6" name="Shape 4"/>
          <p:cNvSpPr/>
          <p:nvPr/>
        </p:nvSpPr>
        <p:spPr>
          <a:xfrm>
            <a:off x="548640" y="2103120"/>
            <a:ext cx="2569464" cy="2331720"/>
          </a:xfrm>
          <a:prstGeom prst="roundRect">
            <a:avLst>
              <a:gd name="adj" fmla="val 3137"/>
            </a:avLst>
          </a:prstGeom>
          <a:solidFill>
            <a:schemeClr val="bg2"/>
          </a:solidFill>
          <a:ln w="12700">
            <a:solidFill>
              <a:schemeClr val="bg2"/>
            </a:solidFill>
            <a:prstDash val="solid"/>
          </a:ln>
        </p:spPr>
      </p:sp>
      <p:sp>
        <p:nvSpPr>
          <p:cNvPr id="7" name="Text 5"/>
          <p:cNvSpPr txBox="1"/>
          <p:nvPr/>
        </p:nvSpPr>
        <p:spPr>
          <a:xfrm>
            <a:off x="731520" y="2240280"/>
            <a:ext cx="2203704" cy="365760"/>
          </a:xfrm>
          <a:prstGeom prst="rect">
            <a:avLst/>
          </a:prstGeom>
          <a:noFill/>
          <a:ln/>
        </p:spPr>
        <p:txBody>
          <a:bodyPr wrap="square" lIns="0" tIns="0" rIns="0" bIns="0" rtlCol="0" anchor="t"/>
          <a:lstStyle/>
          <a:p>
            <a:pPr indent="0" marL="0">
              <a:buNone/>
            </a:pPr>
            <a:r>
              <a:rPr lang="en-US" sz="1800" b="1" dirty="0">
                <a:solidFill>
                  <a:schemeClr val="tx2"/>
                </a:solidFill>
              </a:rPr>
              <a:t>Foundations</a:t>
            </a:r>
            <a:endParaRPr lang="en-US" sz="1800" dirty="0"/>
          </a:p>
        </p:txBody>
      </p:sp>
      <p:sp>
        <p:nvSpPr>
          <p:cNvPr id="8" name="Text 6"/>
          <p:cNvSpPr txBox="1"/>
          <p:nvPr/>
        </p:nvSpPr>
        <p:spPr>
          <a:xfrm>
            <a:off x="731520" y="2697480"/>
            <a:ext cx="2203704" cy="1645920"/>
          </a:xfrm>
          <a:prstGeom prst="rect">
            <a:avLst/>
          </a:prstGeom>
          <a:noFill/>
          <a:ln/>
        </p:spPr>
        <p:txBody>
          <a:bodyPr wrap="square" lIns="0" tIns="0" rIns="0" bIns="0" rtlCol="0" anchor="t"/>
          <a:lstStyle/>
          <a:p>
            <a:pPr indent="0" marL="0">
              <a:buNone/>
            </a:pPr>
            <a:r>
              <a:rPr lang="en-US" sz="1400" dirty="0">
                <a:solidFill>
                  <a:schemeClr val="tx1"/>
                </a:solidFill>
              </a:rPr>
              <a:t>Schema, RLS, live satellite + weather adapters, order hardware, i18n UI; baseline signed</a:t>
            </a:r>
            <a:endParaRPr lang="en-US" sz="1400" dirty="0"/>
          </a:p>
        </p:txBody>
      </p:sp>
      <p:sp>
        <p:nvSpPr>
          <p:cNvPr id="9" name="Shape 7"/>
          <p:cNvSpPr/>
          <p:nvPr/>
        </p:nvSpPr>
        <p:spPr>
          <a:xfrm>
            <a:off x="3483864" y="1508760"/>
            <a:ext cx="365760" cy="365760"/>
          </a:xfrm>
          <a:prstGeom prst="ellipse">
            <a:avLst/>
          </a:prstGeom>
          <a:solidFill>
            <a:schemeClr val="accent1"/>
          </a:solidFill>
          <a:ln w="12700">
            <a:solidFill>
              <a:schemeClr val="accent1"/>
            </a:solidFill>
            <a:prstDash val="solid"/>
          </a:ln>
        </p:spPr>
      </p:sp>
      <p:sp>
        <p:nvSpPr>
          <p:cNvPr id="10" name="Shape 8"/>
          <p:cNvSpPr/>
          <p:nvPr/>
        </p:nvSpPr>
        <p:spPr>
          <a:xfrm>
            <a:off x="4809744" y="1691640"/>
            <a:ext cx="1517904" cy="0"/>
          </a:xfrm>
          <a:prstGeom prst="line">
            <a:avLst/>
          </a:prstGeom>
          <a:noFill/>
          <a:ln w="25400">
            <a:solidFill>
              <a:schemeClr val="accent1"/>
            </a:solidFill>
            <a:prstDash val="solid"/>
          </a:ln>
        </p:spPr>
      </p:sp>
      <p:sp>
        <p:nvSpPr>
          <p:cNvPr id="11" name="Text 9"/>
          <p:cNvSpPr txBox="1"/>
          <p:nvPr/>
        </p:nvSpPr>
        <p:spPr>
          <a:xfrm>
            <a:off x="3941064" y="1536192"/>
            <a:ext cx="1828800" cy="320040"/>
          </a:xfrm>
          <a:prstGeom prst="rect">
            <a:avLst/>
          </a:prstGeom>
          <a:noFill/>
          <a:ln/>
        </p:spPr>
        <p:txBody>
          <a:bodyPr wrap="square" lIns="0" tIns="0" rIns="0" bIns="0" rtlCol="0" anchor="t"/>
          <a:lstStyle/>
          <a:p>
            <a:pPr indent="0" marL="0">
              <a:buNone/>
            </a:pPr>
            <a:r>
              <a:rPr lang="en-US" sz="1600" b="1" dirty="0">
                <a:solidFill>
                  <a:schemeClr val="accent1"/>
                </a:solidFill>
              </a:rPr>
              <a:t>Week 2</a:t>
            </a:r>
            <a:endParaRPr lang="en-US" sz="1600" dirty="0"/>
          </a:p>
        </p:txBody>
      </p:sp>
      <p:sp>
        <p:nvSpPr>
          <p:cNvPr id="12" name="Shape 10"/>
          <p:cNvSpPr/>
          <p:nvPr/>
        </p:nvSpPr>
        <p:spPr>
          <a:xfrm>
            <a:off x="3392424" y="2103120"/>
            <a:ext cx="2569464" cy="2331720"/>
          </a:xfrm>
          <a:prstGeom prst="roundRect">
            <a:avLst>
              <a:gd name="adj" fmla="val 3137"/>
            </a:avLst>
          </a:prstGeom>
          <a:solidFill>
            <a:schemeClr val="bg2"/>
          </a:solidFill>
          <a:ln w="12700">
            <a:solidFill>
              <a:schemeClr val="bg2"/>
            </a:solidFill>
            <a:prstDash val="solid"/>
          </a:ln>
        </p:spPr>
      </p:sp>
      <p:sp>
        <p:nvSpPr>
          <p:cNvPr id="13" name="Text 11"/>
          <p:cNvSpPr txBox="1"/>
          <p:nvPr/>
        </p:nvSpPr>
        <p:spPr>
          <a:xfrm>
            <a:off x="3575304" y="2240280"/>
            <a:ext cx="2203704" cy="365760"/>
          </a:xfrm>
          <a:prstGeom prst="rect">
            <a:avLst/>
          </a:prstGeom>
          <a:noFill/>
          <a:ln/>
        </p:spPr>
        <p:txBody>
          <a:bodyPr wrap="square" lIns="0" tIns="0" rIns="0" bIns="0" rtlCol="0" anchor="t"/>
          <a:lstStyle/>
          <a:p>
            <a:pPr indent="0" marL="0">
              <a:buNone/>
            </a:pPr>
            <a:r>
              <a:rPr lang="en-US" sz="1800" b="1" dirty="0">
                <a:solidFill>
                  <a:schemeClr val="tx2"/>
                </a:solidFill>
              </a:rPr>
              <a:t>Core pipeline</a:t>
            </a:r>
            <a:endParaRPr lang="en-US" sz="1800" dirty="0"/>
          </a:p>
        </p:txBody>
      </p:sp>
      <p:sp>
        <p:nvSpPr>
          <p:cNvPr id="14" name="Text 12"/>
          <p:cNvSpPr txBox="1"/>
          <p:nvPr/>
        </p:nvSpPr>
        <p:spPr>
          <a:xfrm>
            <a:off x="3575304" y="2697480"/>
            <a:ext cx="2203704" cy="1645920"/>
          </a:xfrm>
          <a:prstGeom prst="rect">
            <a:avLst/>
          </a:prstGeom>
          <a:noFill/>
          <a:ln/>
        </p:spPr>
        <p:txBody>
          <a:bodyPr wrap="square" lIns="0" tIns="0" rIns="0" bIns="0" rtlCol="0" anchor="t"/>
          <a:lstStyle/>
          <a:p>
            <a:pPr indent="0" marL="0">
              <a:buNone/>
            </a:pPr>
            <a:r>
              <a:rPr lang="en-US" sz="1400" dirty="0">
                <a:solidFill>
                  <a:schemeClr val="tx1"/>
                </a:solidFill>
              </a:rPr>
              <a:t>Live data → risk → approval → delivery; gauge node sending data; validation round 1</a:t>
            </a:r>
            <a:endParaRPr lang="en-US" sz="1400" dirty="0"/>
          </a:p>
        </p:txBody>
      </p:sp>
      <p:sp>
        <p:nvSpPr>
          <p:cNvPr id="15" name="Shape 13"/>
          <p:cNvSpPr/>
          <p:nvPr/>
        </p:nvSpPr>
        <p:spPr>
          <a:xfrm>
            <a:off x="6327648" y="1508760"/>
            <a:ext cx="365760" cy="365760"/>
          </a:xfrm>
          <a:prstGeom prst="ellipse">
            <a:avLst/>
          </a:prstGeom>
          <a:solidFill>
            <a:schemeClr val="accent1"/>
          </a:solidFill>
          <a:ln w="12700">
            <a:solidFill>
              <a:schemeClr val="accent1"/>
            </a:solidFill>
            <a:prstDash val="solid"/>
          </a:ln>
        </p:spPr>
      </p:sp>
      <p:sp>
        <p:nvSpPr>
          <p:cNvPr id="16" name="Shape 14"/>
          <p:cNvSpPr/>
          <p:nvPr/>
        </p:nvSpPr>
        <p:spPr>
          <a:xfrm>
            <a:off x="7653528" y="1691640"/>
            <a:ext cx="1517904" cy="0"/>
          </a:xfrm>
          <a:prstGeom prst="line">
            <a:avLst/>
          </a:prstGeom>
          <a:noFill/>
          <a:ln w="25400">
            <a:solidFill>
              <a:schemeClr val="accent1"/>
            </a:solidFill>
            <a:prstDash val="solid"/>
          </a:ln>
        </p:spPr>
      </p:sp>
      <p:sp>
        <p:nvSpPr>
          <p:cNvPr id="17" name="Text 15"/>
          <p:cNvSpPr txBox="1"/>
          <p:nvPr/>
        </p:nvSpPr>
        <p:spPr>
          <a:xfrm>
            <a:off x="6784848" y="1536192"/>
            <a:ext cx="1828800" cy="320040"/>
          </a:xfrm>
          <a:prstGeom prst="rect">
            <a:avLst/>
          </a:prstGeom>
          <a:noFill/>
          <a:ln/>
        </p:spPr>
        <p:txBody>
          <a:bodyPr wrap="square" lIns="0" tIns="0" rIns="0" bIns="0" rtlCol="0" anchor="t"/>
          <a:lstStyle/>
          <a:p>
            <a:pPr indent="0" marL="0">
              <a:buNone/>
            </a:pPr>
            <a:r>
              <a:rPr lang="en-US" sz="1600" b="1" dirty="0">
                <a:solidFill>
                  <a:schemeClr val="accent1"/>
                </a:solidFill>
              </a:rPr>
              <a:t>Week 3</a:t>
            </a:r>
            <a:endParaRPr lang="en-US" sz="1600" dirty="0"/>
          </a:p>
        </p:txBody>
      </p:sp>
      <p:sp>
        <p:nvSpPr>
          <p:cNvPr id="18" name="Shape 16"/>
          <p:cNvSpPr/>
          <p:nvPr/>
        </p:nvSpPr>
        <p:spPr>
          <a:xfrm>
            <a:off x="6236208" y="2103120"/>
            <a:ext cx="2569464" cy="2331720"/>
          </a:xfrm>
          <a:prstGeom prst="roundRect">
            <a:avLst>
              <a:gd name="adj" fmla="val 3137"/>
            </a:avLst>
          </a:prstGeom>
          <a:solidFill>
            <a:schemeClr val="bg2"/>
          </a:solidFill>
          <a:ln w="12700">
            <a:solidFill>
              <a:schemeClr val="bg2"/>
            </a:solidFill>
            <a:prstDash val="solid"/>
          </a:ln>
        </p:spPr>
      </p:sp>
      <p:sp>
        <p:nvSpPr>
          <p:cNvPr id="19" name="Text 17"/>
          <p:cNvSpPr txBox="1"/>
          <p:nvPr/>
        </p:nvSpPr>
        <p:spPr>
          <a:xfrm>
            <a:off x="6419088" y="2240280"/>
            <a:ext cx="2203704" cy="365760"/>
          </a:xfrm>
          <a:prstGeom prst="rect">
            <a:avLst/>
          </a:prstGeom>
          <a:noFill/>
          <a:ln/>
        </p:spPr>
        <p:txBody>
          <a:bodyPr wrap="square" lIns="0" tIns="0" rIns="0" bIns="0" rtlCol="0" anchor="t"/>
          <a:lstStyle/>
          <a:p>
            <a:pPr indent="0" marL="0">
              <a:buNone/>
            </a:pPr>
            <a:r>
              <a:rPr lang="en-US" sz="1800" b="1" dirty="0">
                <a:solidFill>
                  <a:schemeClr val="tx2"/>
                </a:solidFill>
              </a:rPr>
              <a:t>All Must items</a:t>
            </a:r>
            <a:endParaRPr lang="en-US" sz="1800" dirty="0"/>
          </a:p>
        </p:txBody>
      </p:sp>
      <p:sp>
        <p:nvSpPr>
          <p:cNvPr id="20" name="Text 18"/>
          <p:cNvSpPr txBox="1"/>
          <p:nvPr/>
        </p:nvSpPr>
        <p:spPr>
          <a:xfrm>
            <a:off x="6419088" y="2697480"/>
            <a:ext cx="2203704" cy="1645920"/>
          </a:xfrm>
          <a:prstGeom prst="rect">
            <a:avLst/>
          </a:prstGeom>
          <a:noFill/>
          <a:ln/>
        </p:spPr>
        <p:txBody>
          <a:bodyPr wrap="square" lIns="0" tIns="0" rIns="0" bIns="0" rtlCol="0" anchor="t"/>
          <a:lstStyle/>
          <a:p>
            <a:pPr indent="0" marL="0">
              <a:buNone/>
            </a:pPr>
            <a:r>
              <a:rPr lang="en-US" sz="1400" dirty="0">
                <a:solidFill>
                  <a:schemeClr val="tx1"/>
                </a:solidFill>
              </a:rPr>
              <a:t>Siren pilot (test mode), device monitoring, routing, dashboard; install gauge with local permission</a:t>
            </a:r>
            <a:endParaRPr lang="en-US" sz="1400" dirty="0"/>
          </a:p>
        </p:txBody>
      </p:sp>
      <p:sp>
        <p:nvSpPr>
          <p:cNvPr id="21" name="Shape 19"/>
          <p:cNvSpPr/>
          <p:nvPr/>
        </p:nvSpPr>
        <p:spPr>
          <a:xfrm>
            <a:off x="9171432" y="1508760"/>
            <a:ext cx="365760" cy="365760"/>
          </a:xfrm>
          <a:prstGeom prst="ellipse">
            <a:avLst/>
          </a:prstGeom>
          <a:solidFill>
            <a:schemeClr val="accent1"/>
          </a:solidFill>
          <a:ln w="12700">
            <a:solidFill>
              <a:schemeClr val="accent1"/>
            </a:solidFill>
            <a:prstDash val="solid"/>
          </a:ln>
        </p:spPr>
      </p:sp>
      <p:sp>
        <p:nvSpPr>
          <p:cNvPr id="22" name="Text 20"/>
          <p:cNvSpPr txBox="1"/>
          <p:nvPr/>
        </p:nvSpPr>
        <p:spPr>
          <a:xfrm>
            <a:off x="9628632" y="1536192"/>
            <a:ext cx="1828800" cy="320040"/>
          </a:xfrm>
          <a:prstGeom prst="rect">
            <a:avLst/>
          </a:prstGeom>
          <a:noFill/>
          <a:ln/>
        </p:spPr>
        <p:txBody>
          <a:bodyPr wrap="square" lIns="0" tIns="0" rIns="0" bIns="0" rtlCol="0" anchor="t"/>
          <a:lstStyle/>
          <a:p>
            <a:pPr indent="0" marL="0">
              <a:buNone/>
            </a:pPr>
            <a:r>
              <a:rPr lang="en-US" sz="1600" b="1" dirty="0">
                <a:solidFill>
                  <a:schemeClr val="accent1"/>
                </a:solidFill>
              </a:rPr>
              <a:t>Week 4</a:t>
            </a:r>
            <a:endParaRPr lang="en-US" sz="1600" dirty="0"/>
          </a:p>
        </p:txBody>
      </p:sp>
      <p:sp>
        <p:nvSpPr>
          <p:cNvPr id="23" name="Shape 21"/>
          <p:cNvSpPr/>
          <p:nvPr/>
        </p:nvSpPr>
        <p:spPr>
          <a:xfrm>
            <a:off x="9079992" y="2103120"/>
            <a:ext cx="2569464" cy="2331720"/>
          </a:xfrm>
          <a:prstGeom prst="roundRect">
            <a:avLst>
              <a:gd name="adj" fmla="val 3137"/>
            </a:avLst>
          </a:prstGeom>
          <a:solidFill>
            <a:schemeClr val="bg2"/>
          </a:solidFill>
          <a:ln w="12700">
            <a:solidFill>
              <a:schemeClr val="bg2"/>
            </a:solidFill>
            <a:prstDash val="solid"/>
          </a:ln>
        </p:spPr>
      </p:sp>
      <p:sp>
        <p:nvSpPr>
          <p:cNvPr id="24" name="Text 22"/>
          <p:cNvSpPr txBox="1"/>
          <p:nvPr/>
        </p:nvSpPr>
        <p:spPr>
          <a:xfrm>
            <a:off x="9262872" y="2240280"/>
            <a:ext cx="2203704" cy="365760"/>
          </a:xfrm>
          <a:prstGeom prst="rect">
            <a:avLst/>
          </a:prstGeom>
          <a:noFill/>
          <a:ln/>
        </p:spPr>
        <p:txBody>
          <a:bodyPr wrap="square" lIns="0" tIns="0" rIns="0" bIns="0" rtlCol="0" anchor="t"/>
          <a:lstStyle/>
          <a:p>
            <a:pPr indent="0" marL="0">
              <a:buNone/>
            </a:pPr>
            <a:r>
              <a:rPr lang="en-US" sz="1800" b="1" dirty="0">
                <a:solidFill>
                  <a:schemeClr val="tx2"/>
                </a:solidFill>
              </a:rPr>
              <a:t>Polish &amp; prove</a:t>
            </a:r>
            <a:endParaRPr lang="en-US" sz="1800" dirty="0"/>
          </a:p>
        </p:txBody>
      </p:sp>
      <p:sp>
        <p:nvSpPr>
          <p:cNvPr id="25" name="Text 23"/>
          <p:cNvSpPr txBox="1"/>
          <p:nvPr/>
        </p:nvSpPr>
        <p:spPr>
          <a:xfrm>
            <a:off x="9262872" y="2697480"/>
            <a:ext cx="2203704" cy="1645920"/>
          </a:xfrm>
          <a:prstGeom prst="rect">
            <a:avLst/>
          </a:prstGeom>
          <a:noFill/>
          <a:ln/>
        </p:spPr>
        <p:txBody>
          <a:bodyPr wrap="square" lIns="0" tIns="0" rIns="0" bIns="0" rtlCol="0" anchor="t"/>
          <a:lstStyle/>
          <a:p>
            <a:pPr indent="0" marL="0">
              <a:buNone/>
            </a:pPr>
            <a:r>
              <a:rPr lang="en-US" sz="1400" dirty="0">
                <a:solidFill>
                  <a:schemeClr val="tx1"/>
                </a:solidFill>
              </a:rPr>
              <a:t>Field test, usability tests, traceability check, report, demo; feature freeze day 3</a:t>
            </a:r>
            <a:endParaRPr lang="en-US" sz="1400" dirty="0"/>
          </a:p>
        </p:txBody>
      </p:sp>
      <p:sp>
        <p:nvSpPr>
          <p:cNvPr id="26" name="Shape 24"/>
          <p:cNvSpPr/>
          <p:nvPr/>
        </p:nvSpPr>
        <p:spPr>
          <a:xfrm>
            <a:off x="548640" y="4663440"/>
            <a:ext cx="1828800" cy="1371600"/>
          </a:xfrm>
          <a:prstGeom prst="roundRect">
            <a:avLst>
              <a:gd name="adj" fmla="val 5333"/>
            </a:avLst>
          </a:prstGeom>
          <a:solidFill>
            <a:schemeClr val="tx2"/>
          </a:solidFill>
          <a:ln w="12700">
            <a:solidFill>
              <a:schemeClr val="tx2"/>
            </a:solidFill>
            <a:prstDash val="solid"/>
          </a:ln>
        </p:spPr>
      </p:sp>
      <p:sp>
        <p:nvSpPr>
          <p:cNvPr id="27" name="Text 25"/>
          <p:cNvSpPr txBox="1"/>
          <p:nvPr/>
        </p:nvSpPr>
        <p:spPr>
          <a:xfrm>
            <a:off x="548640" y="4709160"/>
            <a:ext cx="1828800" cy="777240"/>
          </a:xfrm>
          <a:prstGeom prst="rect">
            <a:avLst/>
          </a:prstGeom>
          <a:noFill/>
          <a:ln/>
        </p:spPr>
        <p:txBody>
          <a:bodyPr wrap="square" lIns="0" tIns="0" rIns="0" bIns="0" rtlCol="0" anchor="t"/>
          <a:lstStyle/>
          <a:p>
            <a:pPr algn="ctr" indent="0" marL="0">
              <a:buNone/>
            </a:pPr>
            <a:r>
              <a:rPr lang="en-US" sz="3600" b="1" dirty="0">
                <a:solidFill>
                  <a:schemeClr val="bg1"/>
                </a:solidFill>
                <a:latin typeface="Cambria" pitchFamily="34" charset="0"/>
                <a:ea typeface="Cambria" pitchFamily="34" charset="-122"/>
                <a:cs typeface="Cambria" pitchFamily="34" charset="-120"/>
              </a:rPr>
              <a:t>51</a:t>
            </a:r>
            <a:endParaRPr lang="en-US" sz="3600" dirty="0"/>
          </a:p>
        </p:txBody>
      </p:sp>
      <p:sp>
        <p:nvSpPr>
          <p:cNvPr id="28" name="Text 26"/>
          <p:cNvSpPr txBox="1"/>
          <p:nvPr/>
        </p:nvSpPr>
        <p:spPr>
          <a:xfrm>
            <a:off x="548640" y="5486400"/>
            <a:ext cx="1828800" cy="365760"/>
          </a:xfrm>
          <a:prstGeom prst="rect">
            <a:avLst/>
          </a:prstGeom>
          <a:noFill/>
          <a:ln/>
        </p:spPr>
        <p:txBody>
          <a:bodyPr wrap="square" lIns="0" tIns="0" rIns="0" bIns="0" rtlCol="0" anchor="t"/>
          <a:lstStyle/>
          <a:p>
            <a:pPr algn="ctr" indent="0" marL="0">
              <a:buNone/>
            </a:pPr>
            <a:r>
              <a:rPr lang="en-US" sz="1400" dirty="0">
                <a:solidFill>
                  <a:schemeClr val="bg1"/>
                </a:solidFill>
              </a:rPr>
              <a:t>Must FRs</a:t>
            </a:r>
            <a:endParaRPr lang="en-US" sz="1400" dirty="0"/>
          </a:p>
        </p:txBody>
      </p:sp>
      <p:sp>
        <p:nvSpPr>
          <p:cNvPr id="29" name="Shape 27"/>
          <p:cNvSpPr/>
          <p:nvPr/>
        </p:nvSpPr>
        <p:spPr>
          <a:xfrm>
            <a:off x="2560320" y="4663440"/>
            <a:ext cx="1828800" cy="1371600"/>
          </a:xfrm>
          <a:prstGeom prst="roundRect">
            <a:avLst>
              <a:gd name="adj" fmla="val 5333"/>
            </a:avLst>
          </a:prstGeom>
          <a:solidFill>
            <a:schemeClr val="accent1"/>
          </a:solidFill>
          <a:ln w="12700">
            <a:solidFill>
              <a:schemeClr val="accent1"/>
            </a:solidFill>
            <a:prstDash val="solid"/>
          </a:ln>
        </p:spPr>
      </p:sp>
      <p:sp>
        <p:nvSpPr>
          <p:cNvPr id="30" name="Text 28"/>
          <p:cNvSpPr txBox="1"/>
          <p:nvPr/>
        </p:nvSpPr>
        <p:spPr>
          <a:xfrm>
            <a:off x="2560320" y="4709160"/>
            <a:ext cx="1828800" cy="777240"/>
          </a:xfrm>
          <a:prstGeom prst="rect">
            <a:avLst/>
          </a:prstGeom>
          <a:noFill/>
          <a:ln/>
        </p:spPr>
        <p:txBody>
          <a:bodyPr wrap="square" lIns="0" tIns="0" rIns="0" bIns="0" rtlCol="0" anchor="t"/>
          <a:lstStyle/>
          <a:p>
            <a:pPr algn="ctr" indent="0" marL="0">
              <a:buNone/>
            </a:pPr>
            <a:r>
              <a:rPr lang="en-US" sz="3600" b="1" dirty="0">
                <a:solidFill>
                  <a:schemeClr val="bg1"/>
                </a:solidFill>
                <a:latin typeface="Cambria" pitchFamily="34" charset="0"/>
                <a:ea typeface="Cambria" pitchFamily="34" charset="-122"/>
                <a:cs typeface="Cambria" pitchFamily="34" charset="-120"/>
              </a:rPr>
              <a:t>20</a:t>
            </a:r>
            <a:endParaRPr lang="en-US" sz="3600" dirty="0"/>
          </a:p>
        </p:txBody>
      </p:sp>
      <p:sp>
        <p:nvSpPr>
          <p:cNvPr id="31" name="Text 29"/>
          <p:cNvSpPr txBox="1"/>
          <p:nvPr/>
        </p:nvSpPr>
        <p:spPr>
          <a:xfrm>
            <a:off x="2560320" y="5486400"/>
            <a:ext cx="1828800" cy="365760"/>
          </a:xfrm>
          <a:prstGeom prst="rect">
            <a:avLst/>
          </a:prstGeom>
          <a:noFill/>
          <a:ln/>
        </p:spPr>
        <p:txBody>
          <a:bodyPr wrap="square" lIns="0" tIns="0" rIns="0" bIns="0" rtlCol="0" anchor="t"/>
          <a:lstStyle/>
          <a:p>
            <a:pPr algn="ctr" indent="0" marL="0">
              <a:buNone/>
            </a:pPr>
            <a:r>
              <a:rPr lang="en-US" sz="1400" dirty="0">
                <a:solidFill>
                  <a:schemeClr val="bg1"/>
                </a:solidFill>
              </a:rPr>
              <a:t>Should FRs</a:t>
            </a:r>
            <a:endParaRPr lang="en-US" sz="1400" dirty="0"/>
          </a:p>
        </p:txBody>
      </p:sp>
      <p:sp>
        <p:nvSpPr>
          <p:cNvPr id="32" name="Shape 30"/>
          <p:cNvSpPr/>
          <p:nvPr/>
        </p:nvSpPr>
        <p:spPr>
          <a:xfrm>
            <a:off x="4572000" y="4663440"/>
            <a:ext cx="1828800" cy="1371600"/>
          </a:xfrm>
          <a:prstGeom prst="roundRect">
            <a:avLst>
              <a:gd name="adj" fmla="val 5333"/>
            </a:avLst>
          </a:prstGeom>
          <a:solidFill>
            <a:schemeClr val="accent6"/>
          </a:solidFill>
          <a:ln w="12700">
            <a:solidFill>
              <a:schemeClr val="accent6"/>
            </a:solidFill>
            <a:prstDash val="solid"/>
          </a:ln>
        </p:spPr>
      </p:sp>
      <p:sp>
        <p:nvSpPr>
          <p:cNvPr id="33" name="Text 31"/>
          <p:cNvSpPr txBox="1"/>
          <p:nvPr/>
        </p:nvSpPr>
        <p:spPr>
          <a:xfrm>
            <a:off x="4572000" y="4709160"/>
            <a:ext cx="1828800" cy="777240"/>
          </a:xfrm>
          <a:prstGeom prst="rect">
            <a:avLst/>
          </a:prstGeom>
          <a:noFill/>
          <a:ln/>
        </p:spPr>
        <p:txBody>
          <a:bodyPr wrap="square" lIns="0" tIns="0" rIns="0" bIns="0" rtlCol="0" anchor="t"/>
          <a:lstStyle/>
          <a:p>
            <a:pPr algn="ctr" indent="0" marL="0">
              <a:buNone/>
            </a:pPr>
            <a:r>
              <a:rPr lang="en-US" sz="3600" b="1" dirty="0">
                <a:solidFill>
                  <a:schemeClr val="bg1"/>
                </a:solidFill>
                <a:latin typeface="Cambria" pitchFamily="34" charset="0"/>
                <a:ea typeface="Cambria" pitchFamily="34" charset="-122"/>
                <a:cs typeface="Cambria" pitchFamily="34" charset="-120"/>
              </a:rPr>
              <a:t>4</a:t>
            </a:r>
            <a:endParaRPr lang="en-US" sz="3600" dirty="0"/>
          </a:p>
        </p:txBody>
      </p:sp>
      <p:sp>
        <p:nvSpPr>
          <p:cNvPr id="34" name="Text 32"/>
          <p:cNvSpPr txBox="1"/>
          <p:nvPr/>
        </p:nvSpPr>
        <p:spPr>
          <a:xfrm>
            <a:off x="4572000" y="5486400"/>
            <a:ext cx="1828800" cy="365760"/>
          </a:xfrm>
          <a:prstGeom prst="rect">
            <a:avLst/>
          </a:prstGeom>
          <a:noFill/>
          <a:ln/>
        </p:spPr>
        <p:txBody>
          <a:bodyPr wrap="square" lIns="0" tIns="0" rIns="0" bIns="0" rtlCol="0" anchor="t"/>
          <a:lstStyle/>
          <a:p>
            <a:pPr algn="ctr" indent="0" marL="0">
              <a:buNone/>
            </a:pPr>
            <a:r>
              <a:rPr lang="en-US" sz="1400" dirty="0">
                <a:solidFill>
                  <a:schemeClr val="bg1"/>
                </a:solidFill>
              </a:rPr>
              <a:t>Could FRs</a:t>
            </a:r>
            <a:endParaRPr lang="en-US" sz="1400" dirty="0"/>
          </a:p>
        </p:txBody>
      </p:sp>
      <p:sp>
        <p:nvSpPr>
          <p:cNvPr id="35" name="Shape 33"/>
          <p:cNvSpPr/>
          <p:nvPr/>
        </p:nvSpPr>
        <p:spPr>
          <a:xfrm>
            <a:off x="6629400" y="4663440"/>
            <a:ext cx="4983480" cy="1371600"/>
          </a:xfrm>
          <a:prstGeom prst="roundRect">
            <a:avLst>
              <a:gd name="adj" fmla="val 5333"/>
            </a:avLst>
          </a:prstGeom>
          <a:solidFill>
            <a:schemeClr val="bg2"/>
          </a:solidFill>
          <a:ln w="12700">
            <a:solidFill>
              <a:schemeClr val="bg2"/>
            </a:solidFill>
            <a:prstDash val="solid"/>
          </a:ln>
        </p:spPr>
      </p:sp>
      <p:sp>
        <p:nvSpPr>
          <p:cNvPr id="36" name="Text 34"/>
          <p:cNvSpPr txBox="1"/>
          <p:nvPr/>
        </p:nvSpPr>
        <p:spPr>
          <a:xfrm>
            <a:off x="6812280" y="4754880"/>
            <a:ext cx="4617720" cy="1188720"/>
          </a:xfrm>
          <a:prstGeom prst="rect">
            <a:avLst/>
          </a:prstGeom>
          <a:noFill/>
          <a:ln/>
        </p:spPr>
        <p:txBody>
          <a:bodyPr wrap="square" lIns="0" tIns="0" rIns="0" bIns="0" rtlCol="0" anchor="ctr"/>
          <a:lstStyle/>
          <a:p>
            <a:pPr indent="0" marL="0">
              <a:buNone/>
            </a:pPr>
            <a:r>
              <a:rPr lang="en-US" sz="1400" b="1" dirty="0">
                <a:solidFill>
                  <a:schemeClr val="tx1"/>
                </a:solidFill>
              </a:rPr>
              <a:t>Not this semester: </a:t>
            </a:r>
            <a:pPr indent="0" marL="0">
              <a:buNone/>
            </a:pPr>
            <a:r>
              <a:rPr lang="en-US" sz="1400" dirty="0">
                <a:solidFill>
                  <a:schemeClr val="tx1"/>
                </a:solidFill>
              </a:rPr>
              <a:t>own country-wide sensors, autonomous sirens, cell broadcast, public alerts before government sign-off, full landslide and earthquake models — see roadmap.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Roadmap from semester MVP to government launch</a:t>
            </a:r>
            <a:endParaRPr lang="en-US" sz="3200" dirty="0"/>
          </a:p>
        </p:txBody>
      </p:sp>
      <p:sp>
        <p:nvSpPr>
          <p:cNvPr id="3" name="Shape 1"/>
          <p:cNvSpPr/>
          <p:nvPr/>
        </p:nvSpPr>
        <p:spPr>
          <a:xfrm>
            <a:off x="548640" y="1280160"/>
            <a:ext cx="2569464" cy="4206240"/>
          </a:xfrm>
          <a:prstGeom prst="roundRect">
            <a:avLst>
              <a:gd name="adj" fmla="val 2847"/>
            </a:avLst>
          </a:prstGeom>
          <a:solidFill>
            <a:schemeClr val="tx2"/>
          </a:solidFill>
          <a:ln w="12700">
            <a:solidFill>
              <a:schemeClr val="tx2"/>
            </a:solidFill>
            <a:prstDash val="solid"/>
          </a:ln>
        </p:spPr>
      </p:sp>
      <p:sp>
        <p:nvSpPr>
          <p:cNvPr id="4" name="Text 2"/>
          <p:cNvSpPr txBox="1"/>
          <p:nvPr/>
        </p:nvSpPr>
        <p:spPr>
          <a:xfrm>
            <a:off x="777240" y="1463040"/>
            <a:ext cx="2112264" cy="320040"/>
          </a:xfrm>
          <a:prstGeom prst="rect">
            <a:avLst/>
          </a:prstGeom>
          <a:noFill/>
          <a:ln/>
        </p:spPr>
        <p:txBody>
          <a:bodyPr wrap="square" lIns="0" tIns="0" rIns="0" bIns="0" rtlCol="0" anchor="t"/>
          <a:lstStyle/>
          <a:p>
            <a:pPr indent="0" marL="0">
              <a:buNone/>
            </a:pPr>
            <a:r>
              <a:rPr lang="en-US" sz="1400" b="1" dirty="0">
                <a:solidFill>
                  <a:schemeClr val="accent2"/>
                </a:solidFill>
              </a:rPr>
              <a:t>Phase 0</a:t>
            </a:r>
            <a:endParaRPr lang="en-US" sz="1400" dirty="0"/>
          </a:p>
        </p:txBody>
      </p:sp>
      <p:sp>
        <p:nvSpPr>
          <p:cNvPr id="5" name="Text 3"/>
          <p:cNvSpPr txBox="1"/>
          <p:nvPr/>
        </p:nvSpPr>
        <p:spPr>
          <a:xfrm>
            <a:off x="777240" y="1783080"/>
            <a:ext cx="2112264" cy="411480"/>
          </a:xfrm>
          <a:prstGeom prst="rect">
            <a:avLst/>
          </a:prstGeom>
          <a:noFill/>
          <a:ln/>
        </p:spPr>
        <p:txBody>
          <a:bodyPr wrap="square" lIns="0" tIns="0" rIns="0" bIns="0" rtlCol="0" anchor="t"/>
          <a:lstStyle/>
          <a:p>
            <a:pPr indent="0" marL="0">
              <a:buNone/>
            </a:pPr>
            <a:r>
              <a:rPr lang="en-US" sz="2000" b="1" dirty="0">
                <a:solidFill>
                  <a:schemeClr val="bg1"/>
                </a:solidFill>
              </a:rPr>
              <a:t>Semester MVP</a:t>
            </a:r>
            <a:endParaRPr lang="en-US" sz="2000" dirty="0"/>
          </a:p>
        </p:txBody>
      </p:sp>
      <p:sp>
        <p:nvSpPr>
          <p:cNvPr id="6" name="Text 4"/>
          <p:cNvSpPr txBox="1"/>
          <p:nvPr/>
        </p:nvSpPr>
        <p:spPr>
          <a:xfrm>
            <a:off x="777240" y="2240280"/>
            <a:ext cx="2112264" cy="320040"/>
          </a:xfrm>
          <a:prstGeom prst="rect">
            <a:avLst/>
          </a:prstGeom>
          <a:noFill/>
          <a:ln/>
        </p:spPr>
        <p:txBody>
          <a:bodyPr wrap="square" lIns="0" tIns="0" rIns="0" bIns="0" rtlCol="0" anchor="t"/>
          <a:lstStyle/>
          <a:p>
            <a:pPr indent="0" marL="0">
              <a:buNone/>
            </a:pPr>
            <a:r>
              <a:rPr lang="en-US" sz="1400" i="1" dirty="0">
                <a:solidFill>
                  <a:schemeClr val="accent4"/>
                </a:solidFill>
              </a:rPr>
              <a:t>4 weeks</a:t>
            </a:r>
            <a:endParaRPr lang="en-US" sz="1400" dirty="0"/>
          </a:p>
        </p:txBody>
      </p:sp>
      <p:sp>
        <p:nvSpPr>
          <p:cNvPr id="7" name="Text 5"/>
          <p:cNvSpPr txBox="1"/>
          <p:nvPr/>
        </p:nvSpPr>
        <p:spPr>
          <a:xfrm>
            <a:off x="777240" y="2697480"/>
            <a:ext cx="2112264" cy="2651760"/>
          </a:xfrm>
          <a:prstGeom prst="rect">
            <a:avLst/>
          </a:prstGeom>
          <a:noFill/>
          <a:ln/>
        </p:spPr>
        <p:txBody>
          <a:bodyPr wrap="square" lIns="0" tIns="0" rIns="0" bIns="0" rtlCol="0" anchor="t"/>
          <a:lstStyle/>
          <a:p>
            <a:pPr indent="0" marL="0">
              <a:buNone/>
            </a:pPr>
            <a:r>
              <a:rPr lang="en-US" sz="1400" dirty="0">
                <a:solidFill>
                  <a:schemeClr val="bg1"/>
                </a:solidFill>
              </a:rPr>
              <a:t>Live satellite + weather data · 1–3 own gauges · siren pilot in test mode · full warning workflow · exercise mode only</a:t>
            </a:r>
            <a:endParaRPr lang="en-US" sz="1400" dirty="0"/>
          </a:p>
        </p:txBody>
      </p:sp>
      <p:sp>
        <p:nvSpPr>
          <p:cNvPr id="8" name="Shape 6"/>
          <p:cNvSpPr/>
          <p:nvPr/>
        </p:nvSpPr>
        <p:spPr>
          <a:xfrm>
            <a:off x="3392424" y="1280160"/>
            <a:ext cx="2569464" cy="4206240"/>
          </a:xfrm>
          <a:prstGeom prst="roundRect">
            <a:avLst>
              <a:gd name="adj" fmla="val 2847"/>
            </a:avLst>
          </a:prstGeom>
          <a:solidFill>
            <a:schemeClr val="bg2"/>
          </a:solidFill>
          <a:ln w="12700">
            <a:solidFill>
              <a:schemeClr val="bg2"/>
            </a:solidFill>
            <a:prstDash val="solid"/>
          </a:ln>
        </p:spPr>
      </p:sp>
      <p:sp>
        <p:nvSpPr>
          <p:cNvPr id="9" name="Text 7"/>
          <p:cNvSpPr txBox="1"/>
          <p:nvPr/>
        </p:nvSpPr>
        <p:spPr>
          <a:xfrm>
            <a:off x="3621024" y="1463040"/>
            <a:ext cx="2112264" cy="320040"/>
          </a:xfrm>
          <a:prstGeom prst="rect">
            <a:avLst/>
          </a:prstGeom>
          <a:noFill/>
          <a:ln/>
        </p:spPr>
        <p:txBody>
          <a:bodyPr wrap="square" lIns="0" tIns="0" rIns="0" bIns="0" rtlCol="0" anchor="t"/>
          <a:lstStyle/>
          <a:p>
            <a:pPr indent="0" marL="0">
              <a:buNone/>
            </a:pPr>
            <a:r>
              <a:rPr lang="en-US" sz="1400" b="1" dirty="0">
                <a:solidFill>
                  <a:schemeClr val="accent2"/>
                </a:solidFill>
              </a:rPr>
              <a:t>Phase 1</a:t>
            </a:r>
            <a:endParaRPr lang="en-US" sz="1400" dirty="0"/>
          </a:p>
        </p:txBody>
      </p:sp>
      <p:sp>
        <p:nvSpPr>
          <p:cNvPr id="10" name="Text 8"/>
          <p:cNvSpPr txBox="1"/>
          <p:nvPr/>
        </p:nvSpPr>
        <p:spPr>
          <a:xfrm>
            <a:off x="3621024" y="1783080"/>
            <a:ext cx="2112264" cy="411480"/>
          </a:xfrm>
          <a:prstGeom prst="rect">
            <a:avLst/>
          </a:prstGeom>
          <a:noFill/>
          <a:ln/>
        </p:spPr>
        <p:txBody>
          <a:bodyPr wrap="square" lIns="0" tIns="0" rIns="0" bIns="0" rtlCol="0" anchor="t"/>
          <a:lstStyle/>
          <a:p>
            <a:pPr indent="0" marL="0">
              <a:buNone/>
            </a:pPr>
            <a:r>
              <a:rPr lang="en-US" sz="2000" b="1" dirty="0">
                <a:solidFill>
                  <a:schemeClr val="tx2"/>
                </a:solidFill>
              </a:rPr>
              <a:t>Partnership</a:t>
            </a:r>
            <a:endParaRPr lang="en-US" sz="2000" dirty="0"/>
          </a:p>
        </p:txBody>
      </p:sp>
      <p:sp>
        <p:nvSpPr>
          <p:cNvPr id="11" name="Text 9"/>
          <p:cNvSpPr txBox="1"/>
          <p:nvPr/>
        </p:nvSpPr>
        <p:spPr>
          <a:xfrm>
            <a:off x="3621024" y="2240280"/>
            <a:ext cx="2112264" cy="320040"/>
          </a:xfrm>
          <a:prstGeom prst="rect">
            <a:avLst/>
          </a:prstGeom>
          <a:noFill/>
          <a:ln/>
        </p:spPr>
        <p:txBody>
          <a:bodyPr wrap="square" lIns="0" tIns="0" rIns="0" bIns="0" rtlCol="0" anchor="t"/>
          <a:lstStyle/>
          <a:p>
            <a:pPr indent="0" marL="0">
              <a:buNone/>
            </a:pPr>
            <a:r>
              <a:rPr lang="en-US" sz="1400" i="1" dirty="0">
                <a:solidFill>
                  <a:schemeClr val="accent6"/>
                </a:solidFill>
              </a:rPr>
              <a:t>≈ 1–3 months [A]</a:t>
            </a:r>
            <a:endParaRPr lang="en-US" sz="1400" dirty="0"/>
          </a:p>
        </p:txBody>
      </p:sp>
      <p:sp>
        <p:nvSpPr>
          <p:cNvPr id="12" name="Text 10"/>
          <p:cNvSpPr txBox="1"/>
          <p:nvPr/>
        </p:nvSpPr>
        <p:spPr>
          <a:xfrm>
            <a:off x="3621024" y="2697480"/>
            <a:ext cx="2112264" cy="2651760"/>
          </a:xfrm>
          <a:prstGeom prst="rect">
            <a:avLst/>
          </a:prstGeom>
          <a:noFill/>
          <a:ln/>
        </p:spPr>
        <p:txBody>
          <a:bodyPr wrap="square" lIns="0" tIns="0" rIns="0" bIns="0" rtlCol="0" anchor="t"/>
          <a:lstStyle/>
          <a:p>
            <a:pPr indent="0" marL="0">
              <a:buNone/>
            </a:pPr>
            <a:r>
              <a:rPr lang="en-US" sz="1400" dirty="0">
                <a:solidFill>
                  <a:schemeClr val="tx1"/>
                </a:solidFill>
              </a:rPr>
              <a:t>Meet DHM, NDRRMA and a pilot municipality · data-sharing MoU · DHM feed live · security review · real SMS gateway</a:t>
            </a:r>
            <a:endParaRPr lang="en-US" sz="1400" dirty="0"/>
          </a:p>
        </p:txBody>
      </p:sp>
      <p:sp>
        <p:nvSpPr>
          <p:cNvPr id="13" name="Shape 11"/>
          <p:cNvSpPr/>
          <p:nvPr/>
        </p:nvSpPr>
        <p:spPr>
          <a:xfrm>
            <a:off x="6236208" y="1280160"/>
            <a:ext cx="2569464" cy="4206240"/>
          </a:xfrm>
          <a:prstGeom prst="roundRect">
            <a:avLst>
              <a:gd name="adj" fmla="val 2847"/>
            </a:avLst>
          </a:prstGeom>
          <a:solidFill>
            <a:schemeClr val="bg2"/>
          </a:solidFill>
          <a:ln w="12700">
            <a:solidFill>
              <a:schemeClr val="bg2"/>
            </a:solidFill>
            <a:prstDash val="solid"/>
          </a:ln>
        </p:spPr>
      </p:sp>
      <p:sp>
        <p:nvSpPr>
          <p:cNvPr id="14" name="Text 12"/>
          <p:cNvSpPr txBox="1"/>
          <p:nvPr/>
        </p:nvSpPr>
        <p:spPr>
          <a:xfrm>
            <a:off x="6464808" y="1463040"/>
            <a:ext cx="2112264" cy="320040"/>
          </a:xfrm>
          <a:prstGeom prst="rect">
            <a:avLst/>
          </a:prstGeom>
          <a:noFill/>
          <a:ln/>
        </p:spPr>
        <p:txBody>
          <a:bodyPr wrap="square" lIns="0" tIns="0" rIns="0" bIns="0" rtlCol="0" anchor="t"/>
          <a:lstStyle/>
          <a:p>
            <a:pPr indent="0" marL="0">
              <a:buNone/>
            </a:pPr>
            <a:r>
              <a:rPr lang="en-US" sz="1400" b="1" dirty="0">
                <a:solidFill>
                  <a:schemeClr val="accent2"/>
                </a:solidFill>
              </a:rPr>
              <a:t>Phase 2</a:t>
            </a:r>
            <a:endParaRPr lang="en-US" sz="1400" dirty="0"/>
          </a:p>
        </p:txBody>
      </p:sp>
      <p:sp>
        <p:nvSpPr>
          <p:cNvPr id="15" name="Text 13"/>
          <p:cNvSpPr txBox="1"/>
          <p:nvPr/>
        </p:nvSpPr>
        <p:spPr>
          <a:xfrm>
            <a:off x="6464808" y="1783080"/>
            <a:ext cx="2112264" cy="411480"/>
          </a:xfrm>
          <a:prstGeom prst="rect">
            <a:avLst/>
          </a:prstGeom>
          <a:noFill/>
          <a:ln/>
        </p:spPr>
        <p:txBody>
          <a:bodyPr wrap="square" lIns="0" tIns="0" rIns="0" bIns="0" rtlCol="0" anchor="t"/>
          <a:lstStyle/>
          <a:p>
            <a:pPr indent="0" marL="0">
              <a:buNone/>
            </a:pPr>
            <a:r>
              <a:rPr lang="en-US" sz="2000" b="1" dirty="0">
                <a:solidFill>
                  <a:schemeClr val="tx2"/>
                </a:solidFill>
              </a:rPr>
              <a:t>Shadow pilot</a:t>
            </a:r>
            <a:endParaRPr lang="en-US" sz="2000" dirty="0"/>
          </a:p>
        </p:txBody>
      </p:sp>
      <p:sp>
        <p:nvSpPr>
          <p:cNvPr id="16" name="Text 14"/>
          <p:cNvSpPr txBox="1"/>
          <p:nvPr/>
        </p:nvSpPr>
        <p:spPr>
          <a:xfrm>
            <a:off x="6464808" y="2240280"/>
            <a:ext cx="2112264" cy="320040"/>
          </a:xfrm>
          <a:prstGeom prst="rect">
            <a:avLst/>
          </a:prstGeom>
          <a:noFill/>
          <a:ln/>
        </p:spPr>
        <p:txBody>
          <a:bodyPr wrap="square" lIns="0" tIns="0" rIns="0" bIns="0" rtlCol="0" anchor="t"/>
          <a:lstStyle/>
          <a:p>
            <a:pPr indent="0" marL="0">
              <a:buNone/>
            </a:pPr>
            <a:r>
              <a:rPr lang="en-US" sz="1400" i="1" dirty="0">
                <a:solidFill>
                  <a:schemeClr val="accent6"/>
                </a:solidFill>
              </a:rPr>
              <a:t>one monsoon [A]</a:t>
            </a:r>
            <a:endParaRPr lang="en-US" sz="1400" dirty="0"/>
          </a:p>
        </p:txBody>
      </p:sp>
      <p:sp>
        <p:nvSpPr>
          <p:cNvPr id="17" name="Text 15"/>
          <p:cNvSpPr txBox="1"/>
          <p:nvPr/>
        </p:nvSpPr>
        <p:spPr>
          <a:xfrm>
            <a:off x="6464808" y="2697480"/>
            <a:ext cx="2112264" cy="2651760"/>
          </a:xfrm>
          <a:prstGeom prst="rect">
            <a:avLst/>
          </a:prstGeom>
          <a:noFill/>
          <a:ln/>
        </p:spPr>
        <p:txBody>
          <a:bodyPr wrap="square" lIns="0" tIns="0" rIns="0" bIns="0" rtlCol="0" anchor="t"/>
          <a:lstStyle/>
          <a:p>
            <a:pPr indent="0" marL="0">
              <a:buNone/>
            </a:pPr>
            <a:r>
              <a:rPr lang="en-US" sz="1400" dirty="0">
                <a:solidFill>
                  <a:schemeClr val="tx1"/>
                </a:solidFill>
              </a:rPr>
              <a:t>Runs alongside the official process with no public alerts · compare lead time and false alarms · train operators</a:t>
            </a:r>
            <a:endParaRPr lang="en-US" sz="1400" dirty="0"/>
          </a:p>
        </p:txBody>
      </p:sp>
      <p:sp>
        <p:nvSpPr>
          <p:cNvPr id="18" name="Shape 16"/>
          <p:cNvSpPr/>
          <p:nvPr/>
        </p:nvSpPr>
        <p:spPr>
          <a:xfrm>
            <a:off x="9079992" y="1280160"/>
            <a:ext cx="2569464" cy="4206240"/>
          </a:xfrm>
          <a:prstGeom prst="roundRect">
            <a:avLst>
              <a:gd name="adj" fmla="val 2847"/>
            </a:avLst>
          </a:prstGeom>
          <a:solidFill>
            <a:schemeClr val="bg2"/>
          </a:solidFill>
          <a:ln w="12700">
            <a:solidFill>
              <a:schemeClr val="bg2"/>
            </a:solidFill>
            <a:prstDash val="solid"/>
          </a:ln>
        </p:spPr>
      </p:sp>
      <p:sp>
        <p:nvSpPr>
          <p:cNvPr id="19" name="Text 17"/>
          <p:cNvSpPr txBox="1"/>
          <p:nvPr/>
        </p:nvSpPr>
        <p:spPr>
          <a:xfrm>
            <a:off x="9308592" y="1463040"/>
            <a:ext cx="2112264" cy="320040"/>
          </a:xfrm>
          <a:prstGeom prst="rect">
            <a:avLst/>
          </a:prstGeom>
          <a:noFill/>
          <a:ln/>
        </p:spPr>
        <p:txBody>
          <a:bodyPr wrap="square" lIns="0" tIns="0" rIns="0" bIns="0" rtlCol="0" anchor="t"/>
          <a:lstStyle/>
          <a:p>
            <a:pPr indent="0" marL="0">
              <a:buNone/>
            </a:pPr>
            <a:r>
              <a:rPr lang="en-US" sz="1400" b="1" dirty="0">
                <a:solidFill>
                  <a:schemeClr val="accent2"/>
                </a:solidFill>
              </a:rPr>
              <a:t>Phase 3</a:t>
            </a:r>
            <a:endParaRPr lang="en-US" sz="1400" dirty="0"/>
          </a:p>
        </p:txBody>
      </p:sp>
      <p:sp>
        <p:nvSpPr>
          <p:cNvPr id="20" name="Text 18"/>
          <p:cNvSpPr txBox="1"/>
          <p:nvPr/>
        </p:nvSpPr>
        <p:spPr>
          <a:xfrm>
            <a:off x="9308592" y="1783080"/>
            <a:ext cx="2112264" cy="411480"/>
          </a:xfrm>
          <a:prstGeom prst="rect">
            <a:avLst/>
          </a:prstGeom>
          <a:noFill/>
          <a:ln/>
        </p:spPr>
        <p:txBody>
          <a:bodyPr wrap="square" lIns="0" tIns="0" rIns="0" bIns="0" rtlCol="0" anchor="t"/>
          <a:lstStyle/>
          <a:p>
            <a:pPr indent="0" marL="0">
              <a:buNone/>
            </a:pPr>
            <a:r>
              <a:rPr lang="en-US" sz="2000" b="1" dirty="0">
                <a:solidFill>
                  <a:schemeClr val="tx2"/>
                </a:solidFill>
              </a:rPr>
              <a:t>Government launch</a:t>
            </a:r>
            <a:endParaRPr lang="en-US" sz="2000" dirty="0"/>
          </a:p>
        </p:txBody>
      </p:sp>
      <p:sp>
        <p:nvSpPr>
          <p:cNvPr id="21" name="Text 19"/>
          <p:cNvSpPr txBox="1"/>
          <p:nvPr/>
        </p:nvSpPr>
        <p:spPr>
          <a:xfrm>
            <a:off x="9308592" y="2240280"/>
            <a:ext cx="2112264" cy="320040"/>
          </a:xfrm>
          <a:prstGeom prst="rect">
            <a:avLst/>
          </a:prstGeom>
          <a:noFill/>
          <a:ln/>
        </p:spPr>
        <p:txBody>
          <a:bodyPr wrap="square" lIns="0" tIns="0" rIns="0" bIns="0" rtlCol="0" anchor="t"/>
          <a:lstStyle/>
          <a:p>
            <a:pPr indent="0" marL="0">
              <a:buNone/>
            </a:pPr>
            <a:r>
              <a:rPr lang="en-US" sz="1400" i="1" dirty="0">
                <a:solidFill>
                  <a:schemeClr val="accent6"/>
                </a:solidFill>
              </a:rPr>
              <a:t>after sign-off</a:t>
            </a:r>
            <a:endParaRPr lang="en-US" sz="1400" dirty="0"/>
          </a:p>
        </p:txBody>
      </p:sp>
      <p:sp>
        <p:nvSpPr>
          <p:cNvPr id="22" name="Text 20"/>
          <p:cNvSpPr txBox="1"/>
          <p:nvPr/>
        </p:nvSpPr>
        <p:spPr>
          <a:xfrm>
            <a:off x="9308592" y="2697480"/>
            <a:ext cx="2112264" cy="2651760"/>
          </a:xfrm>
          <a:prstGeom prst="rect">
            <a:avLst/>
          </a:prstGeom>
          <a:noFill/>
          <a:ln/>
        </p:spPr>
        <p:txBody>
          <a:bodyPr wrap="square" lIns="0" tIns="0" rIns="0" bIns="0" rtlCol="0" anchor="t"/>
          <a:lstStyle/>
          <a:p>
            <a:pPr indent="0" marL="0">
              <a:buNone/>
            </a:pPr>
            <a:r>
              <a:rPr lang="en-US" sz="1400" dirty="0">
                <a:solidFill>
                  <a:schemeClr val="tx1"/>
                </a:solidFill>
              </a:rPr>
              <a:t>Authorities own operation · government hosting · sirens and cell broadcast live · district by district, then national</a:t>
            </a:r>
            <a:endParaRPr lang="en-US" sz="1400" dirty="0"/>
          </a:p>
        </p:txBody>
      </p:sp>
      <p:sp>
        <p:nvSpPr>
          <p:cNvPr id="23" name="Text 21"/>
          <p:cNvSpPr txBox="1"/>
          <p:nvPr/>
        </p:nvSpPr>
        <p:spPr>
          <a:xfrm>
            <a:off x="548640" y="5623560"/>
            <a:ext cx="11064240" cy="548640"/>
          </a:xfrm>
          <a:prstGeom prst="rect">
            <a:avLst/>
          </a:prstGeom>
          <a:noFill/>
          <a:ln/>
        </p:spPr>
        <p:txBody>
          <a:bodyPr wrap="square" lIns="0" tIns="0" rIns="0" bIns="0" rtlCol="0" anchor="t"/>
          <a:lstStyle/>
          <a:p>
            <a:pPr indent="0" marL="0">
              <a:buNone/>
            </a:pPr>
            <a:r>
              <a:rPr lang="en-US" sz="1300" dirty="0">
                <a:solidFill>
                  <a:schemeClr val="accent6"/>
                </a:solidFill>
              </a:rPr>
              <a:t>Each phase gate needs the agreement of the responsible authority. Shadow mode means the system runs for real but nobody is alerted by it until the government approves going live. Durations are planning assumptions [A].</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Traceability: stakeholder to test</a:t>
            </a:r>
            <a:endParaRPr lang="en-US" sz="32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828800"/>
                <a:gridCol w="1463040"/>
                <a:gridCol w="822960"/>
                <a:gridCol w="1097280"/>
                <a:gridCol w="3657600"/>
                <a:gridCol w="2194560"/>
              </a:tblGrid>
              <a:tr h="411480">
                <a:tc>
                  <a:txBody>
                    <a:bodyPr/>
                    <a:lstStyle/>
                    <a:p>
                      <a:pPr indent="0" marL="0">
                        <a:buNone/>
                      </a:pPr>
                      <a:r>
                        <a:rPr lang="en-US" sz="1400" b="1" dirty="0">
                          <a:solidFill>
                            <a:schemeClr val="bg1"/>
                          </a:solidFill>
                        </a:rPr>
                        <a:t>Requirement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Need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Goal</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Use case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Component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Test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411480">
                <a:tc>
                  <a:txBody>
                    <a:bodyPr/>
                    <a:lstStyle/>
                    <a:p>
                      <a:pPr indent="0" marL="0">
                        <a:buNone/>
                      </a:pPr>
                      <a:r>
                        <a:rPr lang="en-US" sz="1400" b="1" dirty="0">
                          <a:solidFill>
                            <a:schemeClr val="tx1"/>
                          </a:solidFill>
                        </a:rPr>
                        <a:t>SR-01 / FR-30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STK-01, 09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G3.1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UC-01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Notification dispatcher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ST-08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SR-02 / FR-20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STK-07, 12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G3.2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UC-07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Warning manager + RLS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UT-20, ST-12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SR-03 / FR-42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STK-04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UC-03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Evacuation router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PT-42, ST-10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SR-05 / FR-38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STK-04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UC-04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Shelter module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UT-38, ST-09</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SR-06 / FR-07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STK-15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G6</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UC-11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Validation + risk engine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ST-04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SR-07 / FR-28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STK-08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G3.1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UC-07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Warning manager + DB index</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UT-28</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SR-09 / FR-25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STK-07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G3.1</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UC-07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Warning manager + dispatcher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ST-14</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1"/>
                          </a:solidFill>
                        </a:rPr>
                        <a:t>SR-12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STK-12</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UC-07</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Warning manager</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ST-13</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bl>
          </a:graphicData>
        </a:graphic>
      </p:graphicFrame>
      <p:sp>
        <p:nvSpPr>
          <p:cNvPr id="4" name="Shape 1"/>
          <p:cNvSpPr/>
          <p:nvPr/>
        </p:nvSpPr>
        <p:spPr>
          <a:xfrm>
            <a:off x="548640" y="5166360"/>
            <a:ext cx="11064240" cy="914400"/>
          </a:xfrm>
          <a:prstGeom prst="roundRect">
            <a:avLst>
              <a:gd name="adj" fmla="val 8000"/>
            </a:avLst>
          </a:prstGeom>
          <a:solidFill>
            <a:schemeClr val="tx2"/>
          </a:solidFill>
          <a:ln w="12700">
            <a:solidFill>
              <a:schemeClr val="tx2"/>
            </a:solidFill>
            <a:prstDash val="solid"/>
          </a:ln>
        </p:spPr>
      </p:sp>
      <p:sp>
        <p:nvSpPr>
          <p:cNvPr id="5" name="Text 2"/>
          <p:cNvSpPr txBox="1"/>
          <p:nvPr/>
        </p:nvSpPr>
        <p:spPr>
          <a:xfrm>
            <a:off x="777240" y="5166360"/>
            <a:ext cx="10607040" cy="914400"/>
          </a:xfrm>
          <a:prstGeom prst="rect">
            <a:avLst/>
          </a:prstGeom>
          <a:noFill/>
          <a:ln/>
        </p:spPr>
        <p:txBody>
          <a:bodyPr wrap="square" lIns="0" tIns="0" rIns="0" bIns="0" rtlCol="0" anchor="ctr"/>
          <a:lstStyle/>
          <a:p>
            <a:pPr indent="0" marL="0">
              <a:buNone/>
            </a:pPr>
            <a:r>
              <a:rPr lang="en-US" sz="1400" dirty="0">
                <a:solidFill>
                  <a:schemeClr val="bg1"/>
                </a:solidFill>
              </a:rPr>
              <a:t>Checked in CI: every Must FR → need, use case, component, test · every SR → failure scenario + unit test + scenario test · no orphan tests · tests tagged @pytest.mark.req("FR-42")</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Verification, validation and evaluation</a:t>
            </a:r>
            <a:endParaRPr lang="en-US" sz="3200" dirty="0"/>
          </a:p>
        </p:txBody>
      </p:sp>
      <p:sp>
        <p:nvSpPr>
          <p:cNvPr id="3" name="Shape 1"/>
          <p:cNvSpPr/>
          <p:nvPr/>
        </p:nvSpPr>
        <p:spPr>
          <a:xfrm>
            <a:off x="548640" y="1280160"/>
            <a:ext cx="4572000" cy="4800600"/>
          </a:xfrm>
          <a:prstGeom prst="roundRect">
            <a:avLst>
              <a:gd name="adj" fmla="val 1600"/>
            </a:avLst>
          </a:prstGeom>
          <a:solidFill>
            <a:schemeClr val="bg2"/>
          </a:solidFill>
          <a:ln w="12700">
            <a:solidFill>
              <a:schemeClr val="bg2"/>
            </a:solidFill>
            <a:prstDash val="solid"/>
          </a:ln>
        </p:spPr>
      </p:sp>
      <p:sp>
        <p:nvSpPr>
          <p:cNvPr id="4" name="Text 2"/>
          <p:cNvSpPr txBox="1"/>
          <p:nvPr/>
        </p:nvSpPr>
        <p:spPr>
          <a:xfrm>
            <a:off x="777240" y="1417320"/>
            <a:ext cx="4206240" cy="365760"/>
          </a:xfrm>
          <a:prstGeom prst="rect">
            <a:avLst/>
          </a:prstGeom>
          <a:noFill/>
          <a:ln/>
        </p:spPr>
        <p:txBody>
          <a:bodyPr wrap="square" lIns="0" tIns="0" rIns="0" bIns="0" rtlCol="0" anchor="t"/>
          <a:lstStyle/>
          <a:p>
            <a:pPr indent="0" marL="0">
              <a:buNone/>
            </a:pPr>
            <a:r>
              <a:rPr lang="en-US" sz="1700" b="1" dirty="0">
                <a:solidFill>
                  <a:schemeClr val="tx2"/>
                </a:solidFill>
              </a:rPr>
              <a:t>Verification — built right?</a:t>
            </a:r>
            <a:endParaRPr lang="en-US" sz="1700" dirty="0"/>
          </a:p>
        </p:txBody>
      </p:sp>
      <p:sp>
        <p:nvSpPr>
          <p:cNvPr id="5" name="Text 3"/>
          <p:cNvSpPr txBox="1"/>
          <p:nvPr/>
        </p:nvSpPr>
        <p:spPr>
          <a:xfrm>
            <a:off x="777240" y="1828800"/>
            <a:ext cx="4160520" cy="19202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Unit and property tests (pytest, hypothesis)</a:t>
            </a:r>
            <a:endParaRPr lang="en-US" sz="1400" dirty="0"/>
          </a:p>
          <a:p>
            <a:pPr marL="342900" indent="-342900">
              <a:spcAft>
                <a:spcPts val="300"/>
              </a:spcAft>
              <a:buSzPct val="100000"/>
              <a:buChar char="•"/>
            </a:pPr>
            <a:r>
              <a:rPr lang="en-US" sz="1400" dirty="0">
                <a:solidFill>
                  <a:schemeClr val="tx1"/>
                </a:solidFill>
              </a:rPr>
              <a:t>14 scripted scenario tests ST-01 – ST-14</a:t>
            </a:r>
            <a:endParaRPr lang="en-US" sz="1400" dirty="0"/>
          </a:p>
          <a:p>
            <a:pPr marL="342900" indent="-342900">
              <a:spcAft>
                <a:spcPts val="300"/>
              </a:spcAft>
              <a:buSzPct val="100000"/>
              <a:buChar char="•"/>
            </a:pPr>
            <a:r>
              <a:rPr lang="en-US" sz="1400" dirty="0">
                <a:solidFill>
                  <a:schemeClr val="tx1"/>
                </a:solidFill>
              </a:rPr>
              <a:t>RLS tests with role-specific JWTs</a:t>
            </a:r>
            <a:endParaRPr lang="en-US" sz="1400" dirty="0"/>
          </a:p>
          <a:p>
            <a:pPr marL="342900" indent="-342900">
              <a:spcAft>
                <a:spcPts val="300"/>
              </a:spcAft>
              <a:buSzPct val="100000"/>
              <a:buChar char="•"/>
            </a:pPr>
            <a:r>
              <a:rPr lang="en-US" sz="1400" dirty="0">
                <a:solidFill>
                  <a:schemeClr val="tx1"/>
                </a:solidFill>
              </a:rPr>
              <a:t>End-to-end UI tests (Playwright)</a:t>
            </a:r>
            <a:endParaRPr lang="en-US" sz="1400" dirty="0"/>
          </a:p>
          <a:p>
            <a:pPr marL="342900" indent="-342900">
              <a:spcAft>
                <a:spcPts val="300"/>
              </a:spcAft>
              <a:buSzPct val="100000"/>
              <a:buChar char="•"/>
            </a:pPr>
            <a:r>
              <a:rPr lang="en-US" sz="1400" dirty="0">
                <a:solidFill>
                  <a:schemeClr val="tx1"/>
                </a:solidFill>
              </a:rPr>
              <a:t>Load tests (k6) · security scans (ZAP, gitleaks)</a:t>
            </a:r>
            <a:endParaRPr lang="en-US" sz="1400" dirty="0"/>
          </a:p>
        </p:txBody>
      </p:sp>
      <p:sp>
        <p:nvSpPr>
          <p:cNvPr id="6" name="Text 4"/>
          <p:cNvSpPr txBox="1"/>
          <p:nvPr/>
        </p:nvSpPr>
        <p:spPr>
          <a:xfrm>
            <a:off x="777240" y="3794760"/>
            <a:ext cx="4206240" cy="365760"/>
          </a:xfrm>
          <a:prstGeom prst="rect">
            <a:avLst/>
          </a:prstGeom>
          <a:noFill/>
          <a:ln/>
        </p:spPr>
        <p:txBody>
          <a:bodyPr wrap="square" lIns="0" tIns="0" rIns="0" bIns="0" rtlCol="0" anchor="t"/>
          <a:lstStyle/>
          <a:p>
            <a:pPr indent="0" marL="0">
              <a:buNone/>
            </a:pPr>
            <a:r>
              <a:rPr lang="en-US" sz="1700" b="1" dirty="0">
                <a:solidFill>
                  <a:schemeClr val="tx2"/>
                </a:solidFill>
              </a:rPr>
              <a:t>Validation — right system?</a:t>
            </a:r>
            <a:endParaRPr lang="en-US" sz="1700" dirty="0"/>
          </a:p>
        </p:txBody>
      </p:sp>
      <p:sp>
        <p:nvSpPr>
          <p:cNvPr id="7" name="Text 5"/>
          <p:cNvSpPr txBox="1"/>
          <p:nvPr/>
        </p:nvSpPr>
        <p:spPr>
          <a:xfrm>
            <a:off x="777240" y="4206240"/>
            <a:ext cx="4160520" cy="17373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Requirements walkthrough (week 1)</a:t>
            </a:r>
            <a:endParaRPr lang="en-US" sz="1400" dirty="0"/>
          </a:p>
          <a:p>
            <a:pPr marL="342900" indent="-342900">
              <a:spcAft>
                <a:spcPts val="300"/>
              </a:spcAft>
              <a:buSzPct val="100000"/>
              <a:buChar char="•"/>
            </a:pPr>
            <a:r>
              <a:rPr lang="en-US" sz="1400" dirty="0">
                <a:solidFill>
                  <a:schemeClr val="tx1"/>
                </a:solidFill>
              </a:rPr>
              <a:t>Prototype demo to proxies (week 2)</a:t>
            </a:r>
            <a:endParaRPr lang="en-US" sz="1400" dirty="0"/>
          </a:p>
          <a:p>
            <a:pPr marL="342900" indent="-342900">
              <a:spcAft>
                <a:spcPts val="300"/>
              </a:spcAft>
              <a:buSzPct val="100000"/>
              <a:buChar char="•"/>
            </a:pPr>
            <a:r>
              <a:rPr lang="en-US" sz="1400" dirty="0">
                <a:solidFill>
                  <a:schemeClr val="tx1"/>
                </a:solidFill>
              </a:rPr>
              <a:t>Usability + comprehension tests (week 4)</a:t>
            </a:r>
            <a:endParaRPr lang="en-US" sz="1400" dirty="0"/>
          </a:p>
          <a:p>
            <a:pPr marL="342900" indent="-342900">
              <a:spcAft>
                <a:spcPts val="300"/>
              </a:spcAft>
              <a:buSzPct val="100000"/>
              <a:buChar char="•"/>
            </a:pPr>
            <a:r>
              <a:rPr lang="en-US" sz="1400" dirty="0">
                <a:solidFill>
                  <a:schemeClr val="tx1"/>
                </a:solidFill>
              </a:rPr>
              <a:t>ISO 29148 quality checklist</a:t>
            </a:r>
            <a:endParaRPr lang="en-US" sz="14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0" y="1280160"/>
          <a:ext cx="6126480" cy="914400"/>
        </p:xfrm>
        <a:graphic>
          <a:graphicData uri="http://schemas.openxmlformats.org/drawingml/2006/table">
            <a:tbl>
              <a:tblPr/>
              <a:tblGrid>
                <a:gridCol w="4206240"/>
                <a:gridCol w="1920240"/>
              </a:tblGrid>
              <a:tr h="438912">
                <a:tc>
                  <a:txBody>
                    <a:bodyPr/>
                    <a:lstStyle/>
                    <a:p>
                      <a:pPr indent="0" marL="0">
                        <a:buNone/>
                      </a:pPr>
                      <a:r>
                        <a:rPr lang="en-US" sz="1400" b="1" dirty="0">
                          <a:solidFill>
                            <a:schemeClr val="bg1"/>
                          </a:solidFill>
                        </a:rPr>
                        <a:t>Evaluation metric</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Target [T]</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tx2"/>
                    </a:solidFill>
                  </a:tcPr>
                </a:tc>
              </a:tr>
              <a:tr h="438912">
                <a:tc>
                  <a:txBody>
                    <a:bodyPr/>
                    <a:lstStyle/>
                    <a:p>
                      <a:pPr indent="0" marL="0">
                        <a:buNone/>
                      </a:pPr>
                      <a:r>
                        <a:rPr lang="en-US" sz="1400" dirty="0">
                          <a:solidFill>
                            <a:schemeClr val="tx1"/>
                          </a:solidFill>
                        </a:rPr>
                        <a:t>Warning generation latency</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 60 s p95</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rPr>
                        <a:t>Dispatch to 1,000 recipients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 60 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Classification vs scenario oracle</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100 %</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rPr>
                        <a:t>False negatives in safety scenarios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Unsafe routes / shelters recommended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rPr>
                        <a:t>Availability over 72 h</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 99 %</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SUS score / task success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 68 / ≥ 80 %</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rPr>
                        <a:t>Critical accessibility issues</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0</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Must requirements traced</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100 %</a:t>
                      </a:r>
                      <a:endParaRPr lang="en-US" sz="1400" dirty="0"/>
                    </a:p>
                  </a:txBody>
                  <a:tcPr marL="73152" marR="73152" marT="27432" marB="27432" anchor="ctr">
                    <a:lnL w="6350" cap="flat" cmpd="sng" algn="ctr">
                      <a:solidFill>
                        <a:srgbClr val="D3DDE0"/>
                      </a:solidFill>
                      <a:prstDash val="solid"/>
                      <a:round/>
                      <a:headEnd type="none" w="med" len="med"/>
                      <a:tailEnd type="none" w="med" len="med"/>
                    </a:lnL>
                    <a:lnR w="6350" cap="flat" cmpd="sng" algn="ctr">
                      <a:solidFill>
                        <a:srgbClr val="D3DDE0"/>
                      </a:solidFill>
                      <a:prstDash val="solid"/>
                      <a:round/>
                      <a:headEnd type="none" w="med" len="med"/>
                      <a:tailEnd type="none" w="med" len="med"/>
                    </a:lnR>
                    <a:lnT w="6350" cap="flat" cmpd="sng" algn="ctr">
                      <a:solidFill>
                        <a:srgbClr val="D3DDE0"/>
                      </a:solidFill>
                      <a:prstDash val="solid"/>
                      <a:round/>
                      <a:headEnd type="none" w="med" len="med"/>
                      <a:tailEnd type="none" w="med" len="med"/>
                    </a:lnT>
                    <a:lnB w="6350" cap="flat" cmpd="sng" algn="ctr">
                      <a:solidFill>
                        <a:srgbClr val="D3DDE0"/>
                      </a:solidFill>
                      <a:prstDash val="solid"/>
                      <a:round/>
                      <a:headEnd type="none" w="med" len="med"/>
                      <a:tailEnd type="none" w="med" len="med"/>
                    </a:lnB>
                    <a:solidFill>
                      <a:schemeClr val="bg2"/>
                    </a:solidFill>
                  </a:tcPr>
                </a:tc>
              </a:tr>
            </a:tbl>
          </a:graphicData>
        </a:graphic>
      </p:graphicFrame>
      <p:sp>
        <p:nvSpPr>
          <p:cNvPr id="9" name="Text 6"/>
          <p:cNvSpPr txBox="1"/>
          <p:nvPr/>
        </p:nvSpPr>
        <p:spPr>
          <a:xfrm>
            <a:off x="5486400" y="5760720"/>
            <a:ext cx="6126480" cy="365760"/>
          </a:xfrm>
          <a:prstGeom prst="rect">
            <a:avLst/>
          </a:prstGeom>
          <a:noFill/>
          <a:ln/>
        </p:spPr>
        <p:txBody>
          <a:bodyPr wrap="square" lIns="0" tIns="0" rIns="0" bIns="0" rtlCol="0" anchor="t"/>
          <a:lstStyle/>
          <a:p>
            <a:pPr indent="0" marL="0">
              <a:buNone/>
            </a:pPr>
            <a:r>
              <a:rPr lang="en-US" sz="1200" dirty="0">
                <a:solidFill>
                  <a:schemeClr val="accent6"/>
                </a:solidFill>
              </a:rPr>
              <a:t>Targets are prototype acceptance targets in a simulated setting — no claim about real-world hydrological accuracy.</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Ethical and social considerations</a:t>
            </a:r>
            <a:endParaRPr lang="en-US" sz="3200" dirty="0"/>
          </a:p>
        </p:txBody>
      </p:sp>
      <p:sp>
        <p:nvSpPr>
          <p:cNvPr id="3" name="Shape 1"/>
          <p:cNvSpPr/>
          <p:nvPr/>
        </p:nvSpPr>
        <p:spPr>
          <a:xfrm>
            <a:off x="548640" y="1280160"/>
            <a:ext cx="2569464" cy="2148840"/>
          </a:xfrm>
          <a:prstGeom prst="roundRect">
            <a:avLst>
              <a:gd name="adj" fmla="val 3404"/>
            </a:avLst>
          </a:prstGeom>
          <a:solidFill>
            <a:schemeClr val="bg2"/>
          </a:solidFill>
          <a:ln w="12700">
            <a:solidFill>
              <a:schemeClr val="bg2"/>
            </a:solidFill>
            <a:prstDash val="solid"/>
          </a:ln>
        </p:spPr>
      </p:sp>
      <p:sp>
        <p:nvSpPr>
          <p:cNvPr id="4" name="Shape 2"/>
          <p:cNvSpPr/>
          <p:nvPr/>
        </p:nvSpPr>
        <p:spPr>
          <a:xfrm>
            <a:off x="777240" y="1508760"/>
            <a:ext cx="502920" cy="5029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97941" y="1629461"/>
            <a:ext cx="261518" cy="261518"/>
          </a:xfrm>
          <a:prstGeom prst="rect">
            <a:avLst/>
          </a:prstGeom>
        </p:spPr>
      </p:pic>
      <p:sp>
        <p:nvSpPr>
          <p:cNvPr id="6" name="Text 3"/>
          <p:cNvSpPr txBox="1"/>
          <p:nvPr/>
        </p:nvSpPr>
        <p:spPr>
          <a:xfrm>
            <a:off x="777240" y="2148840"/>
            <a:ext cx="2112264" cy="365760"/>
          </a:xfrm>
          <a:prstGeom prst="rect">
            <a:avLst/>
          </a:prstGeom>
          <a:noFill/>
          <a:ln/>
        </p:spPr>
        <p:txBody>
          <a:bodyPr wrap="square" lIns="0" tIns="0" rIns="0" bIns="0" rtlCol="0" anchor="t"/>
          <a:lstStyle/>
          <a:p>
            <a:pPr indent="0" marL="0">
              <a:buNone/>
            </a:pPr>
            <a:r>
              <a:rPr lang="en-US" sz="1600" b="1" dirty="0">
                <a:solidFill>
                  <a:schemeClr val="tx2"/>
                </a:solidFill>
              </a:rPr>
              <a:t>False alarms</a:t>
            </a:r>
            <a:endParaRPr lang="en-US" sz="1600" dirty="0"/>
          </a:p>
        </p:txBody>
      </p:sp>
      <p:sp>
        <p:nvSpPr>
          <p:cNvPr id="7" name="Text 4"/>
          <p:cNvSpPr txBox="1"/>
          <p:nvPr/>
        </p:nvSpPr>
        <p:spPr>
          <a:xfrm>
            <a:off x="777240" y="2560320"/>
            <a:ext cx="2112264" cy="777240"/>
          </a:xfrm>
          <a:prstGeom prst="rect">
            <a:avLst/>
          </a:prstGeom>
          <a:noFill/>
          <a:ln/>
        </p:spPr>
        <p:txBody>
          <a:bodyPr wrap="square" lIns="0" tIns="0" rIns="0" bIns="0" rtlCol="0" anchor="t"/>
          <a:lstStyle/>
          <a:p>
            <a:pPr indent="0" marL="0">
              <a:buNone/>
            </a:pPr>
            <a:r>
              <a:rPr lang="en-US" sz="1400" dirty="0">
                <a:solidFill>
                  <a:schemeClr val="tx1"/>
                </a:solidFill>
              </a:rPr>
              <a:t>Tiered levels, human approval, published reviews</a:t>
            </a:r>
            <a:endParaRPr lang="en-US" sz="1400" dirty="0"/>
          </a:p>
        </p:txBody>
      </p:sp>
      <p:sp>
        <p:nvSpPr>
          <p:cNvPr id="8" name="Shape 5"/>
          <p:cNvSpPr/>
          <p:nvPr/>
        </p:nvSpPr>
        <p:spPr>
          <a:xfrm>
            <a:off x="3392424" y="1280160"/>
            <a:ext cx="2569464" cy="2148840"/>
          </a:xfrm>
          <a:prstGeom prst="roundRect">
            <a:avLst>
              <a:gd name="adj" fmla="val 3404"/>
            </a:avLst>
          </a:prstGeom>
          <a:solidFill>
            <a:schemeClr val="bg2"/>
          </a:solidFill>
          <a:ln w="12700">
            <a:solidFill>
              <a:schemeClr val="bg2"/>
            </a:solidFill>
            <a:prstDash val="solid"/>
          </a:ln>
        </p:spPr>
      </p:sp>
      <p:sp>
        <p:nvSpPr>
          <p:cNvPr id="9" name="Shape 6"/>
          <p:cNvSpPr/>
          <p:nvPr/>
        </p:nvSpPr>
        <p:spPr>
          <a:xfrm>
            <a:off x="3621024" y="1508760"/>
            <a:ext cx="502920" cy="50292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741725" y="1629461"/>
            <a:ext cx="261518" cy="261518"/>
          </a:xfrm>
          <a:prstGeom prst="rect">
            <a:avLst/>
          </a:prstGeom>
        </p:spPr>
      </p:pic>
      <p:sp>
        <p:nvSpPr>
          <p:cNvPr id="11" name="Text 7"/>
          <p:cNvSpPr txBox="1"/>
          <p:nvPr/>
        </p:nvSpPr>
        <p:spPr>
          <a:xfrm>
            <a:off x="3621024" y="2148840"/>
            <a:ext cx="2112264" cy="365760"/>
          </a:xfrm>
          <a:prstGeom prst="rect">
            <a:avLst/>
          </a:prstGeom>
          <a:noFill/>
          <a:ln/>
        </p:spPr>
        <p:txBody>
          <a:bodyPr wrap="square" lIns="0" tIns="0" rIns="0" bIns="0" rtlCol="0" anchor="t"/>
          <a:lstStyle/>
          <a:p>
            <a:pPr indent="0" marL="0">
              <a:buNone/>
            </a:pPr>
            <a:r>
              <a:rPr lang="en-US" sz="1600" b="1" dirty="0">
                <a:solidFill>
                  <a:schemeClr val="tx2"/>
                </a:solidFill>
              </a:rPr>
              <a:t>Missed warnings</a:t>
            </a:r>
            <a:endParaRPr lang="en-US" sz="1600" dirty="0"/>
          </a:p>
        </p:txBody>
      </p:sp>
      <p:sp>
        <p:nvSpPr>
          <p:cNvPr id="12" name="Text 8"/>
          <p:cNvSpPr txBox="1"/>
          <p:nvPr/>
        </p:nvSpPr>
        <p:spPr>
          <a:xfrm>
            <a:off x="3621024" y="2560320"/>
            <a:ext cx="2112264" cy="777240"/>
          </a:xfrm>
          <a:prstGeom prst="rect">
            <a:avLst/>
          </a:prstGeom>
          <a:noFill/>
          <a:ln/>
        </p:spPr>
        <p:txBody>
          <a:bodyPr wrap="square" lIns="0" tIns="0" rIns="0" bIns="0" rtlCol="0" anchor="t"/>
          <a:lstStyle/>
          <a:p>
            <a:pPr indent="0" marL="0">
              <a:buNone/>
            </a:pPr>
            <a:r>
              <a:rPr lang="en-US" sz="1400" dirty="0">
                <a:solidFill>
                  <a:schemeClr val="tx1"/>
                </a:solidFill>
              </a:rPr>
              <a:t>Conservative rules; “no warning ≠ safe” stated</a:t>
            </a:r>
            <a:endParaRPr lang="en-US" sz="1400" dirty="0"/>
          </a:p>
        </p:txBody>
      </p:sp>
      <p:sp>
        <p:nvSpPr>
          <p:cNvPr id="13" name="Shape 9"/>
          <p:cNvSpPr/>
          <p:nvPr/>
        </p:nvSpPr>
        <p:spPr>
          <a:xfrm>
            <a:off x="6236208" y="1280160"/>
            <a:ext cx="2569464" cy="2148840"/>
          </a:xfrm>
          <a:prstGeom prst="roundRect">
            <a:avLst>
              <a:gd name="adj" fmla="val 3404"/>
            </a:avLst>
          </a:prstGeom>
          <a:solidFill>
            <a:schemeClr val="bg2"/>
          </a:solidFill>
          <a:ln w="12700">
            <a:solidFill>
              <a:schemeClr val="bg2"/>
            </a:solidFill>
            <a:prstDash val="solid"/>
          </a:ln>
        </p:spPr>
      </p:sp>
      <p:sp>
        <p:nvSpPr>
          <p:cNvPr id="14" name="Shape 10"/>
          <p:cNvSpPr/>
          <p:nvPr/>
        </p:nvSpPr>
        <p:spPr>
          <a:xfrm>
            <a:off x="6464808" y="1508760"/>
            <a:ext cx="502920" cy="50292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6585509" y="1629461"/>
            <a:ext cx="261518" cy="261518"/>
          </a:xfrm>
          <a:prstGeom prst="rect">
            <a:avLst/>
          </a:prstGeom>
        </p:spPr>
      </p:pic>
      <p:sp>
        <p:nvSpPr>
          <p:cNvPr id="16" name="Text 11"/>
          <p:cNvSpPr txBox="1"/>
          <p:nvPr/>
        </p:nvSpPr>
        <p:spPr>
          <a:xfrm>
            <a:off x="6464808" y="2148840"/>
            <a:ext cx="2112264" cy="365760"/>
          </a:xfrm>
          <a:prstGeom prst="rect">
            <a:avLst/>
          </a:prstGeom>
          <a:noFill/>
          <a:ln/>
        </p:spPr>
        <p:txBody>
          <a:bodyPr wrap="square" lIns="0" tIns="0" rIns="0" bIns="0" rtlCol="0" anchor="t"/>
          <a:lstStyle/>
          <a:p>
            <a:pPr indent="0" marL="0">
              <a:buNone/>
            </a:pPr>
            <a:r>
              <a:rPr lang="en-US" sz="1600" b="1" dirty="0">
                <a:solidFill>
                  <a:schemeClr val="tx2"/>
                </a:solidFill>
              </a:rPr>
              <a:t>Responsibility</a:t>
            </a:r>
            <a:endParaRPr lang="en-US" sz="1600" dirty="0"/>
          </a:p>
        </p:txBody>
      </p:sp>
      <p:sp>
        <p:nvSpPr>
          <p:cNvPr id="17" name="Text 12"/>
          <p:cNvSpPr txBox="1"/>
          <p:nvPr/>
        </p:nvSpPr>
        <p:spPr>
          <a:xfrm>
            <a:off x="6464808" y="2560320"/>
            <a:ext cx="2112264" cy="777240"/>
          </a:xfrm>
          <a:prstGeom prst="rect">
            <a:avLst/>
          </a:prstGeom>
          <a:noFill/>
          <a:ln/>
        </p:spPr>
        <p:txBody>
          <a:bodyPr wrap="square" lIns="0" tIns="0" rIns="0" bIns="0" rtlCol="0" anchor="t"/>
          <a:lstStyle/>
          <a:p>
            <a:pPr indent="0" marL="0">
              <a:buNone/>
            </a:pPr>
            <a:r>
              <a:rPr lang="en-US" sz="1400" dirty="0">
                <a:solidFill>
                  <a:schemeClr val="tx1"/>
                </a:solidFill>
              </a:rPr>
              <a:t>Mandated authority approves; full audit trail</a:t>
            </a:r>
            <a:endParaRPr lang="en-US" sz="1400" dirty="0"/>
          </a:p>
        </p:txBody>
      </p:sp>
      <p:sp>
        <p:nvSpPr>
          <p:cNvPr id="18" name="Shape 13"/>
          <p:cNvSpPr/>
          <p:nvPr/>
        </p:nvSpPr>
        <p:spPr>
          <a:xfrm>
            <a:off x="9079992" y="1280160"/>
            <a:ext cx="2569464" cy="2148840"/>
          </a:xfrm>
          <a:prstGeom prst="roundRect">
            <a:avLst>
              <a:gd name="adj" fmla="val 3404"/>
            </a:avLst>
          </a:prstGeom>
          <a:solidFill>
            <a:schemeClr val="bg2"/>
          </a:solidFill>
          <a:ln w="12700">
            <a:solidFill>
              <a:schemeClr val="bg2"/>
            </a:solidFill>
            <a:prstDash val="solid"/>
          </a:ln>
        </p:spPr>
      </p:sp>
      <p:sp>
        <p:nvSpPr>
          <p:cNvPr id="19" name="Shape 14"/>
          <p:cNvSpPr/>
          <p:nvPr/>
        </p:nvSpPr>
        <p:spPr>
          <a:xfrm>
            <a:off x="9308592" y="1508760"/>
            <a:ext cx="502920" cy="50292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9429293" y="1629461"/>
            <a:ext cx="261518" cy="261518"/>
          </a:xfrm>
          <a:prstGeom prst="rect">
            <a:avLst/>
          </a:prstGeom>
        </p:spPr>
      </p:pic>
      <p:sp>
        <p:nvSpPr>
          <p:cNvPr id="21" name="Text 15"/>
          <p:cNvSpPr txBox="1"/>
          <p:nvPr/>
        </p:nvSpPr>
        <p:spPr>
          <a:xfrm>
            <a:off x="9308592" y="2148840"/>
            <a:ext cx="2112264" cy="365760"/>
          </a:xfrm>
          <a:prstGeom prst="rect">
            <a:avLst/>
          </a:prstGeom>
          <a:noFill/>
          <a:ln/>
        </p:spPr>
        <p:txBody>
          <a:bodyPr wrap="square" lIns="0" tIns="0" rIns="0" bIns="0" rtlCol="0" anchor="t"/>
          <a:lstStyle/>
          <a:p>
            <a:pPr indent="0" marL="0">
              <a:buNone/>
            </a:pPr>
            <a:r>
              <a:rPr lang="en-US" sz="1600" b="1" dirty="0">
                <a:solidFill>
                  <a:schemeClr val="tx2"/>
                </a:solidFill>
              </a:rPr>
              <a:t>Privacy &amp; surveillance</a:t>
            </a:r>
            <a:endParaRPr lang="en-US" sz="1600" dirty="0"/>
          </a:p>
        </p:txBody>
      </p:sp>
      <p:sp>
        <p:nvSpPr>
          <p:cNvPr id="22" name="Text 16"/>
          <p:cNvSpPr txBox="1"/>
          <p:nvPr/>
        </p:nvSpPr>
        <p:spPr>
          <a:xfrm>
            <a:off x="9308592" y="2560320"/>
            <a:ext cx="2112264" cy="777240"/>
          </a:xfrm>
          <a:prstGeom prst="rect">
            <a:avLst/>
          </a:prstGeom>
          <a:noFill/>
          <a:ln/>
        </p:spPr>
        <p:txBody>
          <a:bodyPr wrap="square" lIns="0" tIns="0" rIns="0" bIns="0" rtlCol="0" anchor="t"/>
          <a:lstStyle/>
          <a:p>
            <a:pPr indent="0" marL="0">
              <a:buNone/>
            </a:pPr>
            <a:r>
              <a:rPr lang="en-US" sz="1400" dirty="0">
                <a:solidFill>
                  <a:schemeClr val="tx1"/>
                </a:solidFill>
              </a:rPr>
              <a:t>Minimal data, purpose limit, no tracking</a:t>
            </a:r>
            <a:endParaRPr lang="en-US" sz="1400" dirty="0"/>
          </a:p>
        </p:txBody>
      </p:sp>
      <p:sp>
        <p:nvSpPr>
          <p:cNvPr id="23" name="Shape 17"/>
          <p:cNvSpPr/>
          <p:nvPr/>
        </p:nvSpPr>
        <p:spPr>
          <a:xfrm>
            <a:off x="548640" y="3657600"/>
            <a:ext cx="2569464" cy="2148840"/>
          </a:xfrm>
          <a:prstGeom prst="roundRect">
            <a:avLst>
              <a:gd name="adj" fmla="val 3404"/>
            </a:avLst>
          </a:prstGeom>
          <a:solidFill>
            <a:schemeClr val="bg2"/>
          </a:solidFill>
          <a:ln w="12700">
            <a:solidFill>
              <a:schemeClr val="bg2"/>
            </a:solidFill>
            <a:prstDash val="solid"/>
          </a:ln>
        </p:spPr>
      </p:sp>
      <p:sp>
        <p:nvSpPr>
          <p:cNvPr id="24" name="Shape 18"/>
          <p:cNvSpPr/>
          <p:nvPr/>
        </p:nvSpPr>
        <p:spPr>
          <a:xfrm>
            <a:off x="777240" y="3886200"/>
            <a:ext cx="502920" cy="502920"/>
          </a:xfrm>
          <a:prstGeom prst="ellipse">
            <a:avLst/>
          </a:prstGeom>
          <a:solidFill>
            <a:schemeClr val="accent1"/>
          </a:solidFill>
          <a:ln w="12700">
            <a:solidFill>
              <a:schemeClr val="accent1"/>
            </a:solidFill>
            <a:prstDash val="solid"/>
          </a:ln>
        </p:spPr>
      </p:sp>
      <p:pic>
        <p:nvPicPr>
          <p:cNvPr id="25" name="Image 4" descr="preencoded.png">    </p:cNvPr>
          <p:cNvPicPr>
            <a:picLocks noChangeAspect="1"/>
          </p:cNvPicPr>
          <p:nvPr/>
        </p:nvPicPr>
        <p:blipFill>
          <a:blip r:embed="rId5"/>
          <a:stretch>
            <a:fillRect/>
          </a:stretch>
        </p:blipFill>
        <p:spPr>
          <a:xfrm>
            <a:off x="897941" y="4006901"/>
            <a:ext cx="261518" cy="261518"/>
          </a:xfrm>
          <a:prstGeom prst="rect">
            <a:avLst/>
          </a:prstGeom>
        </p:spPr>
      </p:pic>
      <p:sp>
        <p:nvSpPr>
          <p:cNvPr id="26" name="Text 19"/>
          <p:cNvSpPr txBox="1"/>
          <p:nvPr/>
        </p:nvSpPr>
        <p:spPr>
          <a:xfrm>
            <a:off x="777240" y="4526280"/>
            <a:ext cx="2112264" cy="365760"/>
          </a:xfrm>
          <a:prstGeom prst="rect">
            <a:avLst/>
          </a:prstGeom>
          <a:noFill/>
          <a:ln/>
        </p:spPr>
        <p:txBody>
          <a:bodyPr wrap="square" lIns="0" tIns="0" rIns="0" bIns="0" rtlCol="0" anchor="t"/>
          <a:lstStyle/>
          <a:p>
            <a:pPr indent="0" marL="0">
              <a:buNone/>
            </a:pPr>
            <a:r>
              <a:rPr lang="en-US" sz="1600" b="1" dirty="0">
                <a:solidFill>
                  <a:schemeClr val="tx2"/>
                </a:solidFill>
              </a:rPr>
              <a:t>Digital exclusion</a:t>
            </a:r>
            <a:endParaRPr lang="en-US" sz="1600" dirty="0"/>
          </a:p>
        </p:txBody>
      </p:sp>
      <p:sp>
        <p:nvSpPr>
          <p:cNvPr id="27" name="Text 20"/>
          <p:cNvSpPr txBox="1"/>
          <p:nvPr/>
        </p:nvSpPr>
        <p:spPr>
          <a:xfrm>
            <a:off x="777240" y="4937760"/>
            <a:ext cx="2112264" cy="777240"/>
          </a:xfrm>
          <a:prstGeom prst="rect">
            <a:avLst/>
          </a:prstGeom>
          <a:noFill/>
          <a:ln/>
        </p:spPr>
        <p:txBody>
          <a:bodyPr wrap="square" lIns="0" tIns="0" rIns="0" bIns="0" rtlCol="0" anchor="t"/>
          <a:lstStyle/>
          <a:p>
            <a:pPr indent="0" marL="0">
              <a:buNone/>
            </a:pPr>
            <a:r>
              <a:rPr lang="en-US" sz="1400" dirty="0">
                <a:solidFill>
                  <a:schemeClr val="tx1"/>
                </a:solidFill>
              </a:rPr>
              <a:t>SMS, proxies, volunteers, sirens</a:t>
            </a:r>
            <a:endParaRPr lang="en-US" sz="1400" dirty="0"/>
          </a:p>
        </p:txBody>
      </p:sp>
      <p:sp>
        <p:nvSpPr>
          <p:cNvPr id="28" name="Shape 21"/>
          <p:cNvSpPr/>
          <p:nvPr/>
        </p:nvSpPr>
        <p:spPr>
          <a:xfrm>
            <a:off x="3392424" y="3657600"/>
            <a:ext cx="2569464" cy="2148840"/>
          </a:xfrm>
          <a:prstGeom prst="roundRect">
            <a:avLst>
              <a:gd name="adj" fmla="val 3404"/>
            </a:avLst>
          </a:prstGeom>
          <a:solidFill>
            <a:schemeClr val="bg2"/>
          </a:solidFill>
          <a:ln w="12700">
            <a:solidFill>
              <a:schemeClr val="bg2"/>
            </a:solidFill>
            <a:prstDash val="solid"/>
          </a:ln>
        </p:spPr>
      </p:sp>
      <p:sp>
        <p:nvSpPr>
          <p:cNvPr id="29" name="Shape 22"/>
          <p:cNvSpPr/>
          <p:nvPr/>
        </p:nvSpPr>
        <p:spPr>
          <a:xfrm>
            <a:off x="3621024" y="3886200"/>
            <a:ext cx="502920" cy="502920"/>
          </a:xfrm>
          <a:prstGeom prst="ellipse">
            <a:avLst/>
          </a:prstGeom>
          <a:solidFill>
            <a:schemeClr val="accent1"/>
          </a:solidFill>
          <a:ln w="12700">
            <a:solidFill>
              <a:schemeClr val="accent1"/>
            </a:solidFill>
            <a:prstDash val="solid"/>
          </a:ln>
        </p:spPr>
      </p:sp>
      <p:pic>
        <p:nvPicPr>
          <p:cNvPr id="30" name="Image 5" descr="preencoded.png">    </p:cNvPr>
          <p:cNvPicPr>
            <a:picLocks noChangeAspect="1"/>
          </p:cNvPicPr>
          <p:nvPr/>
        </p:nvPicPr>
        <p:blipFill>
          <a:blip r:embed="rId6"/>
          <a:stretch>
            <a:fillRect/>
          </a:stretch>
        </p:blipFill>
        <p:spPr>
          <a:xfrm>
            <a:off x="3741725" y="4006901"/>
            <a:ext cx="261518" cy="261518"/>
          </a:xfrm>
          <a:prstGeom prst="rect">
            <a:avLst/>
          </a:prstGeom>
        </p:spPr>
      </p:pic>
      <p:sp>
        <p:nvSpPr>
          <p:cNvPr id="31" name="Text 23"/>
          <p:cNvSpPr txBox="1"/>
          <p:nvPr/>
        </p:nvSpPr>
        <p:spPr>
          <a:xfrm>
            <a:off x="3621024" y="4526280"/>
            <a:ext cx="2112264" cy="365760"/>
          </a:xfrm>
          <a:prstGeom prst="rect">
            <a:avLst/>
          </a:prstGeom>
          <a:noFill/>
          <a:ln/>
        </p:spPr>
        <p:txBody>
          <a:bodyPr wrap="square" lIns="0" tIns="0" rIns="0" bIns="0" rtlCol="0" anchor="t"/>
          <a:lstStyle/>
          <a:p>
            <a:pPr indent="0" marL="0">
              <a:buNone/>
            </a:pPr>
            <a:r>
              <a:rPr lang="en-US" sz="1600" b="1" dirty="0">
                <a:solidFill>
                  <a:schemeClr val="tx2"/>
                </a:solidFill>
              </a:rPr>
              <a:t>Language &amp; accessibility</a:t>
            </a:r>
            <a:endParaRPr lang="en-US" sz="1600" dirty="0"/>
          </a:p>
        </p:txBody>
      </p:sp>
      <p:sp>
        <p:nvSpPr>
          <p:cNvPr id="32" name="Text 24"/>
          <p:cNvSpPr txBox="1"/>
          <p:nvPr/>
        </p:nvSpPr>
        <p:spPr>
          <a:xfrm>
            <a:off x="3621024" y="4937760"/>
            <a:ext cx="2112264" cy="777240"/>
          </a:xfrm>
          <a:prstGeom prst="rect">
            <a:avLst/>
          </a:prstGeom>
          <a:noFill/>
          <a:ln/>
        </p:spPr>
        <p:txBody>
          <a:bodyPr wrap="square" lIns="0" tIns="0" rIns="0" bIns="0" rtlCol="0" anchor="t"/>
          <a:lstStyle/>
          <a:p>
            <a:pPr indent="0" marL="0">
              <a:buNone/>
            </a:pPr>
            <a:r>
              <a:rPr lang="en-US" sz="1400" dirty="0">
                <a:solidFill>
                  <a:schemeClr val="tx1"/>
                </a:solidFill>
              </a:rPr>
              <a:t>Language packs, icons, audio, WCAG 2.2 AA</a:t>
            </a:r>
            <a:endParaRPr lang="en-US" sz="1400" dirty="0"/>
          </a:p>
        </p:txBody>
      </p:sp>
      <p:sp>
        <p:nvSpPr>
          <p:cNvPr id="33" name="Shape 25"/>
          <p:cNvSpPr/>
          <p:nvPr/>
        </p:nvSpPr>
        <p:spPr>
          <a:xfrm>
            <a:off x="6236208" y="3657600"/>
            <a:ext cx="2569464" cy="2148840"/>
          </a:xfrm>
          <a:prstGeom prst="roundRect">
            <a:avLst>
              <a:gd name="adj" fmla="val 3404"/>
            </a:avLst>
          </a:prstGeom>
          <a:solidFill>
            <a:schemeClr val="bg2"/>
          </a:solidFill>
          <a:ln w="12700">
            <a:solidFill>
              <a:schemeClr val="bg2"/>
            </a:solidFill>
            <a:prstDash val="solid"/>
          </a:ln>
        </p:spPr>
      </p:sp>
      <p:sp>
        <p:nvSpPr>
          <p:cNvPr id="34" name="Shape 26"/>
          <p:cNvSpPr/>
          <p:nvPr/>
        </p:nvSpPr>
        <p:spPr>
          <a:xfrm>
            <a:off x="6464808" y="3886200"/>
            <a:ext cx="502920" cy="502920"/>
          </a:xfrm>
          <a:prstGeom prst="ellipse">
            <a:avLst/>
          </a:prstGeom>
          <a:solidFill>
            <a:schemeClr val="accent1"/>
          </a:solidFill>
          <a:ln w="12700">
            <a:solidFill>
              <a:schemeClr val="accent1"/>
            </a:solidFill>
            <a:prstDash val="solid"/>
          </a:ln>
        </p:spPr>
      </p:sp>
      <p:pic>
        <p:nvPicPr>
          <p:cNvPr id="35" name="Image 6" descr="preencoded.png">    </p:cNvPr>
          <p:cNvPicPr>
            <a:picLocks noChangeAspect="1"/>
          </p:cNvPicPr>
          <p:nvPr/>
        </p:nvPicPr>
        <p:blipFill>
          <a:blip r:embed="rId7"/>
          <a:stretch>
            <a:fillRect/>
          </a:stretch>
        </p:blipFill>
        <p:spPr>
          <a:xfrm>
            <a:off x="6585509" y="4006901"/>
            <a:ext cx="261518" cy="261518"/>
          </a:xfrm>
          <a:prstGeom prst="rect">
            <a:avLst/>
          </a:prstGeom>
        </p:spPr>
      </p:pic>
      <p:sp>
        <p:nvSpPr>
          <p:cNvPr id="36" name="Text 27"/>
          <p:cNvSpPr txBox="1"/>
          <p:nvPr/>
        </p:nvSpPr>
        <p:spPr>
          <a:xfrm>
            <a:off x="6464808" y="4526280"/>
            <a:ext cx="2112264" cy="365760"/>
          </a:xfrm>
          <a:prstGeom prst="rect">
            <a:avLst/>
          </a:prstGeom>
          <a:noFill/>
          <a:ln/>
        </p:spPr>
        <p:txBody>
          <a:bodyPr wrap="square" lIns="0" tIns="0" rIns="0" bIns="0" rtlCol="0" anchor="t"/>
          <a:lstStyle/>
          <a:p>
            <a:pPr indent="0" marL="0">
              <a:buNone/>
            </a:pPr>
            <a:r>
              <a:rPr lang="en-US" sz="1600" b="1" dirty="0">
                <a:solidFill>
                  <a:schemeClr val="tx2"/>
                </a:solidFill>
              </a:rPr>
              <a:t>Algorithmic bias</a:t>
            </a:r>
            <a:endParaRPr lang="en-US" sz="1600" dirty="0"/>
          </a:p>
        </p:txBody>
      </p:sp>
      <p:sp>
        <p:nvSpPr>
          <p:cNvPr id="37" name="Text 28"/>
          <p:cNvSpPr txBox="1"/>
          <p:nvPr/>
        </p:nvSpPr>
        <p:spPr>
          <a:xfrm>
            <a:off x="6464808" y="4937760"/>
            <a:ext cx="2112264" cy="777240"/>
          </a:xfrm>
          <a:prstGeom prst="rect">
            <a:avLst/>
          </a:prstGeom>
          <a:noFill/>
          <a:ln/>
        </p:spPr>
        <p:txBody>
          <a:bodyPr wrap="square" lIns="0" tIns="0" rIns="0" bIns="0" rtlCol="0" anchor="t"/>
          <a:lstStyle/>
          <a:p>
            <a:pPr indent="0" marL="0">
              <a:buNone/>
            </a:pPr>
            <a:r>
              <a:rPr lang="en-US" sz="1400" dirty="0">
                <a:solidFill>
                  <a:schemeClr val="tx1"/>
                </a:solidFill>
              </a:rPr>
              <a:t>Coverage and confidence shown per area</a:t>
            </a:r>
            <a:endParaRPr lang="en-US" sz="1400" dirty="0"/>
          </a:p>
        </p:txBody>
      </p:sp>
      <p:sp>
        <p:nvSpPr>
          <p:cNvPr id="38" name="Shape 29"/>
          <p:cNvSpPr/>
          <p:nvPr/>
        </p:nvSpPr>
        <p:spPr>
          <a:xfrm>
            <a:off x="9079992" y="3657600"/>
            <a:ext cx="2569464" cy="2148840"/>
          </a:xfrm>
          <a:prstGeom prst="roundRect">
            <a:avLst>
              <a:gd name="adj" fmla="val 3404"/>
            </a:avLst>
          </a:prstGeom>
          <a:solidFill>
            <a:schemeClr val="bg2"/>
          </a:solidFill>
          <a:ln w="12700">
            <a:solidFill>
              <a:schemeClr val="bg2"/>
            </a:solidFill>
            <a:prstDash val="solid"/>
          </a:ln>
        </p:spPr>
      </p:sp>
      <p:sp>
        <p:nvSpPr>
          <p:cNvPr id="39" name="Shape 30"/>
          <p:cNvSpPr/>
          <p:nvPr/>
        </p:nvSpPr>
        <p:spPr>
          <a:xfrm>
            <a:off x="9308592" y="3886200"/>
            <a:ext cx="502920" cy="502920"/>
          </a:xfrm>
          <a:prstGeom prst="ellipse">
            <a:avLst/>
          </a:prstGeom>
          <a:solidFill>
            <a:schemeClr val="accent1"/>
          </a:solidFill>
          <a:ln w="12700">
            <a:solidFill>
              <a:schemeClr val="accent1"/>
            </a:solidFill>
            <a:prstDash val="solid"/>
          </a:ln>
        </p:spPr>
      </p:sp>
      <p:pic>
        <p:nvPicPr>
          <p:cNvPr id="40" name="Image 7" descr="preencoded.png">    </p:cNvPr>
          <p:cNvPicPr>
            <a:picLocks noChangeAspect="1"/>
          </p:cNvPicPr>
          <p:nvPr/>
        </p:nvPicPr>
        <p:blipFill>
          <a:blip r:embed="rId8"/>
          <a:stretch>
            <a:fillRect/>
          </a:stretch>
        </p:blipFill>
        <p:spPr>
          <a:xfrm>
            <a:off x="9429293" y="4006901"/>
            <a:ext cx="261518" cy="261518"/>
          </a:xfrm>
          <a:prstGeom prst="rect">
            <a:avLst/>
          </a:prstGeom>
        </p:spPr>
      </p:pic>
      <p:sp>
        <p:nvSpPr>
          <p:cNvPr id="41" name="Text 31"/>
          <p:cNvSpPr txBox="1"/>
          <p:nvPr/>
        </p:nvSpPr>
        <p:spPr>
          <a:xfrm>
            <a:off x="9308592" y="4526280"/>
            <a:ext cx="2112264" cy="365760"/>
          </a:xfrm>
          <a:prstGeom prst="rect">
            <a:avLst/>
          </a:prstGeom>
          <a:noFill/>
          <a:ln/>
        </p:spPr>
        <p:txBody>
          <a:bodyPr wrap="square" lIns="0" tIns="0" rIns="0" bIns="0" rtlCol="0" anchor="t"/>
          <a:lstStyle/>
          <a:p>
            <a:pPr indent="0" marL="0">
              <a:buNone/>
            </a:pPr>
            <a:r>
              <a:rPr lang="en-US" sz="1600" b="1" dirty="0">
                <a:solidFill>
                  <a:schemeClr val="tx2"/>
                </a:solidFill>
              </a:rPr>
              <a:t>Human oversight &amp; trust</a:t>
            </a:r>
            <a:endParaRPr lang="en-US" sz="1600" dirty="0"/>
          </a:p>
        </p:txBody>
      </p:sp>
      <p:sp>
        <p:nvSpPr>
          <p:cNvPr id="42" name="Text 32"/>
          <p:cNvSpPr txBox="1"/>
          <p:nvPr/>
        </p:nvSpPr>
        <p:spPr>
          <a:xfrm>
            <a:off x="9308592" y="4937760"/>
            <a:ext cx="2112264" cy="777240"/>
          </a:xfrm>
          <a:prstGeom prst="rect">
            <a:avLst/>
          </a:prstGeom>
          <a:noFill/>
          <a:ln/>
        </p:spPr>
        <p:txBody>
          <a:bodyPr wrap="square" lIns="0" tIns="0" rIns="0" bIns="0" rtlCol="0" anchor="t"/>
          <a:lstStyle/>
          <a:p>
            <a:pPr indent="0" marL="0">
              <a:buNone/>
            </a:pPr>
            <a:r>
              <a:rPr lang="en-US" sz="1400" dirty="0">
                <a:solidFill>
                  <a:schemeClr val="tx1"/>
                </a:solidFill>
              </a:rPr>
              <a:t>Evidence at approval; one official voice</a:t>
            </a:r>
            <a:endParaRPr lang="en-US" sz="1400" dirty="0"/>
          </a:p>
        </p:txBody>
      </p:sp>
      <p:sp>
        <p:nvSpPr>
          <p:cNvPr id="43" name="Text 33"/>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200" i="1" dirty="0">
                <a:solidFill>
                  <a:schemeClr val="accent6"/>
                </a:solidFill>
              </a:rPr>
              <a:t>The system provides warnings and decision support — not guaranteed predictions and not guaranteed safety. Research with people affected by disasters needs ethics approval and informed consent.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Limitations and future extensions</a:t>
            </a:r>
            <a:endParaRPr lang="en-US" sz="3200" dirty="0"/>
          </a:p>
        </p:txBody>
      </p:sp>
      <p:sp>
        <p:nvSpPr>
          <p:cNvPr id="3" name="Shape 1"/>
          <p:cNvSpPr/>
          <p:nvPr/>
        </p:nvSpPr>
        <p:spPr>
          <a:xfrm>
            <a:off x="548640" y="1280160"/>
            <a:ext cx="5349240" cy="4800600"/>
          </a:xfrm>
          <a:prstGeom prst="roundRect">
            <a:avLst>
              <a:gd name="adj" fmla="val 1524"/>
            </a:avLst>
          </a:prstGeom>
          <a:solidFill>
            <a:schemeClr val="bg2"/>
          </a:solidFill>
          <a:ln w="12700">
            <a:solidFill>
              <a:schemeClr val="bg2"/>
            </a:solidFill>
            <a:prstDash val="solid"/>
          </a:ln>
        </p:spPr>
      </p:sp>
      <p:sp>
        <p:nvSpPr>
          <p:cNvPr id="4" name="Shape 2"/>
          <p:cNvSpPr/>
          <p:nvPr/>
        </p:nvSpPr>
        <p:spPr>
          <a:xfrm>
            <a:off x="822960" y="1463040"/>
            <a:ext cx="502920" cy="502920"/>
          </a:xfrm>
          <a:prstGeom prst="ellipse">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943661" y="1583741"/>
            <a:ext cx="261518" cy="261518"/>
          </a:xfrm>
          <a:prstGeom prst="rect">
            <a:avLst/>
          </a:prstGeom>
        </p:spPr>
      </p:pic>
      <p:sp>
        <p:nvSpPr>
          <p:cNvPr id="6" name="Text 3"/>
          <p:cNvSpPr txBox="1"/>
          <p:nvPr/>
        </p:nvSpPr>
        <p:spPr>
          <a:xfrm>
            <a:off x="1463040" y="1508760"/>
            <a:ext cx="4297680" cy="411480"/>
          </a:xfrm>
          <a:prstGeom prst="rect">
            <a:avLst/>
          </a:prstGeom>
          <a:noFill/>
          <a:ln/>
        </p:spPr>
        <p:txBody>
          <a:bodyPr wrap="square" lIns="0" tIns="0" rIns="0" bIns="0" rtlCol="0" anchor="t"/>
          <a:lstStyle/>
          <a:p>
            <a:pPr indent="0" marL="0">
              <a:buNone/>
            </a:pPr>
            <a:r>
              <a:rPr lang="en-US" sz="2000" b="1" dirty="0">
                <a:solidFill>
                  <a:schemeClr val="tx2"/>
                </a:solidFill>
              </a:rPr>
              <a:t>Limitations</a:t>
            </a:r>
            <a:endParaRPr lang="en-US" sz="2000" dirty="0"/>
          </a:p>
        </p:txBody>
      </p:sp>
      <p:sp>
        <p:nvSpPr>
          <p:cNvPr id="7" name="Text 4"/>
          <p:cNvSpPr txBox="1"/>
          <p:nvPr/>
        </p:nvSpPr>
        <p:spPr>
          <a:xfrm>
            <a:off x="822960" y="2148840"/>
            <a:ext cx="4892040" cy="3749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Not yet authorized for public warnings</a:t>
            </a:r>
            <a:endParaRPr lang="en-US" sz="1500" dirty="0"/>
          </a:p>
          <a:p>
            <a:pPr marL="342900" indent="-342900">
              <a:spcAft>
                <a:spcPts val="600"/>
              </a:spcAft>
              <a:buSzPct val="100000"/>
              <a:buChar char="•"/>
            </a:pPr>
            <a:r>
              <a:rPr lang="en-US" sz="1500" dirty="0">
                <a:solidFill>
                  <a:schemeClr val="tx1"/>
                </a:solidFill>
              </a:rPr>
              <a:t>Few own sensors; national coverage needs DHM data</a:t>
            </a:r>
            <a:endParaRPr lang="en-US" sz="1500" dirty="0"/>
          </a:p>
          <a:p>
            <a:pPr marL="342900" indent="-342900">
              <a:spcAft>
                <a:spcPts val="600"/>
              </a:spcAft>
              <a:buSzPct val="100000"/>
              <a:buChar char="•"/>
            </a:pPr>
            <a:r>
              <a:rPr lang="en-US" sz="1500" dirty="0">
                <a:solidFill>
                  <a:schemeClr val="tx1"/>
                </a:solidFill>
              </a:rPr>
              <a:t>Satellite rainfall arrives hours late, coarse grid</a:t>
            </a:r>
            <a:endParaRPr lang="en-US" sz="1500" dirty="0"/>
          </a:p>
          <a:p>
            <a:pPr marL="342900" indent="-342900">
              <a:spcAft>
                <a:spcPts val="600"/>
              </a:spcAft>
              <a:buSzPct val="100000"/>
              <a:buChar char="•"/>
            </a:pPr>
            <a:r>
              <a:rPr lang="en-US" sz="1500" dirty="0">
                <a:solidFill>
                  <a:schemeClr val="tx1"/>
                </a:solidFill>
              </a:rPr>
              <a:t>Thresholds must be agreed with national agencies</a:t>
            </a:r>
            <a:endParaRPr lang="en-US" sz="1500" dirty="0"/>
          </a:p>
          <a:p>
            <a:pPr marL="342900" indent="-342900">
              <a:spcAft>
                <a:spcPts val="600"/>
              </a:spcAft>
              <a:buSzPct val="100000"/>
              <a:buChar char="•"/>
            </a:pPr>
            <a:r>
              <a:rPr lang="en-US" sz="1500" dirty="0">
                <a:solidFill>
                  <a:schemeClr val="tx1"/>
                </a:solidFill>
              </a:rPr>
              <a:t>Many validations use proxy stakeholders</a:t>
            </a:r>
            <a:endParaRPr lang="en-US" sz="1500" dirty="0"/>
          </a:p>
          <a:p>
            <a:pPr marL="342900" indent="-342900">
              <a:spcAft>
                <a:spcPts val="600"/>
              </a:spcAft>
              <a:buSzPct val="100000"/>
              <a:buChar char="•"/>
            </a:pPr>
            <a:r>
              <a:rPr lang="en-US" sz="1500" dirty="0">
                <a:solidFill>
                  <a:schemeClr val="tx1"/>
                </a:solidFill>
              </a:rPr>
              <a:t>Rural OSM road data may be incomplete</a:t>
            </a:r>
            <a:endParaRPr lang="en-US" sz="1500" dirty="0"/>
          </a:p>
          <a:p>
            <a:pPr marL="342900" indent="-342900">
              <a:spcAft>
                <a:spcPts val="600"/>
              </a:spcAft>
              <a:buSzPct val="100000"/>
              <a:buChar char="•"/>
            </a:pPr>
            <a:r>
              <a:rPr lang="en-US" sz="1500" dirty="0">
                <a:solidFill>
                  <a:schemeClr val="tx1"/>
                </a:solidFill>
              </a:rPr>
              <a:t>Whether people act on warnings is not evaluated</a:t>
            </a:r>
            <a:endParaRPr lang="en-US" sz="1500" dirty="0"/>
          </a:p>
          <a:p>
            <a:pPr marL="342900" indent="-342900">
              <a:spcAft>
                <a:spcPts val="600"/>
              </a:spcAft>
              <a:buSzPct val="100000"/>
              <a:buChar char="•"/>
            </a:pPr>
            <a:r>
              <a:rPr lang="en-US" sz="1500" dirty="0">
                <a:solidFill>
                  <a:schemeClr val="tx1"/>
                </a:solidFill>
              </a:rPr>
              <a:t>Only one country profile piloted so far</a:t>
            </a:r>
            <a:endParaRPr lang="en-US" sz="1500" dirty="0"/>
          </a:p>
        </p:txBody>
      </p:sp>
      <p:sp>
        <p:nvSpPr>
          <p:cNvPr id="8" name="Shape 5"/>
          <p:cNvSpPr/>
          <p:nvPr/>
        </p:nvSpPr>
        <p:spPr>
          <a:xfrm>
            <a:off x="6263640" y="1280160"/>
            <a:ext cx="5349240" cy="4800600"/>
          </a:xfrm>
          <a:prstGeom prst="roundRect">
            <a:avLst>
              <a:gd name="adj" fmla="val 1524"/>
            </a:avLst>
          </a:prstGeom>
          <a:solidFill>
            <a:schemeClr val="bg2"/>
          </a:solidFill>
          <a:ln w="12700">
            <a:solidFill>
              <a:schemeClr val="bg2"/>
            </a:solidFill>
            <a:prstDash val="solid"/>
          </a:ln>
        </p:spPr>
      </p:sp>
      <p:sp>
        <p:nvSpPr>
          <p:cNvPr id="9" name="Shape 6"/>
          <p:cNvSpPr/>
          <p:nvPr/>
        </p:nvSpPr>
        <p:spPr>
          <a:xfrm>
            <a:off x="6537960" y="1463040"/>
            <a:ext cx="502920" cy="50292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6658661" y="1583741"/>
            <a:ext cx="261518" cy="261518"/>
          </a:xfrm>
          <a:prstGeom prst="rect">
            <a:avLst/>
          </a:prstGeom>
        </p:spPr>
      </p:pic>
      <p:sp>
        <p:nvSpPr>
          <p:cNvPr id="11" name="Text 7"/>
          <p:cNvSpPr txBox="1"/>
          <p:nvPr/>
        </p:nvSpPr>
        <p:spPr>
          <a:xfrm>
            <a:off x="7178040" y="1508760"/>
            <a:ext cx="4297680" cy="411480"/>
          </a:xfrm>
          <a:prstGeom prst="rect">
            <a:avLst/>
          </a:prstGeom>
          <a:noFill/>
          <a:ln/>
        </p:spPr>
        <p:txBody>
          <a:bodyPr wrap="square" lIns="0" tIns="0" rIns="0" bIns="0" rtlCol="0" anchor="t"/>
          <a:lstStyle/>
          <a:p>
            <a:pPr indent="0" marL="0">
              <a:buNone/>
            </a:pPr>
            <a:r>
              <a:rPr lang="en-US" sz="2000" b="1" dirty="0">
                <a:solidFill>
                  <a:schemeClr val="tx2"/>
                </a:solidFill>
              </a:rPr>
              <a:t>Future extensions</a:t>
            </a:r>
            <a:endParaRPr lang="en-US" sz="2000" dirty="0"/>
          </a:p>
        </p:txBody>
      </p:sp>
      <p:sp>
        <p:nvSpPr>
          <p:cNvPr id="12" name="Text 8"/>
          <p:cNvSpPr txBox="1"/>
          <p:nvPr/>
        </p:nvSpPr>
        <p:spPr>
          <a:xfrm>
            <a:off x="6537960" y="2148840"/>
            <a:ext cx="4892040" cy="3749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Phase 1–3 roadmap to government launch</a:t>
            </a:r>
            <a:endParaRPr lang="en-US" sz="1500" dirty="0"/>
          </a:p>
          <a:p>
            <a:pPr marL="342900" indent="-342900">
              <a:spcAft>
                <a:spcPts val="600"/>
              </a:spcAft>
              <a:buSzPct val="100000"/>
              <a:buChar char="•"/>
            </a:pPr>
            <a:r>
              <a:rPr lang="en-US" sz="1500" dirty="0">
                <a:solidFill>
                  <a:schemeClr val="tx1"/>
                </a:solidFill>
              </a:rPr>
              <a:t>Landslide module via the HazardModel plug-in</a:t>
            </a:r>
            <a:endParaRPr lang="en-US" sz="1500" dirty="0"/>
          </a:p>
          <a:p>
            <a:pPr marL="342900" indent="-342900">
              <a:spcAft>
                <a:spcPts val="600"/>
              </a:spcAft>
              <a:buSzPct val="100000"/>
              <a:buChar char="•"/>
            </a:pPr>
            <a:r>
              <a:rPr lang="en-US" sz="1500" dirty="0">
                <a:solidFill>
                  <a:schemeClr val="tx1"/>
                </a:solidFill>
              </a:rPr>
              <a:t>GLOF monitoring with lake sensors</a:t>
            </a:r>
            <a:endParaRPr lang="en-US" sz="1500" dirty="0"/>
          </a:p>
          <a:p>
            <a:pPr marL="342900" indent="-342900">
              <a:spcAft>
                <a:spcPts val="600"/>
              </a:spcAft>
              <a:buSzPct val="100000"/>
              <a:buChar char="•"/>
            </a:pPr>
            <a:r>
              <a:rPr lang="en-US" sz="1500" dirty="0">
                <a:solidFill>
                  <a:schemeClr val="tx1"/>
                </a:solidFill>
              </a:rPr>
              <a:t>Cell broadcast, IVR, community radio</a:t>
            </a:r>
            <a:endParaRPr lang="en-US" sz="1500" dirty="0"/>
          </a:p>
          <a:p>
            <a:pPr marL="342900" indent="-342900">
              <a:spcAft>
                <a:spcPts val="600"/>
              </a:spcAft>
              <a:buSzPct val="100000"/>
              <a:buChar char="•"/>
            </a:pPr>
            <a:r>
              <a:rPr lang="en-US" sz="1500" dirty="0">
                <a:solidFill>
                  <a:schemeClr val="tx1"/>
                </a:solidFill>
              </a:rPr>
              <a:t>National authority feeds via CAP (pilot: DHM, BIPAD)</a:t>
            </a:r>
            <a:endParaRPr lang="en-US" sz="1500" dirty="0"/>
          </a:p>
          <a:p>
            <a:pPr marL="342900" indent="-342900">
              <a:spcAft>
                <a:spcPts val="600"/>
              </a:spcAft>
              <a:buSzPct val="100000"/>
              <a:buChar char="•"/>
            </a:pPr>
            <a:r>
              <a:rPr lang="en-US" sz="1500" dirty="0">
                <a:solidFill>
                  <a:schemeClr val="tx1"/>
                </a:solidFill>
              </a:rPr>
              <a:t>Second-country pilot with a new Deployment Profile</a:t>
            </a:r>
            <a:endParaRPr lang="en-US" sz="1500" dirty="0"/>
          </a:p>
          <a:p>
            <a:pPr marL="342900" indent="-342900">
              <a:spcAft>
                <a:spcPts val="600"/>
              </a:spcAft>
              <a:buSzPct val="100000"/>
              <a:buChar char="•"/>
            </a:pPr>
            <a:r>
              <a:rPr lang="en-US" sz="1500" dirty="0">
                <a:solidFill>
                  <a:schemeClr val="tx1"/>
                </a:solidFill>
              </a:rPr>
              <a:t>Advisory hydrological / ML forecasting (bounded by SR-11)</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bg1"/>
                </a:solidFill>
              </a:rPr>
              <a:t>Conclusion</a:t>
            </a:r>
            <a:endParaRPr lang="en-US" sz="3200" dirty="0"/>
          </a:p>
        </p:txBody>
      </p:sp>
      <p:sp>
        <p:nvSpPr>
          <p:cNvPr id="3" name="Shape 1"/>
          <p:cNvSpPr/>
          <p:nvPr/>
        </p:nvSpPr>
        <p:spPr>
          <a:xfrm>
            <a:off x="731520" y="1435608"/>
            <a:ext cx="384048" cy="384048"/>
          </a:xfrm>
          <a:prstGeom prst="ellipse">
            <a:avLst/>
          </a:prstGeom>
          <a:solidFill>
            <a:schemeClr val="accent5"/>
          </a:solidFill>
          <a:ln w="12700">
            <a:solidFill>
              <a:schemeClr val="accent5"/>
            </a:solidFill>
            <a:prstDash val="solid"/>
          </a:ln>
        </p:spPr>
      </p:sp>
      <p:sp>
        <p:nvSpPr>
          <p:cNvPr id="4" name="Text 2"/>
          <p:cNvSpPr txBox="1"/>
          <p:nvPr/>
        </p:nvSpPr>
        <p:spPr>
          <a:xfrm>
            <a:off x="1371600" y="1325880"/>
            <a:ext cx="9875520" cy="365760"/>
          </a:xfrm>
          <a:prstGeom prst="rect">
            <a:avLst/>
          </a:prstGeom>
          <a:noFill/>
          <a:ln/>
        </p:spPr>
        <p:txBody>
          <a:bodyPr wrap="square" lIns="0" tIns="0" rIns="0" bIns="0" rtlCol="0" anchor="t"/>
          <a:lstStyle/>
          <a:p>
            <a:pPr indent="0" marL="0">
              <a:buNone/>
            </a:pPr>
            <a:r>
              <a:rPr lang="en-US" sz="1900" b="1" dirty="0">
                <a:solidFill>
                  <a:schemeClr val="bg1"/>
                </a:solidFill>
              </a:rPr>
              <a:t>Requirements, not prediction</a:t>
            </a:r>
            <a:endParaRPr lang="en-US" sz="1900" dirty="0"/>
          </a:p>
        </p:txBody>
      </p:sp>
      <p:sp>
        <p:nvSpPr>
          <p:cNvPr id="5" name="Text 3"/>
          <p:cNvSpPr txBox="1"/>
          <p:nvPr/>
        </p:nvSpPr>
        <p:spPr>
          <a:xfrm>
            <a:off x="1371600" y="1709928"/>
            <a:ext cx="9875520" cy="548640"/>
          </a:xfrm>
          <a:prstGeom prst="rect">
            <a:avLst/>
          </a:prstGeom>
          <a:noFill/>
          <a:ln/>
        </p:spPr>
        <p:txBody>
          <a:bodyPr wrap="square" lIns="0" tIns="0" rIns="0" bIns="0" rtlCol="0" anchor="t"/>
          <a:lstStyle/>
          <a:p>
            <a:pPr indent="0" marL="0">
              <a:buNone/>
            </a:pPr>
            <a:r>
              <a:rPr lang="en-US" sz="1500" dirty="0">
                <a:solidFill>
                  <a:schemeClr val="bg2"/>
                </a:solidFill>
              </a:rPr>
              <a:t>Flood warning framed as engineering requirements under uncertainty, traced from stakeholder to test.</a:t>
            </a:r>
            <a:endParaRPr lang="en-US" sz="1500" dirty="0"/>
          </a:p>
        </p:txBody>
      </p:sp>
      <p:sp>
        <p:nvSpPr>
          <p:cNvPr id="6" name="Shape 4"/>
          <p:cNvSpPr/>
          <p:nvPr/>
        </p:nvSpPr>
        <p:spPr>
          <a:xfrm>
            <a:off x="731520" y="2514600"/>
            <a:ext cx="384048" cy="384048"/>
          </a:xfrm>
          <a:prstGeom prst="ellipse">
            <a:avLst/>
          </a:prstGeom>
          <a:solidFill>
            <a:schemeClr val="accent4"/>
          </a:solidFill>
          <a:ln w="12700">
            <a:solidFill>
              <a:schemeClr val="accent4"/>
            </a:solidFill>
            <a:prstDash val="solid"/>
          </a:ln>
        </p:spPr>
      </p:sp>
      <p:sp>
        <p:nvSpPr>
          <p:cNvPr id="7" name="Text 5"/>
          <p:cNvSpPr txBox="1"/>
          <p:nvPr/>
        </p:nvSpPr>
        <p:spPr>
          <a:xfrm>
            <a:off x="1371600" y="2404872"/>
            <a:ext cx="9875520" cy="365760"/>
          </a:xfrm>
          <a:prstGeom prst="rect">
            <a:avLst/>
          </a:prstGeom>
          <a:noFill/>
          <a:ln/>
        </p:spPr>
        <p:txBody>
          <a:bodyPr wrap="square" lIns="0" tIns="0" rIns="0" bIns="0" rtlCol="0" anchor="t"/>
          <a:lstStyle/>
          <a:p>
            <a:pPr indent="0" marL="0">
              <a:buNone/>
            </a:pPr>
            <a:r>
              <a:rPr lang="en-US" sz="1900" b="1" dirty="0">
                <a:solidFill>
                  <a:schemeClr val="bg1"/>
                </a:solidFill>
              </a:rPr>
              <a:t>Safety by design</a:t>
            </a:r>
            <a:endParaRPr lang="en-US" sz="1900" dirty="0"/>
          </a:p>
        </p:txBody>
      </p:sp>
      <p:sp>
        <p:nvSpPr>
          <p:cNvPr id="8" name="Text 6"/>
          <p:cNvSpPr txBox="1"/>
          <p:nvPr/>
        </p:nvSpPr>
        <p:spPr>
          <a:xfrm>
            <a:off x="1371600" y="2788920"/>
            <a:ext cx="9875520" cy="548640"/>
          </a:xfrm>
          <a:prstGeom prst="rect">
            <a:avLst/>
          </a:prstGeom>
          <a:noFill/>
          <a:ln/>
        </p:spPr>
        <p:txBody>
          <a:bodyPr wrap="square" lIns="0" tIns="0" rIns="0" bIns="0" rtlCol="0" anchor="t"/>
          <a:lstStyle/>
          <a:p>
            <a:pPr indent="0" marL="0">
              <a:buNone/>
            </a:pPr>
            <a:r>
              <a:rPr lang="en-US" sz="1500" dirty="0">
                <a:solidFill>
                  <a:schemeClr val="bg2"/>
                </a:solidFill>
              </a:rPr>
              <a:t>Data loss never lowers risk, humans approve high-impact warnings, routes never cross known hazards.</a:t>
            </a:r>
            <a:endParaRPr lang="en-US" sz="1500" dirty="0"/>
          </a:p>
        </p:txBody>
      </p:sp>
      <p:sp>
        <p:nvSpPr>
          <p:cNvPr id="9" name="Shape 7"/>
          <p:cNvSpPr/>
          <p:nvPr/>
        </p:nvSpPr>
        <p:spPr>
          <a:xfrm>
            <a:off x="731520" y="3593592"/>
            <a:ext cx="384048" cy="384048"/>
          </a:xfrm>
          <a:prstGeom prst="ellipse">
            <a:avLst/>
          </a:prstGeom>
          <a:solidFill>
            <a:schemeClr val="accent2"/>
          </a:solidFill>
          <a:ln w="12700">
            <a:solidFill>
              <a:schemeClr val="accent2"/>
            </a:solidFill>
            <a:prstDash val="solid"/>
          </a:ln>
        </p:spPr>
      </p:sp>
      <p:sp>
        <p:nvSpPr>
          <p:cNvPr id="10" name="Text 8"/>
          <p:cNvSpPr txBox="1"/>
          <p:nvPr/>
        </p:nvSpPr>
        <p:spPr>
          <a:xfrm>
            <a:off x="1371600" y="3483864"/>
            <a:ext cx="9875520" cy="365760"/>
          </a:xfrm>
          <a:prstGeom prst="rect">
            <a:avLst/>
          </a:prstGeom>
          <a:noFill/>
          <a:ln/>
        </p:spPr>
        <p:txBody>
          <a:bodyPr wrap="square" lIns="0" tIns="0" rIns="0" bIns="0" rtlCol="0" anchor="t"/>
          <a:lstStyle/>
          <a:p>
            <a:pPr indent="0" marL="0">
              <a:buNone/>
            </a:pPr>
            <a:r>
              <a:rPr lang="en-US" sz="1900" b="1" dirty="0">
                <a:solidFill>
                  <a:schemeClr val="bg1"/>
                </a:solidFill>
              </a:rPr>
              <a:t>Conflicts made explicit</a:t>
            </a:r>
            <a:endParaRPr lang="en-US" sz="1900" dirty="0"/>
          </a:p>
        </p:txBody>
      </p:sp>
      <p:sp>
        <p:nvSpPr>
          <p:cNvPr id="11" name="Text 9"/>
          <p:cNvSpPr txBox="1"/>
          <p:nvPr/>
        </p:nvSpPr>
        <p:spPr>
          <a:xfrm>
            <a:off x="1371600" y="3867912"/>
            <a:ext cx="9875520" cy="548640"/>
          </a:xfrm>
          <a:prstGeom prst="rect">
            <a:avLst/>
          </a:prstGeom>
          <a:noFill/>
          <a:ln/>
        </p:spPr>
        <p:txBody>
          <a:bodyPr wrap="square" lIns="0" tIns="0" rIns="0" bIns="0" rtlCol="0" anchor="t"/>
          <a:lstStyle/>
          <a:p>
            <a:pPr indent="0" marL="0">
              <a:buNone/>
            </a:pPr>
            <a:r>
              <a:rPr lang="en-US" sz="1500" dirty="0">
                <a:solidFill>
                  <a:schemeClr val="bg2"/>
                </a:solidFill>
              </a:rPr>
              <a:t>Graduated autonomy, nested authority, tiered levels and privacy-by-design resolve real trade-offs.</a:t>
            </a:r>
            <a:endParaRPr lang="en-US" sz="1500" dirty="0"/>
          </a:p>
        </p:txBody>
      </p:sp>
      <p:sp>
        <p:nvSpPr>
          <p:cNvPr id="12" name="Shape 10"/>
          <p:cNvSpPr/>
          <p:nvPr/>
        </p:nvSpPr>
        <p:spPr>
          <a:xfrm>
            <a:off x="731520" y="4672584"/>
            <a:ext cx="384048" cy="384048"/>
          </a:xfrm>
          <a:prstGeom prst="ellipse">
            <a:avLst/>
          </a:prstGeom>
          <a:solidFill>
            <a:schemeClr val="accent3"/>
          </a:solidFill>
          <a:ln w="12700">
            <a:solidFill>
              <a:schemeClr val="accent3"/>
            </a:solidFill>
            <a:prstDash val="solid"/>
          </a:ln>
        </p:spPr>
      </p:sp>
      <p:sp>
        <p:nvSpPr>
          <p:cNvPr id="13" name="Text 11"/>
          <p:cNvSpPr txBox="1"/>
          <p:nvPr/>
        </p:nvSpPr>
        <p:spPr>
          <a:xfrm>
            <a:off x="1371600" y="4562856"/>
            <a:ext cx="9875520" cy="365760"/>
          </a:xfrm>
          <a:prstGeom prst="rect">
            <a:avLst/>
          </a:prstGeom>
          <a:noFill/>
          <a:ln/>
        </p:spPr>
        <p:txBody>
          <a:bodyPr wrap="square" lIns="0" tIns="0" rIns="0" bIns="0" rtlCol="0" anchor="t"/>
          <a:lstStyle/>
          <a:p>
            <a:pPr indent="0" marL="0">
              <a:buNone/>
            </a:pPr>
            <a:r>
              <a:rPr lang="en-US" sz="1900" b="1" dirty="0">
                <a:solidFill>
                  <a:schemeClr val="bg1"/>
                </a:solidFill>
              </a:rPr>
              <a:t>Global yet safe</a:t>
            </a:r>
            <a:endParaRPr lang="en-US" sz="1900" dirty="0"/>
          </a:p>
        </p:txBody>
      </p:sp>
      <p:sp>
        <p:nvSpPr>
          <p:cNvPr id="14" name="Text 12"/>
          <p:cNvSpPr txBox="1"/>
          <p:nvPr/>
        </p:nvSpPr>
        <p:spPr>
          <a:xfrm>
            <a:off x="1371600" y="4946904"/>
            <a:ext cx="9875520" cy="548640"/>
          </a:xfrm>
          <a:prstGeom prst="rect">
            <a:avLst/>
          </a:prstGeom>
          <a:noFill/>
          <a:ln/>
        </p:spPr>
        <p:txBody>
          <a:bodyPr wrap="square" lIns="0" tIns="0" rIns="0" bIns="0" rtlCol="0" anchor="t"/>
          <a:lstStyle/>
          <a:p>
            <a:pPr indent="0" marL="0">
              <a:buNone/>
            </a:pPr>
            <a:r>
              <a:rPr lang="en-US" sz="1500" dirty="0">
                <a:solidFill>
                  <a:schemeClr val="bg2"/>
                </a:solidFill>
              </a:rPr>
              <a:t>Fixed safety invariants; countries, hazards, languages and channels are configuration — Nepal is the first pilot.</a:t>
            </a:r>
            <a:endParaRPr lang="en-US" sz="1500" dirty="0"/>
          </a:p>
        </p:txBody>
      </p:sp>
      <p:sp>
        <p:nvSpPr>
          <p:cNvPr id="15" name="Text 13"/>
          <p:cNvSpPr txBox="1"/>
          <p:nvPr/>
        </p:nvSpPr>
        <p:spPr>
          <a:xfrm>
            <a:off x="731520" y="5760720"/>
            <a:ext cx="10515600" cy="502920"/>
          </a:xfrm>
          <a:prstGeom prst="rect">
            <a:avLst/>
          </a:prstGeom>
          <a:noFill/>
          <a:ln/>
        </p:spPr>
        <p:txBody>
          <a:bodyPr wrap="square" lIns="0" tIns="0" rIns="0" bIns="0" rtlCol="0" anchor="t"/>
          <a:lstStyle/>
          <a:p>
            <a:pPr indent="0" marL="0">
              <a:buNone/>
            </a:pPr>
            <a:r>
              <a:rPr lang="en-US" sz="1400" i="1" dirty="0">
                <a:solidFill>
                  <a:schemeClr val="accent4"/>
                </a:solidFill>
              </a:rPr>
              <a:t>AMHEWS complements national and local authorities (pilot: DHM, NDRRMA) — it does not replace them, and it does not guarantee prediction or safety.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53</a:t>
            </a:fld>
            <a:endParaRPr lang="en-US"/>
          </a:p>
        </p:txBody>
      </p:sp>
    </p:spTree>
  </p:cSld>
  <p:clrMapOvr>
    <a:masterClrMapping/>
  </p:clrMapOvr>
</p:sld>
</file>

<file path=ppt/theme/theme1.xml><?xml version="1.0" encoding="utf-8"?>
<a:theme xmlns:a="http://schemas.openxmlformats.org/drawingml/2006/main" name="AMHEWS River">
  <a:themeElements>
    <a:clrScheme name="AMHEWS River">
      <a:dk1>
        <a:srgbClr val="1A1A1A"/>
      </a:dk1>
      <a:lt1>
        <a:srgbClr val="FFFFFF"/>
      </a:lt1>
      <a:dk2>
        <a:srgbClr val="0B3C49"/>
      </a:dk2>
      <a:lt2>
        <a:srgbClr val="EEF4F5"/>
      </a:lt2>
      <a:accent1>
        <a:srgbClr val="1B8A8F"/>
      </a:accent1>
      <a:accent2>
        <a:srgbClr val="E8A33D"/>
      </a:accent2>
      <a:accent3>
        <a:srgbClr val="D1495B"/>
      </a:accent3>
      <a:accent4>
        <a:srgbClr val="EDC948"/>
      </a:accent4>
      <a:accent5>
        <a:srgbClr val="4F9D69"/>
      </a:accent5>
      <a:accent6>
        <a:srgbClr val="5F6B78"/>
      </a:accent6>
      <a:hlink>
        <a:srgbClr val="1B8A8F"/>
      </a:hlink>
      <a:folHlink>
        <a:srgbClr val="5F6B78"/>
      </a:folHlink>
    </a:clrScheme>
    <a:fontScheme name="AMHEWS Riv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AMHEWS Requirements Engineering</dc:title>
  <dc:subject>PptxGenJS Presentation</dc:subject>
  <dc:creator>AMHEWS-Nepal project team</dc:creator>
  <cp:lastModifiedBy>AMHEWS-Nepal project team</cp:lastModifiedBy>
  <cp:revision>1</cp:revision>
  <dcterms:created xsi:type="dcterms:W3CDTF">2026-10-15T19:11:24Z</dcterms:created>
  <dcterms:modified xsi:type="dcterms:W3CDTF">2026-10-15T19:11:24Z</dcterms:modified>
</cp:coreProperties>
</file>